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A8D0D8"/>
                </a:solidFill>
                <a:latin typeface="Calibri"/>
              </a:rPr>
              <a:t>Soutenance de 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Agonistes du GLP-1 :
Mise au point et potentiel prometteur
pour la maladie de Parkinson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C8DEE4"/>
                </a:solidFill>
                <a:latin typeface="Calibri"/>
              </a:rPr>
              <a:t>Repositionnement thérapeutique • Neuroprotection • Données cliniques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Pharmacie • Synthèse bibliographique
Présentation de soutenance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Organisation de la présentation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005840" cy="68580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1005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60020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3D4A"/>
                </a:solidFill>
                <a:latin typeface="Georgia"/>
              </a:rPr>
              <a:t>Contexte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92024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Maladie de Parkinson : besoin médical non satisfait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1005840" cy="68580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1005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46888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3D4A"/>
                </a:solidFill>
                <a:latin typeface="Georgia"/>
              </a:rPr>
              <a:t>Chapitre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78892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Physiologie du GLP-1 et panorama pharmacologique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005840" cy="68580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1005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33756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3D4A"/>
                </a:solidFill>
                <a:latin typeface="Georgia"/>
              </a:rPr>
              <a:t>Chapitre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65760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Intérêt métabolique, cardio-rénal et tolérance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60519"/>
            <a:ext cx="1005840" cy="68580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97679"/>
            <a:ext cx="1005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06239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3D4A"/>
                </a:solidFill>
                <a:latin typeface="Georgia"/>
              </a:rPr>
              <a:t>Chapitre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526279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Repositionnement dans la maladie de Parkinson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029200"/>
            <a:ext cx="1005840" cy="68580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166360"/>
            <a:ext cx="1005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7492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B3D4A"/>
                </a:solidFill>
                <a:latin typeface="Georgia"/>
              </a:rPr>
              <a:t>Conclusion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39496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Synthèse, rôle du pharmacien et perspectives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La maladie de Parkinson : un défi thérapeutique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Seconde maladie neurodégénérative la plus fréquente après Alzheimer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36576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3657600" cy="5029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Physiopathologie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Dégénérescence dopaminergique (SNpc)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Agrégation d’α-synucléine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Stress oxydatif, neuroinflammation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Dysfonction mitochondriale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920240"/>
            <a:ext cx="36576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920240"/>
            <a:ext cx="3657600" cy="5029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993392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Clinique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60604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Bradykinésie, rigidité, tremblement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Instabilité posturale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Symptômes non moteurs majeurs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Impact majeur sur la qualité de vie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920240"/>
            <a:ext cx="36576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3657600" cy="5029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93392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Limites actuelles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60604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Traitements purement symptomatiques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Lévodopa = référence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Fluctuations et dyskinésies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Aucun modificateur de maladie validé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les agonistes du GLP-1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Du diabète de type 2 au repositionnement en neurologie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Calibri"/>
              </a:rPr>
              <a:t>•  Repositionnement médicamenteux : profil de tolérance déjà connu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Calibri"/>
              </a:rPr>
              <a:t>•  Récepteurs GLP-1R présents dans le système nerveux central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Calibri"/>
              </a:rPr>
              <a:t>•  Effets anti-inflammatoires, anti-oxydants et anti-apoptotiques (préclinique)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Calibri"/>
              </a:rPr>
              <a:t>•  Hypothèse : ralentir la neurodégénérescence, pas seulement les symptômes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Calibri"/>
              </a:rPr>
              <a:t>•  Essais cliniques : exénatide, lixisénatide (LIXIPARK), sémaglutide…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4114800" cy="384048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011680"/>
            <a:ext cx="3657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47A2C"/>
                </a:solidFill>
                <a:latin typeface="Calibri"/>
              </a:rPr>
              <a:t>Message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560320"/>
            <a:ext cx="365760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Une classe métabolique mature, au profil cardio-rénal solide, dont la plausibilité biologique justifie l’exploration d’un effet neuroprotecteur dans la maladie de Parkinson.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Objectifs de la 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471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37160" cy="9601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5486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3D4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91640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4A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57400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Décrire le GLP-1, son récepteur et le panorama des agonistes disponibles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112471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37160" cy="9601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88920"/>
            <a:ext cx="5486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3D4A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4A"/>
                </a:solidFill>
                <a:latin typeface="Georgia"/>
              </a:rPr>
              <a:t>Indications validées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54680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Analyser l’intérêt dans le DT2, l’obésité et la protection cardio-rénale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49040"/>
            <a:ext cx="112471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749040"/>
            <a:ext cx="137160" cy="96012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886200"/>
            <a:ext cx="5486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3D4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886200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4A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251960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Évaluer mécanismes, données précliniques et cliniques (exénatide, LIXIPARK…)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46319"/>
            <a:ext cx="112471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846319"/>
            <a:ext cx="137160" cy="9601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83479"/>
            <a:ext cx="5486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B3D4A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79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4A"/>
                </a:solidFill>
                <a:latin typeface="Georgia"/>
              </a:rPr>
              <a:t>Rôle du pharmacien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349239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Préciser l’accompagnement, la vigilance et la coordination pluridisciplinaire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CHAPITRE 1 — PHYSIOLOGIE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Le GLP-1 : hormone incrétine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Production, formes actives et contrainte pharmacocinétique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5778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4A"/>
                </a:solidFill>
                <a:latin typeface="Georgia"/>
              </a:rPr>
              <a:t>Physiologie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Calibri"/>
              </a:rPr>
              <a:t>•  Produit par les cellules L (iléon distal, côlon)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Calibri"/>
              </a:rPr>
              <a:t>•  Issu du clivage du proglucagon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Calibri"/>
              </a:rPr>
              <a:t>•  Formes actives : GLP-1(7-36) amide et (7-37)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Calibri"/>
              </a:rPr>
              <a:t>•  Sécrétion stimulée par les nutriments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Calibri"/>
              </a:rPr>
              <a:t>•  Effet incrétine glucose-dépendant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577840" cy="42062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C47A2C"/>
                </a:solidFill>
                <a:latin typeface="Calibri"/>
              </a:rPr>
              <a:t>Point critique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60320"/>
            <a:ext cx="502920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Demi-vie plasmatique très courte (1–2 min) par inactivation DPP-4.
→ Développement d’agonistes résistants à la DPP-4, à demi-vie prolongée.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937760"/>
            <a:ext cx="5029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A8D0D8"/>
                </a:solidFill>
                <a:latin typeface="Calibri"/>
              </a:rPr>
              <a:t>Cible : GLP-1R (GPCR classe B)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CHAPITRE 1 — RÉCEPTEUR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GLP-1R : distribution et signalisation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Une cible au-delà du pancréas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4A"/>
                </a:solidFill>
                <a:latin typeface="Georgia"/>
              </a:rPr>
              <a:t>Expression tissulaire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Calibri"/>
              </a:rPr>
              <a:t>•  Cellules β pancréatiques (insuline)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Calibri"/>
              </a:rPr>
              <a:t>•  Cœur, rein, tube digestif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Calibri"/>
              </a:rPr>
              <a:t>•  SNC : hypothalamus, tronc cérébral, hippocampe, aire postrema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C2428"/>
                </a:solidFill>
                <a:latin typeface="Calibri"/>
              </a:rPr>
              <a:t>•  Distribution étendue → effets pléiotropes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B3D4A"/>
                </a:solidFill>
                <a:latin typeface="Georgia"/>
              </a:rPr>
              <a:t>Voies intracellulaires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057400"/>
            <a:ext cx="53035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19456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A6B7A"/>
                </a:solidFill>
                <a:latin typeface="Calibri"/>
              </a:rPr>
              <a:t>AMPc → PKA / EPAC2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51460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Sécrétion d’insuline, survie cellulaire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108960"/>
            <a:ext cx="53035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2461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A6B7A"/>
                </a:solidFill>
                <a:latin typeface="Calibri"/>
              </a:rPr>
              <a:t>PI3K / Akt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6616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Anti-apoptose, métabolisme énergétique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160520"/>
            <a:ext cx="53035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429768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1A6B7A"/>
                </a:solidFill>
                <a:latin typeface="Calibri"/>
              </a:rPr>
              <a:t>MAPK / ERK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6177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Prolifération, réparation, neuroprotection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CHAPITRE 1 — PANORAMA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Les agonistes du GLP-1R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Courte vs longue durée d’action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60020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2926080"/>
                <a:gridCol w="42976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B3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B3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Administration</a:t>
                      </a:r>
                    </a:p>
                  </a:txBody>
                  <a:tcPr>
                    <a:solidFill>
                      <a:srgbClr val="0B3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Particularité</a:t>
                      </a:r>
                    </a:p>
                  </a:txBody>
                  <a:tcPr>
                    <a:solidFill>
                      <a:srgbClr val="0B3D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2×/j (ou LP 1×/sem.)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Exendine-4 ; essais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LIXIPARK ; postprandial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DT2 + obésité ; 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REWIND (CV)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STEP ; SUSTAIN-6 ; essais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Double GIP/GLP-1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Efficacité métabolique majeure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Longue durée → meilleur contrôle HbA1c / jeûne  •  Courte durée → effet gastrique plus marqué (moins de tachyphylaxie)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CHAPITRE 2 — INDICATIONS VALIDÉES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Diabète de type 2 et obésité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Efficacité métabolique aujourd’hui solidement établie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5778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577840" cy="5029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Diabète de type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Insuline glucose-dépendante + ↓ glucagon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↓ HbA1c typiquement 0,8–1,8 %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Faible risque d’hypoglycémie en monothérapie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Place majeure ADA/EASD ; précoce si risque CV/MRC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Sémaglutide &amp; tirzépatide parmi les plus efficaces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91640"/>
            <a:ext cx="55778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691640"/>
            <a:ext cx="5577840" cy="50292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Obésité / poids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↓ appétit, ↑ satiété (action centrale)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SCALE (liraglutide 3 mg)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STEP : sémaglutide ≈ −15 % de poids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Amélioration des paramètres cardiométaboliques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Tirzépatide : perte pondérale encore supérieure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CHAPITRE 2 —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Un bénéfice au-delà du contrôle glycémique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645920"/>
          <a:ext cx="1143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68580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Essai</a:t>
                      </a:r>
                    </a:p>
                  </a:txBody>
                  <a:tcPr>
                    <a:solidFill>
                      <a:srgbClr val="0B3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B3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Résultat principal</a:t>
                      </a:r>
                    </a:p>
                  </a:txBody>
                  <a:tcPr>
                    <a:solidFill>
                      <a:srgbClr val="0B3D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28"/>
                          </a:solidFill>
                          <a:latin typeface="Calibri"/>
                        </a:rPr>
                        <a:t>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28"/>
                          </a:solidFill>
                          <a:latin typeface="Calibri"/>
                        </a:rPr>
                        <a:t>↓ MACE, ↓ mortalité CV et toutes causes ; ↓ macroalbuminurie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28"/>
                          </a:solidFill>
                          <a:latin typeface="Calibri"/>
                        </a:rPr>
                        <a:t>SUSTAIN-6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28"/>
                          </a:solidFill>
                          <a:latin typeface="Calibri"/>
                        </a:rPr>
                        <a:t>↓ événements CV majeurs ; signal rénal favorable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28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28"/>
                          </a:solidFill>
                          <a:latin typeface="Calibri"/>
                        </a:rPr>
                        <a:t>Bénéfice cardiovasculaire démontré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4A"/>
                </a:solidFill>
                <a:latin typeface="Georgia"/>
              </a:rPr>
              <a:t>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EI digestifs fréquents (nausées, vomissements, diarrhées) — souvent transitoires ; titration progressive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Hypoglycémie rare seule ; ↑ si association insuline / sulfamides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Profil globalement favorable ; vigilance pancréatite / complications biliaires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CHAPITRE 3 — MÉCANISMES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Pourquoi cibler le GLP-1R dans la maladie de Parkinson 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109728" cy="19202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4A"/>
                </a:solidFill>
                <a:latin typeface="Georgia"/>
              </a:rPr>
              <a:t>Survie neuronale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06040"/>
            <a:ext cx="3200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cAMP/PKA, PI3K/Akt, MAPK/ERK → ↓ apoptose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69164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691640"/>
            <a:ext cx="109728" cy="19202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05740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4A"/>
                </a:solidFill>
                <a:latin typeface="Georgia"/>
              </a:rPr>
              <a:t>Mitochondries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06040"/>
            <a:ext cx="3200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Amélioration fonctionnelle, ↓ radicaux libres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69164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691640"/>
            <a:ext cx="109728" cy="19202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05740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4A"/>
                </a:solidFill>
                <a:latin typeface="Georgia"/>
              </a:rPr>
              <a:t>Neuroinflammation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06040"/>
            <a:ext cx="3200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Atténuation de l’activation microgliale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840480"/>
            <a:ext cx="109728" cy="192024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0624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4A"/>
                </a:solidFill>
                <a:latin typeface="Georgia"/>
              </a:rPr>
              <a:t>α-synucléine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54880"/>
            <a:ext cx="3200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Autophagie / dégradation → ↓ accumulation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384048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3840480"/>
            <a:ext cx="109728" cy="19202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420624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4A"/>
                </a:solidFill>
                <a:latin typeface="Georgia"/>
              </a:rPr>
              <a:t>Stress oxydatif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754880"/>
            <a:ext cx="3200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Limitation des lésions oxydatives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384048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3840480"/>
            <a:ext cx="109728" cy="192024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420624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B3D4A"/>
                </a:solidFill>
                <a:latin typeface="Georgia"/>
              </a:rPr>
              <a:t>Plasticité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754880"/>
            <a:ext cx="3200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Soutien du métabolisme et de l’intégrité cellulaire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CHAPITRE 3 — PRÉCLINIQUE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Données expérimentales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Modèles MPTP et 6-OHDA : plausibilité biologique forte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Calibri"/>
              </a:rPr>
              <a:t>•  Exénatide : préservation des neurones dopaminergiques, ↓ stress oxydatif et inflammation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Calibri"/>
              </a:rPr>
              <a:t>•  Liraglutide : amélioration motrice et protection neuronale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Calibri"/>
              </a:rPr>
              <a:t>•  Lixisénatide : intérêt pour la pénétration / action centrale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Calibri"/>
              </a:rPr>
              <a:t>•  Sémaglutide : survie neuronale, autophagie, ↓ agrégation d’α-synucléine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754880"/>
            <a:ext cx="11247120" cy="1371600"/>
          </a:xfrm>
          <a:prstGeom prst="rect">
            <a:avLst/>
          </a:prstGeom>
          <a:solidFill>
            <a:srgbClr val="E6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107899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428"/>
                </a:solidFill>
                <a:latin typeface="Calibri"/>
              </a:rPr>
              <a:t>Limite majeure : la transposition du modèle animal à la clinique reste difficile — plusieurs essais humains ont donné des résultats mitigés ou négatifs malgré des signaux précliniques favorables.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CHAPITRE 3 — CLINIQUE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Essais chez l’humain : résultats hétérogènes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Exénatide, LIXIPARK (lixisénatide) et sémaglutide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00200"/>
          <a:ext cx="115214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58521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B3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Population</a:t>
                      </a:r>
                    </a:p>
                  </a:txBody>
                  <a:tcPr>
                    <a:solidFill>
                      <a:srgbClr val="0B3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B3D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Exénatide (phase III)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Patients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Signal ouvert non confirmé ; pas de bénéfice significatif sur la progression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Lixisénatide — LIXIPARK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PD stade précoce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Stabilisation motrice vs aggravation placebo ; effet après washout</a:t>
                      </a:r>
                    </a:p>
                  </a:txBody>
                  <a:tcPr>
                    <a:solidFill>
                      <a:srgbClr val="F0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Essais en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C2428"/>
                          </a:solidFill>
                          <a:latin typeface="Calibri"/>
                        </a:rPr>
                        <a:t>Candidat crédible ; résultats définitifs en attente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297680"/>
            <a:ext cx="11430000" cy="182880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26280"/>
            <a:ext cx="10881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C47A2C"/>
                </a:solidFill>
                <a:latin typeface="Calibri"/>
              </a:rPr>
              <a:t>Lecture critique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LIXIPARK est le signal le plus encourageant (stade précoce, persistance après washout). L’échec de l’exénatide en phase III rappelle la prudence : taille d’essai, sélection des patients, durée de suivi et passage de la BHE varient selon les molécules.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CHAPITRE 3 —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Ce qu’il reste à démontrer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5778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577840" cy="502920"/>
          </a:xfrm>
          <a:prstGeom prst="rect">
            <a:avLst/>
          </a:prstGeom>
          <a:solidFill>
            <a:srgbClr val="8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Limites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Peu d’essais, souvent de taille modeste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Difficile de séparer effet symptomatique vs modificateur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Évolution lente de la PD vs durées d’étude courtes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Passage variable de la barrière hémato-encéphalique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Hétérogénéité inter-molécules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91640"/>
            <a:ext cx="55778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691640"/>
            <a:ext cx="5577840" cy="50292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Perspectives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Intervention précoce / prodromale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Sélection par biomarqueurs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Essais plus larges et suivi prolongé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Analogues plus pénétrants / formulations adaptées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C2428"/>
                </a:solidFill>
                <a:latin typeface="Calibri"/>
              </a:rPr>
              <a:t>•  Approches combinées (métabolique + neuroprotecteur)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CHAPITRE 3 — PHARMACIEN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Rôle du pharmacien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5A6A72"/>
                </a:solidFill>
                <a:latin typeface="Calibri"/>
              </a:rPr>
              <a:t>Éducation, vigilance et coordination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3246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3D4A"/>
                </a:solidFill>
                <a:latin typeface="Georgia"/>
              </a:rPr>
              <a:t>Éducation thérapeutique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3246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Technique d’injection, titration, régularité (formes hebdomadaires)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69164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46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3D4A"/>
                </a:solidFill>
                <a:latin typeface="Georgia"/>
              </a:rPr>
              <a:t>Tolérance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06040"/>
            <a:ext cx="3246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Anticiper et limiter les EI digestifs — 1ʳᵉ cause d’arrêt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69164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011680"/>
            <a:ext cx="3246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3D4A"/>
                </a:solidFill>
                <a:latin typeface="Georgia"/>
              </a:rPr>
              <a:t>Pharmacovigilance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606040"/>
            <a:ext cx="3246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Interactions (insuline/sulfamides), pancréatite, biliaire ; déclaration EI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4048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160520"/>
            <a:ext cx="3246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3D4A"/>
                </a:solidFill>
                <a:latin typeface="Georgia"/>
              </a:rPr>
              <a:t>Essais cliniques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754880"/>
            <a:ext cx="3246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Traçabilité, conservation, dispensation conforme au protocole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384048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160520"/>
            <a:ext cx="3246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3D4A"/>
                </a:solidFill>
                <a:latin typeface="Georgia"/>
              </a:rPr>
              <a:t>Information patient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754880"/>
            <a:ext cx="3246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Distinguer usage métabolique validé vs usage neurologique expérimental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3840480"/>
            <a:ext cx="37033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4160520"/>
            <a:ext cx="3246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B3D4A"/>
                </a:solidFill>
                <a:latin typeface="Georgia"/>
              </a:rPr>
              <a:t>Coordination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754880"/>
            <a:ext cx="3246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A72"/>
                </a:solidFill>
                <a:latin typeface="Calibri"/>
              </a:rPr>
              <a:t>Lien pharmacien – neurologue – endocrinologue (PD + DT2/obésité)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A8D0D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Messages à retenir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508760"/>
            <a:ext cx="640080" cy="64008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00200"/>
            <a:ext cx="10332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428"/>
                </a:solidFill>
                <a:latin typeface="Calibri"/>
              </a:rPr>
              <a:t>Les agonistes du GLP-1 ont une place incontournable dans le DT2, l’obésité et la protection cardio-rénale.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377440"/>
            <a:ext cx="640080" cy="64008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514600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468880"/>
            <a:ext cx="10332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428"/>
                </a:solidFill>
                <a:latin typeface="Calibri"/>
              </a:rPr>
              <a:t>Leur repositionnement dans la Parkinson repose sur une plausibilité biologique solide (préclinique).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246120"/>
            <a:ext cx="640080" cy="64008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383280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37560"/>
            <a:ext cx="10332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428"/>
                </a:solidFill>
                <a:latin typeface="Calibri"/>
              </a:rPr>
              <a:t>Les données cliniques restent hétérogènes : échec phase III de l’exénatide vs signal encourageant de LIXIPARK.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114799"/>
            <a:ext cx="640080" cy="64008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251959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06239"/>
            <a:ext cx="10332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428"/>
                </a:solidFill>
                <a:latin typeface="Calibri"/>
              </a:rPr>
              <a:t>Des essais plus larges, mieux ciblés et plus longs sont nécessaires pour établir un effet modificateur de maladie.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983480"/>
            <a:ext cx="640080" cy="64008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120640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074920"/>
            <a:ext cx="10332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C2428"/>
                </a:solidFill>
                <a:latin typeface="Calibri"/>
              </a:rPr>
              <a:t>Le pharmacien est un acteur clé d’éducation, de vigilance et de coordination dans cette dynamique.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9144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— Mise au point et potentiel dans la maladie de Parkinson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4000" b="1">
                <a:solidFill>
                  <a:srgbClr val="FFFFFF"/>
                </a:solidFill>
                <a:latin typeface="Georgia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0">
                <a:solidFill>
                  <a:srgbClr val="A8D0D8"/>
                </a:solidFill>
                <a:latin typeface="Calibri"/>
              </a:rPr>
              <a:t>Questions —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C8DEE4"/>
                </a:solidFill>
                <a:latin typeface="Calibri"/>
              </a:rPr>
              <a:t>Agonistes du GLP-1 • Mise au point et potentiel prometteur
pour la maladie de Parkinson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