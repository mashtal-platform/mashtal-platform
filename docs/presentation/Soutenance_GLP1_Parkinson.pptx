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8A9A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 prometteur
pour la maladie de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D0D8"/>
                </a:solidFill>
                <a:latin typeface="Calibri"/>
              </a:rPr>
              <a:t>Physiologie  ·  Pharmacologie  ·  Indications métaboliques  ·  Repositionnement neurologique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Synthèse bibliographique critique
Repositionnement thérapeutique &amp; neuroprotection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57607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Calibri"/>
              </a:rPr>
              <a:t>Présentation de soutenance
~30 diapositives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Parcours logique : du besoin médical aux preuves cliniques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Parkinson, besoin non satisfait, logique de repositionnement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Physiologie du GLP-1, récepteur, panorama des agonistes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DT2, obésité, cardio-rénal, tolérance — indications validées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199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199" y="1554480"/>
            <a:ext cx="2194560" cy="105156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59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47A2C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59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Neuroprotection, préclinique, essais (LIXIPARK), pharmacien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155448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46920" y="1554480"/>
            <a:ext cx="2194560" cy="105156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A8A9A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880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26"/>
                </a:solidFill>
                <a:latin typeface="Calibri"/>
              </a:rPr>
              <a:t>Messages clés, perspectives et discussion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 / 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Objectifs de ce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Quatre axes complémentaires, d’une synthèse pharmacologique à la pratique officinale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822960" cy="1005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673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81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Décrire le GLP-1, le GLP-1R et comparer les agonistes (courte vs longue durée, structures, PK/PD).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560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560320"/>
            <a:ext cx="822960" cy="1005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816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724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Indications métaboliques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063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Analyser l’efficacité dans le DT2, l’obésité et la protection cardio-rénale (LEADER, SUSTAIN-6, REWIND…).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703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703320"/>
            <a:ext cx="822960" cy="10058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959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867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Évaluer mécanismes neuroprotecteurs, données précliniques et cliniques (exénatide, LIXIPARK, sémaglutide).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484632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846320"/>
            <a:ext cx="822960" cy="1005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5102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10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Rôle du pharmacien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349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Préciser éducation thérapeutique, pharmacovigilance, essais cliniques et coordination pluridisciplinaire.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 / 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La maladie de Parkinson : épidémiologie, physiopathologie et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4  / 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La maladie de Parkinson : un enjeu de santé publique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Seconde maladie neurodégénérative après Alzheimer — fardeau croissant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2ᵉ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Maladie neurodégénérative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après Alzheimer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024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×2–3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Patients attendus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prochaines décennies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840480" cy="1554480"/>
          </a:xfrm>
          <a:prstGeom prst="roundRect">
            <a:avLst>
              <a:gd name="adj" fmla="val 8000"/>
            </a:avLst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1581912"/>
            <a:ext cx="3621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Monde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6210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« Pandémie » PD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6888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vieillissement + expositions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00400"/>
            <a:ext cx="56692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20040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Impact clinique &amp; sociétal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70332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Handicap neurologique majeur chez l’adulte âgé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Coûts de suivi prolongé et de perte d’autonomie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Symptômes moteurs et non moteurs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Défi collectif pour les systèmes de santé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200400"/>
            <a:ext cx="562356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25526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Urgence thérapeutique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03320"/>
            <a:ext cx="5349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Traitements actuels = symptomatiques seuls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Aucun modificateur de maladie validé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Besoin de stratégies neuroprotectrices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Le repositionnement médicamenteux est une voie crédible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 / 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Physiopathologie multifactorielle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Plusieurs cibles potentielles pour un agoniste du GLP-1R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109728" cy="21488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Agrégation anormale, toxicité et propagation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Mitochondries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Dysfonction énergétique et production de ROS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Stress oxydatif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Lésions cellulaires cumulatives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109728" cy="21488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Neuroinflammation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Activation microgliale et médiateurs toxiques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Autophagie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Dégradation protéique altérée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749040"/>
            <a:ext cx="109728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Gènes &amp; environnement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E5E66"/>
                </a:solidFill>
                <a:latin typeface="Calibri"/>
              </a:rPr>
              <a:t>Susceptibilité individuelle et progression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 / 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Prise en charge actuelle : efficace… mais limitée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La lévodopa reste la référence — sans freiner la neurodégénérescence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417320"/>
          <a:ext cx="11521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14800"/>
                <a:gridCol w="448056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Rôle principal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Lévodopa (± ICOMT)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Fluctuations,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Agonistes dopaminergiques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EI neuropsy, somnolence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Thérapies avancées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Stades compliqués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Invasives, sélection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709160"/>
            <a:ext cx="11521440" cy="141732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7A2C"/>
                </a:solidFill>
                <a:latin typeface="Calibri"/>
              </a:rPr>
              <a:t>Message pharmacologique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57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Améliorer les symptômes ≠ modifier la maladie. Le besoin d’une stratégie neuroprotectrice reste entier — d’où l’intérêt du repositionnement des agonistes du GLP-1.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 / 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Repositionnement thérapeutique : pourquoi c’est pertinent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Réduire délais et coûts en s’appuyant sur un profil de sécurité déjà connu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Avantages du repositionnement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PK/PD connues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données déjà disponibles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Tolérance documentée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millions d’années-patients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Développement accéléré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vs NCE de novo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Pertinent en neurodégénérescence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nombreux échecs d’innovations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Classe GLP-1 mature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DT2, obésité, cardio-rénal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Pourquoi le GLP-1 ici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GLP-1R au SNC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hypothalamus, tronc, hippocampe…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Anti-inflammatoire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modèles expérimentaux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Anti-oxydant / anti-apoptotique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survie neuronale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Cibles PD chevauchantes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mitochondries, α-syn, inflammation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Essais humains déjà menés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exénatide, lixisénatide…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 / 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GLP-1, GLP-1R et panorama des agonistes disponibles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9  / 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Physiologie du GLP-1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Hormone incrétine — production, formes actives, contrainte DPP-4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Cellules L (iléon distal, côlon)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Faible expression neuronale (NTS)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Clivage post-traductionnel du proglucagon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Intestin → GLP-1, GLP-2, glicentine, oxyntomoduline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Pancréas α → glucagon (autre voie)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749039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Formes &amp; sécrétion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Actives : GLP-1(7-36)amide &amp; (7-37)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Stimulation postprandiale (glucides, lipides, protéines)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Potentialisation insulinique glucose-dépendante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Maintien de l’homéostasie glycémique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Effet incrétine physiologique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3657600" cy="384048"/>
          </a:xfrm>
          <a:prstGeom prst="rect">
            <a:avLst/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9" y="147218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Contrainte 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19202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Inactivation rapide par DPP-4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Demi-vie plasmatique ≈ 1–2 min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Activité biologique très limitée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→ Agonistes résistants à la DPP-4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→ Prolongation d’exposition récepteur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 / 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Le récepteur GLP-1R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GPCR classe B — 463 AA — cible pléiotrope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41148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Structure &amp;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Domaine extracellulaire large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liaison du ligand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7 TM + domaine intracellulaire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transmission du signal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Pancréas β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sécrétion d’insuline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Cœur, rein, tube digestif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effets périphériques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SNC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hypothalamus, tronc, hippocampe, aire postrema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Lecture clé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la distribution explique les effets hors glycémie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4114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813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Signalisation intracellulaire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011680"/>
            <a:ext cx="5212080" cy="685800"/>
          </a:xfrm>
          <a:prstGeom prst="rect">
            <a:avLst/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0848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3642"/>
                </a:solidFill>
                <a:latin typeface="Calibri"/>
              </a:rPr>
              <a:t>Gs → Adénylate cyclase → AMPc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59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Voie principale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788920"/>
            <a:ext cx="5212080" cy="6858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8620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3642"/>
                </a:solidFill>
                <a:latin typeface="Calibri"/>
              </a:rPr>
              <a:t>PKA &amp; EPAC2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13639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Exocytose d’insuline, survie 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566160"/>
            <a:ext cx="5212080" cy="685800"/>
          </a:xfrm>
          <a:prstGeom prst="rect">
            <a:avLst/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39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3642"/>
                </a:solidFill>
                <a:latin typeface="Calibri"/>
              </a:rPr>
              <a:t>PI3K / Akt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1363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Anti-apoptose, métabolisme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343400"/>
            <a:ext cx="5212080" cy="6858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4165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3642"/>
                </a:solidFill>
                <a:latin typeface="Calibri"/>
              </a:rPr>
              <a:t>MAPK / ERK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6908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Prolifération, réparation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5120640"/>
            <a:ext cx="5212080" cy="685800"/>
          </a:xfrm>
          <a:prstGeom prst="rect">
            <a:avLst/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1937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3642"/>
                </a:solidFill>
                <a:latin typeface="Calibri"/>
              </a:rPr>
              <a:t>Au SNC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4681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Neuroprotection : ↓ oxydatif, inflammation, mort neuronale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 / 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La durée d’exposition du récepteur dicte le profil d’efficacité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Courte durée — Exénatide, Lixisénatide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Pic puis nadir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stimulation intermittente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Moins de tachyphylaxie gastrique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vidange ralentie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Contrôle postprandial marqué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excursions glycémiques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Exénatide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2×/j ou LP hebdomadaire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Lixisénatide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1×/j ; intérêt Parkinson (LIXIPARK)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Longue durée — Lira, Dula, Séma, Tirzépatide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Exposition continue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concentrations stables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Meilleur contrôle du jeûne / HbA1c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nuit incluse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Tachyphylaxie gastrique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effet transit s’atténue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Liraglutide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quotidien mais « long acting »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2226"/>
                </a:solidFill>
                <a:latin typeface="Calibri"/>
              </a:rPr>
              <a:t>▸  Dula / Séma / Tirzépatide</a:t>
            </a:r>
            <a:r>
              <a:rPr sz="1300" b="0">
                <a:solidFill>
                  <a:srgbClr val="4E5E66"/>
                </a:solidFill>
                <a:latin typeface="Calibri"/>
              </a:rPr>
              <a:t> — hebdomadaires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 / 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Spécificités moléculaires des agonistes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Même cible, architectures différentes — impact PK et pénétration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120640"/>
                <a:gridCol w="1828800"/>
                <a:gridCol w="3017520"/>
              </a:tblGrid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Origine / structure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Demi-vie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Exendine-4 (Heloderma) ; ~53 % homologie ; résistant DPP-4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Quelques heures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2×/j (ou LP 1×/sem.)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Exendine-4 + 6 Lys C-term. ; ↑ affinité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~3 h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GLP-1 humain ~97 % ; C16 + espaceur ; liaison albumine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~13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2 analogues + Fc IgG4 ; ↓ clairance rénale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1×/sem.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~94 % ; Pos8 anti-DPP-4 ; C18 albumine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~1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1×/sem. ou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Double agoniste GIP/GLP-1 + chaîne lipidique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226"/>
                          </a:solidFill>
                          <a:latin typeface="Calibri"/>
                        </a:rPr>
                        <a:t>SC 1×/sem.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58521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Point expert : structure (exendine-4 vs GLP-1 humain, taille, lipidation) → demi-vie, immunogénicité potentielle et accès au SNC variables.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 / 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Mécanismes d’action métaboliques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Reproduction des effets du GLP-1 endogène, prolongés dans le temps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03320" cy="45720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0312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Sécrétion glucose-dépendante → faible risque d’hypoglycémie en monothérapie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03320" cy="45720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0876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↓ Glucagon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0312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Réduction de la production hépatique de glucose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3703320" cy="45720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50876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Vidange gastrique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0312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Ralentissement (surtout courte durée) → ↓ pic postprandial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3703320" cy="4572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Satiété centrale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3484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Action SNC → ↓ apports, perte de poids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3703320" cy="4572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404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Cellules 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43484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Survie / fonction préservées (anti-apoptose)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749040"/>
            <a:ext cx="3703320" cy="4572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38404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Effets pléiotropes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43484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Vasculaire, rénal, inflammatoire — au-delà de la glycémie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 / 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Diabète de type 2, obésité et protection cardio-rénale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15  / 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Diabète de type 2 : place des agonistes du GLP-1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Recommandations ADA / EASD — classe majeure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Rationnel physiopathologique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DT2 = insulinorésistance + défaillance β progressive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Diminution de l’effet incrétine = cible clé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Agonistes = effet incrétine pharmacologique durable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Contrôle glycémique sans hypoglycémie « intrinsèque »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Après mesures hygiéno-diététiques ± metformine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Introduction précoce si MCV / MRC / haut risque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Profil d’efficacité glycémique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↓ HbA1c typiquement 0,8 à 1,8 %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Courte durée → postprandial (vidange)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Longue durée → jeûne + HbA1c plus marqués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Sémaglutide &amp; tirzépatide parmi les plus puissants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Intensification thérapeutique privilégiée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Bénéfice pondéral concomitant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 / 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Contrôle du poids et obésité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SCALE, STEP, SURMOUNT — un changement de paradigme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~15 %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Sémaglutide (STEP)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perte de poids moyenne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024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Liraglutide (SCALE)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bénéfice durable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840480" cy="1691640"/>
          </a:xfrm>
          <a:prstGeom prst="roundRect">
            <a:avLst>
              <a:gd name="adj" fmla="val 8000"/>
            </a:avLst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1581912"/>
            <a:ext cx="3621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6210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Tirzépatide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6888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souvent &gt; sélectifs GLP-1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337560"/>
            <a:ext cx="56692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33756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9242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Mécanismes du bénéfice pondéral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↓ appétit et ↑ satiété (action centrale)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Réduction des apports alimentaires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Amélioration secondaire de la sensibilité à l’insuline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Impact sur syndrome métabolique (PA, lipides, inflammation)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337560"/>
            <a:ext cx="562356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33756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39242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Lecture pharmacienne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840480"/>
            <a:ext cx="5349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Titration progressive = clé de l’adhésion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EI digestifs = 1ʳᵉ cause d’arrêt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Éducation injection / oubli / conservation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Surveillance nutritionnelle et hydratation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 / 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Au-delà de l’HbA1c — essais de sécurité CV pivots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2560320"/>
                <a:gridCol w="566928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Essai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Population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DT2 haut risque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↓ MACE, ↓ mortalité CV &amp; toutes causes ; ↓ macroalbuminurie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SUSTAIN-6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DT2 haut risque CV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↓ MACE ; signal cérébrovasculaire ; ↓ événements rénaux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DT2 risque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Bénéfice CV démontré — effet de classe au-delà de la glycémie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434840"/>
            <a:ext cx="11521440" cy="1691640"/>
          </a:xfrm>
          <a:prstGeom prst="roundRect">
            <a:avLst>
              <a:gd name="adj" fmla="val 8000"/>
            </a:avLst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3642"/>
                </a:solidFill>
                <a:latin typeface="Calibri"/>
              </a:rPr>
              <a:t>Mécanismes plausibles du bénéfice CV/rénal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Perte de poids, ↓ PA, amélioration lipidique, ↓ inflammation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Effets directs vasculaires / cardiaques / glomérulaires possibles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Données rénales souvent secondaires mais cohérentes → intérêt si risque MRC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 / 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Tolérance et sécurité : ce que le pharmacien doit maîtriser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Profil globalement favorable — vigilance ciblée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Effets indésirables 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Nausées, vomissements, diarrhées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Surtout en initiation / ↑ dose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Souvent transitoires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Réduits par titration lente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Cause n°1 d’arrêt précoce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Conseils : repas légers, hydratation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749039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749039" cy="384048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7218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Risques à anticiper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3474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Hypoglycémie rare en monothérapie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↑ si insuline ou sulfamides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Adapter / anticiper les doses associées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Signes de pancréatite aiguë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Complications biliaires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Contre-indications spécifiques à respecter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365760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9" y="147218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Messages rassurants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19202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Grands essais de sécurité disponibles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Inquiétudes historiques cancers / pancréatite non confirmées au niveau populationnel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Classe mature et largement utilisée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Pharmacovigilance reste essentielle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Information claire du patient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Traçabilité des EI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 / 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PARTIE 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Chapitre 3 — Parkinson &amp; repositionnement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0D8"/>
                </a:solidFill>
                <a:latin typeface="Calibri"/>
              </a:rPr>
              <a:t>Mécanismes, preuves précliniques, essais cliniques et rôle du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98A0"/>
                </a:solidFill>
                <a:latin typeface="Calibri"/>
              </a:rPr>
              <a:t>20  / 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Pourquoi repositionner dans la Parkinson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Chevauchement entre physiopathologie PD et effets du GLP-1R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3931920"/>
              </a:tblGrid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Modulation potentielle par agonistes GLP-1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Niveau de preuve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↓ activation microgliale / médiateurs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↓ ROS, meilleure intégrité cellulaire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Dysfonction mitochondriale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Soutien énergétique via PI3K/Akt, AMPc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Préclinique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Apoptose neuronale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Voies de survie (PKA, Akt, ERK)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α-synucléine / autophagie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↑ clairance, ↓ agrégation (hypothèse)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Préclinique + /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Déficit dopaminergique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Préservation neuronale (modèles toxiques)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Préclinique → clinique hétérogène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 / 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Activation GLP-1R → cascades de survie et contrôle de l’environnement toxique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03320" cy="5029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cAMP / PKA / EPAC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0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Survie neuronale, plasticité synaptique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0332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PI3K / 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94560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Anti-apoptose, métabolisme énergétique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3703320" cy="5029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MAPK / ERK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Réparation, différenciation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370332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Mitochondries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26280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↓ dysfonction, ↓ stress oxydatif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3703320" cy="5029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Microglie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26280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Atténuation de la neuroinflammation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749040"/>
            <a:ext cx="370332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526280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Clairance de l’α-synucléine pathologique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 / 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Données précliniques : signaux convergents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Modèles MPTP et 6-OHDA — plausibilité biologique forte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371600"/>
          <a:ext cx="115214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23544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Observations principales dans les modèles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Préservation neurones DA ; ↓ stress oxydatif ; ↓ 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Amélioration performances motrices ; protection contre perte neuronale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Intérêt pour action / pénétration centrale ; effet protecteur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226"/>
                          </a:solidFill>
                          <a:latin typeface="Calibri"/>
                        </a:rPr>
                        <a:t>Survie neuronale ; autophagie ; ↓ agrégation d’α-synucléine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754880"/>
            <a:ext cx="11521440" cy="137160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7A2C"/>
                </a:solidFill>
                <a:latin typeface="Calibri"/>
              </a:rPr>
              <a:t>Limite de transposition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La plausibilité préclinique ne garantit pas l’efficacité humaine. Le passage modèle animal → clinique reste l’obstacle majeur — d’où des résultats cliniques parfois décevants.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 / 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Exénatide : du signal ouvert à la phase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Première molécule largement explorée — résultat final décevant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Ce qui a nourri l’espoir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Études ouvertes : amélioration motrice suggérée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Essai contrôlé initial encourageant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Bonne tolérance globale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Rationnel préclinique solide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Classe déjà connue en métabolisme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Hypothèse modificatrice de maladie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Ce que la phase III a montré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Pas de bénéfice significatif sur la progression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Déception importante pour le champ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N’invalide pas totalement l’hypothèse de classe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Limites possibles : sélection, durée, pénétration SNC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Critères : symptomatique vs modificateur ?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Leçon : un signal précoce ≠ preuve définitive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 / 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Lixisénatide — essai LIXIPARK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Signal le plus encourageant à ce jour — stade précoce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Précoce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Stade de la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population cible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0248" y="1581912"/>
            <a:ext cx="3438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2103120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Scores moteurs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46888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vs aggravation placebo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840480" cy="1554480"/>
          </a:xfrm>
          <a:prstGeom prst="roundRect">
            <a:avLst>
              <a:gd name="adj" fmla="val 8000"/>
            </a:avLst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1581912"/>
            <a:ext cx="3621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Washout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6210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Effet persistant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68880"/>
            <a:ext cx="36210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au-delà du symptomatique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00400"/>
            <a:ext cx="115214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200400"/>
            <a:ext cx="11521440" cy="4114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273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Lecture critique de pharmacien / chercheur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79476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Stabilisation motrice sous lixisénatide alors que le placebo s’aggrave → signal clinique réel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Persistance après washout → argument contre un pur effet symptomatique immédiat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Questions ouvertes : durabilité à long terme, tolérance digestive, généralisabilité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Renforce l’intérêt pour les agonistes à profil favorable d’accès / d’action centrale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Ne remplace pas encore un avis réglementaire d’indication neurologique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 / 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Synthèse des essais cliniques dans la PD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Résultats hétérogènes — la classe n’est pas uniforme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00400"/>
                <a:gridCol w="557784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 / design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Ouvert → contrôlé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Signal initial non confirmé ; pas de bénéfice significatif sur progression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Essai contrôlé, PD précoce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Stabilisation motrice vs placebo ; effet après washout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Essais 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Candidat crédible (PK, puissance) ; résultats définitifs en attente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Autres / dérivés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Exploration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226"/>
                          </a:solidFill>
                          <a:latin typeface="Calibri"/>
                        </a:rPr>
                        <a:t>Analogues plus pénétrants, formulations adaptées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5029200"/>
            <a:ext cx="11521440" cy="1097280"/>
          </a:xfrm>
          <a:prstGeom prst="roundRect">
            <a:avLst>
              <a:gd name="adj" fmla="val 8000"/>
            </a:avLst>
          </a:prstGeom>
          <a:solidFill>
            <a:srgbClr val="E4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6"/>
                </a:solidFill>
                <a:latin typeface="Calibri"/>
              </a:rPr>
              <a:t>Conclusion intermédiaire : la plausibilité de classe est réelle, mais l’efficacité clinique dépend de la molécule, du stade, de la pénétration SNC et du design d’essai.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 / 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 —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Limites méthodologiques et questions ouvertes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Lire les données sans optimisme prématuré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384048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7218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Limites des essais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Peu d’études, souvent de taille modeste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Durées trop courtes pour une maladie lente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Critères moteurs ≠ preuve de neuroprotection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Difficile de séparer symptomatique vs modificateur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Hétérogénéité des populations et stades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Placebo / effets métaboliques confondants possibles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5623560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721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Questions pharmacologiques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Passage de la BHE variable selon la molécule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Structure (exendine vs GLP-1, taille, lipidation)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Dose neurologique ≠ dose métabolique ?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Quelle molécule pour le SNC ?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Biomarqueurs de sélection manquants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A2226"/>
                </a:solidFill>
                <a:latin typeface="Calibri"/>
              </a:rPr>
              <a:t>▸  Besoin d’essais plus larges et mieux ciblés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 / 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 —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Où va la recherche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De l’hypothèse de classe à une stratégie de précision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640080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40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82880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Stade précoce / prodromal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Intervenir avant une perte neuronale trop avancée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417320"/>
            <a:ext cx="640080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240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Biomarqueurs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1460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Sélectionner les patients les plus susceptibles de répondre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640080" cy="21488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240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82880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Essais plus longs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51460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Démontrer un vrai ralentissement de progression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749040"/>
            <a:ext cx="640080" cy="2148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16052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Molécules optimisées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84632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Meilleure pénétration SNC, formulations dédiées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3749040"/>
            <a:ext cx="640080" cy="2148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5196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16052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Combinaisons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84632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Neuroprotection + symptomatique + métabolique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2440" y="3749040"/>
            <a:ext cx="640080" cy="21488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16052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Sémaglutide &amp; suivants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484632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Résultats attendus pour clarifier le champ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 / 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3 — 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Rôle du pharmacien : du métabolisme à la neurologie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Éducation, vigilance, essais cliniques et coordination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716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42646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Éducation thérapeutique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74520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Technique d’injection SC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Schéma de titration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Régularité (formes hebdo)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Gestion des oublis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3716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371600"/>
            <a:ext cx="3749039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42646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Tolérance &amp; adhésion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874520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Anticiper EI digestifs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Conseils alimentaires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Hydratation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Limiter les arrêts précoces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2646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Pharmacovigilance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874520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Insuline / sulfamides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Pancréatite / biliaire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Déclaration des EI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Interactions / iatrogénie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374904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749040"/>
            <a:ext cx="3749039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80390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Essais &amp; info patient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251960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Traçabilité protocole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Conservation / dispensation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Usage validé vs expérimental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Éviter espoirs disproportionnés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3749039" cy="384048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380390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Coordination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251960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Neurologue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Endocrinologue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Médecin traitant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Patient parkinsonien DT2/obèse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4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749040"/>
            <a:ext cx="3749039" cy="384048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3803904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Valeur ajoutée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251960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Acteur de proximité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Sécurisation du parcours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Optimisation thérapeutique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2226"/>
                </a:solidFill>
                <a:latin typeface="Calibri"/>
              </a:rPr>
              <a:t>▸  Lien ville–hôpital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 / 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344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Messages à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D0D8"/>
                </a:solidFill>
                <a:latin typeface="Calibri"/>
              </a:rPr>
              <a:t>Synthèse critique — de la plausibilité biologique à la preuve clinique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325880"/>
            <a:ext cx="115214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640080" cy="7772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0876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417320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Classe mature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709928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Les agonistes du GLP-1 sont incontournables dans le DT2, l’obésité et la protection cardio-rénale.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194560"/>
            <a:ext cx="115214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194560"/>
            <a:ext cx="640080" cy="7772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37744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286000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Rationnel solide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578608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Le repositionnement dans la Parkinson repose sur des mécanismes neuroprotecteurs plausibles et convergents en préclinique.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063240"/>
            <a:ext cx="115214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063240"/>
            <a:ext cx="640080" cy="7772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2461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154680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Clinique hétérogène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47288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Exénatide négatif en phase III ; LIXIPARK encourageant ; sémaglutide en cours — la classe n’est pas uniforme.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3931919"/>
            <a:ext cx="115214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19"/>
            <a:ext cx="640080" cy="7772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114799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023359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Preuve à construire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315967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Essais plus larges, plus précoces, mieux ciblés par biomarqueurs, avec suivi prolongé.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4800600"/>
            <a:ext cx="115214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4800600"/>
            <a:ext cx="640080" cy="77724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498348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892040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642"/>
                </a:solidFill>
                <a:latin typeface="Georgia"/>
              </a:rPr>
              <a:t>Pharmacien central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184648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E5E66"/>
                </a:solidFill>
                <a:latin typeface="Calibri"/>
              </a:rPr>
              <a:t>Éducation, vigilance, coordination et sécurisation — aujourd’hui en métabolisme, demain peut-être en neurologie.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54710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Merci de votre attention  —  Discussion &amp; questions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30  / 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