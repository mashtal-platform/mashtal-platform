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15.png"/><Relationship Id="rId7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26.png"/><Relationship Id="rId5" Type="http://schemas.openxmlformats.org/officeDocument/2006/relationships/image" Target="../media/image10.png"/><Relationship Id="rId6" Type="http://schemas.openxmlformats.org/officeDocument/2006/relationships/image" Target="../media/image7.png"/><Relationship Id="rId7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48006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48006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5760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Idée directrice : une classe mature en métabolisme, un rationnel PD plausible, mais des preuves cliniques encore hétérogènes.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4983480"/>
            <a:ext cx="214884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Hormone &amp; récepteur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983480"/>
            <a:ext cx="2148840" cy="12344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88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DT2 · poids · CV-rein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4983480"/>
            <a:ext cx="2148840" cy="123444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8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Hypothèse préclinique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4983480"/>
            <a:ext cx="2148840" cy="123444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Signal phase II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6920" y="4983480"/>
            <a:ext cx="2148840" cy="123444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51206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55778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0F7FA"/>
                </a:solidFill>
                <a:latin typeface="Calibri"/>
              </a:rPr>
              <a:t>Sécuriser &amp; informer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Cinq étapes : du besoin médical à la lecture critique des preuves PD.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" y="1417320"/>
            <a:ext cx="22860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pic>
        <p:nvPicPr>
          <p:cNvPr id="12" name="Picture 11" descr="ico_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60604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04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Pourquoi chercher un modificateur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Parkinson : fardeau, mécanismes, impasse thérapeutique et logique de repositionnement.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1417320"/>
            <a:ext cx="22860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919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pic>
        <p:nvPicPr>
          <p:cNvPr id="19" name="Picture 18" descr="ico_gl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60604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69748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Comment agit le GLP-1 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Physiologie, récepteur, courte/longue durée et panorama des molécules.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83480" y="1417320"/>
            <a:ext cx="2286000" cy="105156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8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5663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pic>
        <p:nvPicPr>
          <p:cNvPr id="26" name="Picture 25" descr="ico_card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606040"/>
            <a:ext cx="914400" cy="9144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7492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Ce qui est déjà validé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DT2, obésité, cardio-rénal et tolérance : preuves matures, molécule par molécule.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2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60920" y="1417320"/>
            <a:ext cx="22860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pic>
        <p:nvPicPr>
          <p:cNvPr id="33" name="Picture 32" descr="ico_neur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0" y="2606040"/>
            <a:ext cx="914400" cy="914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5236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dit la clinique PD 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Mécanismes putatifs, préclinique, LIXIPARK vs Exenatide-PD3, rôle du pharmacien.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38360" y="1417320"/>
            <a:ext cx="228600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38360" y="1417320"/>
            <a:ext cx="22860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38360" y="1508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2" y="192024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pic>
        <p:nvPicPr>
          <p:cNvPr id="40" name="Picture 39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0" y="2606040"/>
            <a:ext cx="914400" cy="9144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829800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D2F4F"/>
                </a:solidFill>
                <a:latin typeface="Calibri"/>
              </a:rPr>
              <a:t>Que retenir pour le jury 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29768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F424C"/>
                </a:solidFill>
                <a:latin typeface="Calibri"/>
              </a:rPr>
              <a:t>Messages prudents : plausibilité ≠ preuve ≠ indication.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objectif sert une question : décrire, situer, juger, accompagner.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417320"/>
            <a:ext cx="914400" cy="105156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6733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55448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86000" y="155448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192024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Comprendre GLP-1, GLP-1R et les différences PK/PD — molécule par molécule, sans effet de classe.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60604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606040"/>
            <a:ext cx="914400" cy="105156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86207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gluc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2743200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86000" y="274320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10896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Situer la classe dans DT2, obésité et cardio-rénal (LEADER, SELECT, FLOW…) avec leurs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79476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794760"/>
            <a:ext cx="914400" cy="105156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405079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931920"/>
            <a:ext cx="777240" cy="7772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286000" y="393192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9768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Séparer plausibilité, signal symptomatique et preuve modificatrice (LIXIPARK vs Exenatide-PD3).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983480"/>
            <a:ext cx="11612880" cy="105156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914400" cy="105156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523951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5120640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286000" y="5120640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486400"/>
            <a:ext cx="9326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Sécuriser l’usage métabolique et rappeler qu’il n’existe aucune indication PD hors recherche.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les soins actuels soulagent, mais ne freinent pas la dégénérescence.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cerveau dopaminergique est atteint ; l’enjeu n’est plus seulement de masquer les symptômes.</a:t>
            </a:r>
          </a:p>
        </p:txBody>
      </p:sp>
      <p:pic>
        <p:nvPicPr>
          <p:cNvPr id="8" name="Picture 7" descr="med_01_brain_p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2ᵉ neurodégénérescence — fardeau croissant et handicap progressif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Triade motrice — bradykinésie ± tremblement / rigidité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Non moteurs majeurs — constipation, sommeil, cognition, chutes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α-synucléine + inflammation — axes physiopathologiques centraux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Traitements = symptomatiques — dopa et apparentés soulagent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Aucun modificateur certain — besoin médical non couvert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Besoin non couvert : freiner la neurodégénérescence — sans confondre MDS-UPDRS et neuroprotection.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Plusieurs voies convergent vers la mort neuronale : autant de portes d’entrée putatives pour le GLP-1R.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891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pic>
        <p:nvPicPr>
          <p:cNvPr id="12" name="Picture 11" descr="ico_asy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554480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D39"/>
                </a:solidFill>
                <a:latin typeface="Calibri"/>
              </a:rPr>
              <a:t>Agrégation et propagation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Protéine mal repliée qui se propage et aggrave la lésion. Cible potentielle des agonistes GLP-1 en préclinique.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70832" y="15819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08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pic>
        <p:nvPicPr>
          <p:cNvPr id="19" name="Picture 18" descr="ico_mi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554480"/>
            <a:ext cx="777240" cy="7772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40740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E7C86"/>
                </a:solidFill>
                <a:latin typeface="Calibri"/>
              </a:rPr>
              <a:t>Dysfonction et 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Énergie cellulaire défaillante → fragilité neuronale. Cible potentielle des agonistes GLP-1 en préclinique.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0275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15819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pic>
        <p:nvPicPr>
          <p:cNvPr id="26" name="Picture 25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1554480"/>
            <a:ext cx="777240" cy="7772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39328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Lésions cumulatives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Les ROS endommagent lipides, protéines et ADN. Cible potentielle des agonistes GLP-1 en préclinique.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" y="40050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pic>
        <p:nvPicPr>
          <p:cNvPr id="33" name="Picture 32" descr="ico_infl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3977640"/>
            <a:ext cx="777240" cy="7772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7548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B7CB8"/>
                </a:solidFill>
                <a:latin typeface="Calibri"/>
              </a:rPr>
              <a:t>Microglie activée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Inflammation chronique qui entretient la dégénérescence. Cible potentielle des agonistes GLP-1 en préclinique.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370832" y="40050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083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pic>
        <p:nvPicPr>
          <p:cNvPr id="40" name="Picture 39" descr="ico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3977640"/>
            <a:ext cx="777240" cy="77724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40740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8F62"/>
                </a:solidFill>
                <a:latin typeface="Calibri"/>
              </a:rPr>
              <a:t>Clairance altérée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Moins de recyclage des agrégats toxiques. Cible potentielle des agonistes GLP-1 en préclinique.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02752" y="40050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02752" y="40416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96528" y="400507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pic>
        <p:nvPicPr>
          <p:cNvPr id="47" name="Picture 46" descr="ico_bra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3977640"/>
            <a:ext cx="777240" cy="7772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339328" y="45262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4F7A"/>
                </a:solidFill>
                <a:latin typeface="Calibri"/>
              </a:rPr>
              <a:t>Susceptibilité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Terrain génétique + expositions modulent le risque. Cible potentielle des agonistes GLP-1 en préclinique.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Ils restaurent la transmission dopaminergique, pas la survie neuronale.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  <a:gridCol w="4754880"/>
              </a:tblGrid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Idée principale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Limite clinique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 la plus efficace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 au long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Stimulent les récepteurs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 possibles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Prolongent la dopamine endogène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Aide surtout sur les 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 démontré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74320" y="4434840"/>
            <a:ext cx="11612880" cy="18288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61772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Améliorer un score (ex. MDS-UPDRS) ≠ prouver un effet modificateur.
Biomarqueurs de progression encore insuffisants — d’où la prudence méthodologique.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On gagne du temps sur la sécurité connue, pas sur la preuve d’efficacité PD.</a:t>
            </a:r>
          </a:p>
        </p:txBody>
      </p:sp>
      <p:pic>
        <p:nvPicPr>
          <p:cNvPr id="8" name="Picture 7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914400" cy="914400"/>
          </a:xfrm>
          <a:prstGeom prst="rect">
            <a:avLst/>
          </a:prstGeom>
        </p:spPr>
      </p:pic>
      <p:pic>
        <p:nvPicPr>
          <p:cNvPr id="9" name="Picture 8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63040"/>
            <a:ext cx="914400" cy="9144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468880"/>
            <a:ext cx="576072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633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61518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Avantages du repositionnement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71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partir d’une classe mature pour tester une nouvelle indication.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319272"/>
            <a:ext cx="539496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PK/PD déjà connues — moins d’inconnu pharmacologique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Tolérance documentée — profil EI déjà cartographié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existante — suivi de sécurité en vie réelle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Développement accéléré possible — mais pas automatique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Preuve d’efficacité toujours requise — repositionner ≠ valider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468880"/>
            <a:ext cx="5669280" cy="37490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633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670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615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Prudence scientifique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971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repositionnement n’exempte jamais d’un essai rigoureux.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319272"/>
            <a:ext cx="5303520" cy="2761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Plausibilité ≠ efficacité clinique — le cerveau n’est pas le pancréas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d’équivalence entre molécules — PK et BHE varient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de classe présumé — chaque preuve est locale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Symptomatique ≠ modificateur — un score peut tromper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Indication PD : aucune à ce jour — hors essai seulement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comprendre la classe avant de juger son potentiel neurologique.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PHYSIOLOGIE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Origine du GLP-1 : du proglucagon aux formes actives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même précurseur, des enzymes de maturation différentes → des peptides aux rôles distincts.</a:t>
            </a:r>
          </a:p>
        </p:txBody>
      </p:sp>
      <p:pic>
        <p:nvPicPr>
          <p:cNvPr id="8" name="Picture 7" descr="med_proglucagon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Spécificité tissulaire = fonctions différentes.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Incrétine peptidique — issue du proglucagon (pancréas, intestin, SNC)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α — proglucagon → glucagon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(iléon/côlon) — GLP-1, GLP-2, glicentine, oxyntomoduline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Formes actives — GLP-1(7-36) amide et GLP-1(7-37)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Sécrétion postprandiale — glucides, lipides, protéines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Réponse précoce — signaux nerveux / endocrines / paracrines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NTS (tronc cérébral) — GLP-1 central (satiété) ; intestin = source circulante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Le tractus gastro-intestinal est la principale source de GLP-1 circulant ; la production centrale reste complémentaire.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Effet incrétine et régulation glycémique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Glucose oral &gt; glucose I.V. : le GLP-1 (avec le GIP) amplifie l’insuline de façon glucose-dépendante.</a:t>
            </a:r>
          </a:p>
        </p:txBody>
      </p:sp>
      <p:pic>
        <p:nvPicPr>
          <p:cNvPr id="8" name="Picture 7" descr="med_incretine_glycem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Propriété clé de sécurité de la classe.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— plus d’insuline après glucose oral qu’après I.V.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GLP-1 + GIP — action coordonnée postprandiale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Insuline glucose-dépendante — max si glycémie ↑, ↓ si glycémie ↓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Glucagon en hyperglycémie — moins de glucose hépatique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Vidange gastrique ralentie — atténue le pic postprandial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— faible risque seul ; ↑ si insuline/sulfamides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En association à l’insuline ou aux sulfamides, anticiper l’hypoglycémie et adapter si besoin.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I.1.3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Satiété et régulation de la prise alimentaire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Signaux digestifs, vagaux et centraux → satiété ↑, faim ↓, apports énergétiques ↓.</a:t>
            </a:r>
          </a:p>
        </p:txBody>
      </p:sp>
      <p:pic>
        <p:nvPicPr>
          <p:cNvPr id="8" name="Picture 7" descr="med_satiete_appet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La perte de poids n’est pas un bien absolu.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Satiété / faim — intégration périphérique et centrale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apports énergétiques — fondement du traitement de l’obésité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Bénéfice — utile si obésité ou DT2 à haut risque cardiométabolique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Vigilance — âgés, fragiles, dénutris, sarcopéniques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Risques — déshydratation, perte de masse maigre, ↓ autonomie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Chapitre II — cette balance bénéfice/risque sera développée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Juger la perte de poids dans le contexte clinique global : bénéfice cardiométabolique vs risque de fragilité.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GLP-1 naturel est trop fugace : les agonistes corrigent ce frein pharmacocinétique.</a:t>
            </a:r>
          </a:p>
        </p:txBody>
      </p:sp>
      <p:pic>
        <p:nvPicPr>
          <p:cNvPr id="8" name="Picture 7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Cellules L — sécrètent le GLP-1 après le repas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Hormone incrétine — amplifie l’insuline si glucose élevé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Glucose-dépendance — faible risque d’hypoglycémie seul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DPP-4 — détruit le GLP-1 en 1–2 minutes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résistants — rendent le médicament utilisable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Base de classe — tout part de cette physiologie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Activer le GLP-1R n’est pas un seul effet : c’est un réseau de signaux.</a:t>
            </a:r>
          </a:p>
        </p:txBody>
      </p:sp>
      <p:pic>
        <p:nvPicPr>
          <p:cNvPr id="8" name="Picture 7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GPCR classe B — récepteur membranaire spécifique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Distribution large — pancréas, cœur, rein, SNC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AMPc → PKA / EPAC — signal métabolique central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PI3K / Akt — voies de survie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MAPK / ERK — réparation / plasticité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Pont vers la neuroprotection — même récepteur, autre tissu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 putative.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agonistes « GLP-1 » ne donnent pas le même profil d’action.</a:t>
            </a:r>
          </a:p>
        </p:txBody>
      </p:sp>
      <p:pic>
        <p:nvPicPr>
          <p:cNvPr id="8" name="Picture 7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(exé, lixi) — stimulation intermittente du récepteur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Postprandial fort — utile sur le pic glycémique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(lira, dula, séma) — exposition continue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Jeûne / HbA1c — meilleur contrôle glycémique global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PK différente → effets différents — pas d’interchangeabilité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Conséquence PD — l’exposition centrale peut aussi différer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I.3–I.4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Une classe hétérogène — pas un groupe homogène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Même récepteur GLP-1R, mais structures, PK/PD et preuves très différentes.</a:t>
            </a:r>
          </a:p>
        </p:txBody>
      </p:sp>
      <p:pic>
        <p:nvPicPr>
          <p:cNvPr id="8" name="Picture 7" descr="med_agonistes_het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45236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18120" y="1325880"/>
            <a:ext cx="411480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82712" y="149047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8271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1472184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18288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Pas d’effet de classe neurologique présumé.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176272"/>
            <a:ext cx="3749040" cy="3172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Exendine-4 — exénatide, lixisénatide (Heloderma)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Analogues humains — lira, dula, séma (albumine / Fc)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Tirzépatide — double GIP/GLP-1, non sélectif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Action courte — stimulation intermittente, postprandial ++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Action prolongée — jeûne/HbA1c ; tachyphylaxie vidange possible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Lecture PD — chaque molécule a ses propres preuves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5577840"/>
            <a:ext cx="11704320" cy="7772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6928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Différences de structure, demi-vie, administration et pharmacodynamie : lire molécule par molécule.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TABLEAU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Principales molécules et profils pharmacocinétiques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Comparaison structurale, demi-vie, administration et particularités cliniques.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325880"/>
          <a:ext cx="1179576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1554480"/>
                <a:gridCol w="2103120"/>
                <a:gridCol w="329184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Structure / mécanisme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Demi-vie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Particularités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Exendine-4 synthétique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~heures /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2×/j ou 1×/sem.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LP évalué en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Exendine-4 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~3 h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1×/j SC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Postprandial ++ ; 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GLP-1 + chaîne C16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~13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1×/j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obésité (dose)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2× GLP-1–Fc IgG4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1×/sem. SC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REWIND (CV)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GLP-1 + chaîne C18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~1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DT2 ; obésité ; cardio-rénal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Double 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~5 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1×/sem. SC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21E28"/>
                          </a:solidFill>
                          <a:latin typeface="Calibri"/>
                        </a:rPr>
                        <a:t>Non sélectif GLP-1R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82880" y="5029200"/>
            <a:ext cx="1179576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521208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Indications selon spécialité, dose et cadre réglementaire. Tirzépatide ≠ agoniste sélectif : ses effets ne se réduisent pas à l’activation du GLP-1R.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Un seul médicament agit sur plusieurs leviers glycémiques et pondéraux.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Glucose-dépendante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Sécrétion stimulée seulement si glycémie élevée.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00200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578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Moins de glucose hépatique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Réduit la production de glucose par le foie.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t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2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20574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↓ pic postprandial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8" y="25603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Ralentit l’arrivée des nutriments après le repas.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233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↓ appétit / poids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Action centrale sur la faim et les apports.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0" y="4023360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25780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7CB8"/>
                </a:solidFill>
                <a:latin typeface="Calibri"/>
              </a:rPr>
              <a:t>Survie et fonction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Soutien fonctionnel des îlots en modèles.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cardi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21040" y="4023360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189720" y="40690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9720" y="44805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4F7A"/>
                </a:solidFill>
                <a:latin typeface="Calibri"/>
              </a:rPr>
              <a:t>Cœur, rein, inflammation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9834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424C"/>
                </a:solidFill>
                <a:latin typeface="Calibri"/>
              </a:rPr>
              <a:t>Effets hors glycémie pour certaines molécules.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ici les preuves sont solides — c’est le contraste avec le chapitre Parkinson.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majeure : glycémie, poids et, selon molécule, protection cardio-rénale.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Efficacité glycémique robuste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Recommandée tôt si CV/MRC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Sauf associations à risque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restaure une physiologie incrétine défaillante.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Effet incrétine diminué dans le DT2 — déficit à compenser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Agonistes = incrétine durable — action pharmacologique stable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Courte durée → postprandial — utile sur le pic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Longue durée → jeûne / HbA1c — contrôle global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le choix se guide aussi par les comorbidités.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Après mesures ± metformine — selon recommandations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Précoce si risque CV / MRC — bénéfice au-delà de l’HbA1c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Séma &amp; tirzépatide très puissants — poids + glycémie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*sauf association insuline/sulfamides — surveiller l’hypo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 l’échec des seuls régimes à des traitements hormonaux à forte efficacité.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14173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Perte de poids majeure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417320"/>
            <a:ext cx="3794760" cy="14173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581912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75688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23160"/>
            <a:ext cx="3611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Dose spécifique obésité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417320"/>
            <a:ext cx="3840480" cy="14173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15819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F4F8"/>
                </a:solidFill>
                <a:latin typeface="Calibri"/>
              </a:rPr>
              <a:t>Double agoniste très puissant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017520"/>
            <a:ext cx="576072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38912" y="31821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31638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520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on traite une maladie, pas seulement un chiffre sur la balance.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867912"/>
            <a:ext cx="53949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appétit / ↑ satiété — levier central de la prise alimentaire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Réduction des apports — déficit énergétique durable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Meilleure sensibilité insulinique — bénéfice métabolique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Impact cardiométabolique — au-delà du seul chiffre de poids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017520"/>
            <a:ext cx="5669280" cy="32004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82512" y="31821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32186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31638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 clinique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520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l’efficacité pondérale impose une surveillance nutritionnelle.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9088" y="3867912"/>
            <a:ext cx="530352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= adhésion — monter trop vite fait arrêter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fréquents — anticiper et éduquer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Attention âgés / fragiles — risque de dénutrition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Sarcopénie possible — surveiller force et apports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bénéfices CV/rénaux sont prouvés pour des molécules précises, pas pour « les GLP-1 » en bloc.</a:t>
            </a:r>
          </a:p>
        </p:txBody>
      </p:sp>
      <p:pic>
        <p:nvPicPr>
          <p:cNvPr id="8" name="Picture 7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LEADER — liraglutide ↓ MACE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SUSTAIN-6 — sémaglutide : bénéfice CV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REWIND — dulaglutide en prévention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SELECT — séma sans DT2 : preuve élargie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FLOW — séma + MRC : rein protégé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Molécule ≠ classe — pas d’interchangeabilité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Bénéfices cardio-rénaux démontrés pour certaines molécules — pas une interchangeabilité automatique.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Classe mature : EI digestifs fréquents, alertes rares mais à connaître.</a:t>
            </a:r>
          </a:p>
        </p:txBody>
      </p:sp>
      <p:pic>
        <p:nvPicPr>
          <p:cNvPr id="8" name="Picture 7" descr="ico_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325880"/>
            <a:ext cx="822960" cy="822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2860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3192" y="15819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la plupart des arrêts viennent du digestif.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— surtout à l’instauration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Diarrhées — dose-dépendantes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Début / ↑ dose — moment de vigilance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Souvent transitoires — s’atténuent en titration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Titration lente — clé de l’adhésion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5112" y="15819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1888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168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Idée : rares mais graves = messages patient clairs.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insuline/sulfamides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Pancréatite (alerte) — douleur abdo intense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Complications biliaires — surveillance clinique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Contre-indications — respecter le RCP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Pharmacovigilance — déclarer les EI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417320"/>
            <a:ext cx="3840480" cy="48006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57032" y="1581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1618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50808" y="1563624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1920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éduquer vaut mieux que corriger après coup.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267712"/>
            <a:ext cx="3474720" cy="3813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Classe mature — données de sécurité larges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Essais de sécurité — CV et métaboliques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Profil favorable — si bonne sélection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Info patient claire — injection, repas, oubli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Traçabilité EI — rôle du pharmacien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EC8D4"/>
                </a:solidFill>
                <a:latin typeface="Calibri"/>
              </a:rPr>
              <a:t>Idée : passer de la plausibilité biologique à la lecture critique des essais.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Chaque mécanisme PD a un pendant putatif via le GLP-1R — surtout préclinique.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170432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937760"/>
                <a:gridCol w="38404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Niveau de 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Atténuer l’activation microgliale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Réduire la charge en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Soutenir le métabolisme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Activer des 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Favoriser 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Beau schéma mécanistique ≠ démonstration clinique chez le patient parkinsonien.</a:t>
            </a:r>
          </a:p>
        </p:txBody>
      </p:sp>
      <p:pic>
        <p:nvPicPr>
          <p:cNvPr id="8" name="Picture 7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Activation GLP-1R — point d’entrée commun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Survie neuronale — voies PI3K/Akt, MAPK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inflammation — microglie moins délétère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stress oxydatif — moins de lésions cumulées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↓ apoptose — moins de mort cellulaire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Autophagie / α-syn — piste encore exploratoire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Plausibilité biologique forte — hypothèses précliniques, pas une preuve d’efficacité humaine.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Les modèles animaux convergent — mais ils ne reproduisent pas la maladie humaine.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 — idée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Préserve neurones DA ;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Améliore le moteur ;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Intérêt pour une action centrale possible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Survie, autophagie, ↓ α-syn en modèles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Le signal exploratoire n’a pas survécu à l’épreuve d’un grand essai.</a:t>
            </a:r>
          </a:p>
        </p:txBody>
      </p:sp>
      <p:pic>
        <p:nvPicPr>
          <p:cNvPr id="8" name="Picture 7" descr="ico_t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371600"/>
            <a:ext cx="868680" cy="868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C86"/>
                </a:solidFill>
                <a:latin typeface="Calibri"/>
              </a:rPr>
              <a:t>Idée : l’espoir venait d’un signal, pas d’une preuve.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Études pilotes / phase II — premiers signaux moteurs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Signal exploratoire — encourageant mais fragile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Bonne tolérance globale — acceptable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Rationnel préclinique solide — justifiait un grand essai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A justifié Exenatide-PD3 — passage à l’échelle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Exenatide-PD3 (phase III)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un négatif de phase III pèse plus qu’un signal de phase II.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194 participants · 96 semaines — vrai test de force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Exénatide hebdomadaire vs placebo — design robuste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OFF : pas de différence — critère raté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d’effet modificateur démontré — conclusion nette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Fin de l’optimisme de classe — lire molécule par molécule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LIXIPARK — signal phase II, pas une preuve de neuroprotection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LIXIPARK ouvre une piste pour le lixisénatide ; il ne valide pas la classe entière.</a:t>
            </a:r>
          </a:p>
        </p:txBody>
      </p:sp>
      <p:pic>
        <p:nvPicPr>
          <p:cNvPr id="8" name="Picture 7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· 156 patients — taille correcte mais pas confirmatoire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Parkinson précoce · 12 mois — fenêtre courte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III : −0,04 vs +3,04 — moins d’aggravation sous lixi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Différence ajustée : 3,08 pts — signal moteur favorable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Nausées / vomissements ↑ — tolérance à anticiper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Pas d’indication réglementaire — hors essai seulement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Signal moteur favorable à court terme — insuffisant pour affirmer un effet modificateur durable.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Même cible, résultats divergents : on lit chaque essai, pas « les GLP-1 ».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371600"/>
          <a:ext cx="117043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4389120"/>
              </a:tblGrid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Design (idée)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Exénatide (pilote/ph.II)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Faible effectif —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Signal 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LIXIPARK (lixisénatide)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156 · 12 mois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+3,08 pts MDS-UPDRS III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Exenatide-PD3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Ph.III · 194 · 96 sem.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Négatif (OFF)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MOST-ABLE (séma oral)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Ph.II · 99 · 48 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21E28"/>
                          </a:solidFill>
                          <a:latin typeface="Calibri"/>
                        </a:rPr>
                        <a:t>Résultats en attente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228600" y="4434840"/>
            <a:ext cx="11704320" cy="178308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70916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Pas d’effet de classe démontré. Pas d’indication dans Parkinson hors essai clinique.
Méta-analyse globale : pas de bénéfice moteur significatif (signal courte durée = exploratoire).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Pour progresser : plus long, plus précoce, plus multicritère, mieux stratifié.</a:t>
            </a:r>
          </a:p>
        </p:txBody>
      </p:sp>
      <p:pic>
        <p:nvPicPr>
          <p:cNvPr id="8" name="Picture 7" descr="ico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822960" cy="822960"/>
          </a:xfrm>
          <a:prstGeom prst="rect">
            <a:avLst/>
          </a:prstGeom>
        </p:spPr>
      </p:pic>
      <p:pic>
        <p:nvPicPr>
          <p:cNvPr id="9" name="Picture 8" descr="ico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417320"/>
            <a:ext cx="822960" cy="8229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4320" y="2331720"/>
            <a:ext cx="576072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" y="2496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47802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34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5D39"/>
                </a:solidFill>
                <a:latin typeface="Calibri"/>
              </a:rPr>
              <a:t>Idée : beaucoup d’essais ne peuvent techniquement pas conclure.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182112"/>
            <a:ext cx="539496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Phase II ≠ preuve modificatrice — signal ≠ confirmation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Durées souvent trop courtes — la PD évolue lentement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MDS-UPDRS OFF insuffisant seul — un score ne dit pas tout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Biomarqueurs non validés — difficile de prouver le freinage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Hétérogénéité patients / molécules — brouille les moyennes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5669280" cy="3886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2512" y="2496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532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247802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834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8F62"/>
                </a:solidFill>
                <a:latin typeface="Calibri"/>
              </a:rPr>
              <a:t>Idée : le design futur doit coller à la lenteur de la maladie.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182112"/>
            <a:ext cx="5303520" cy="2898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Stade précoce + suivi long — capturer la progression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Critères moteurs + non moteurs — vision complète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Cognition, chutes, nutrition — pertinents en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Stratification / biomarqueurs — qui répond vraiment ?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MOST-ABLE et essais confirmatoires — prochaine étape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Deux missions : bien utiliser la classe en métabolisme, et ne pas l’étendre hors preuve.</a:t>
            </a:r>
          </a:p>
        </p:txBody>
      </p:sp>
      <p:pic>
        <p:nvPicPr>
          <p:cNvPr id="8" name="Picture 7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325880"/>
            <a:ext cx="7315200" cy="397763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80960" y="1325880"/>
            <a:ext cx="4251960" cy="3977639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845552" y="149047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45552" y="152704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8" y="1472184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Idées à retenir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8" y="1828800"/>
            <a:ext cx="3886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Éducation injection / titration — geste et rythme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EI digestifs &amp; hydratation — prévenir l’arrêt précoce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Constipation / perte de poids — croiser avec la PD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Risque chute / sarcopénie — vigilance gériatrique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Hypoglycémie si associations — interactions pratiques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21E28"/>
                </a:solidFill>
                <a:latin typeface="Calibri"/>
              </a:rPr>
              <a:t>●  Hors essai = pas d’indication PD — message non négociable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 pharmacien sécurise l’usage métabolique et rappelle clairement le caractère expérimental dans Parkinson.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Six missions concrètes : éduquer, surveiller, informer, coordonner.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_p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27048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Rendre le geste sûr et reproductible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Injection SC — technique et sites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Titration — rythme personnalisé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Oublis / conservation — règles simples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_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527048"/>
            <a:ext cx="731520" cy="731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8912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95D39"/>
                </a:solidFill>
                <a:latin typeface="Calibri"/>
              </a:rPr>
              <a:t>Anticiper les EI qui font arrêter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Nausées / vomissements — conseils repas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Constipation (PD) — déjà fréquente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Hydratation — prévenir la fragilité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41732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_we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1527048"/>
            <a:ext cx="731520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1554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920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98A1A"/>
                </a:solidFill>
                <a:latin typeface="Calibri"/>
              </a:rPr>
              <a:t>Protéger les patients vulnérables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3172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Insuline/sulfamides — hypo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Dénutrition — poids + apports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Chutes / fragilité — alerte soignants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_t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3950208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720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A8F62"/>
                </a:solidFill>
                <a:latin typeface="Calibri"/>
              </a:rPr>
              <a:t>Sécuriser le circuit de recherche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Traçabilité — lot et observance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Protocole — respect strict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Dispensation — cadre réglementaire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950208"/>
            <a:ext cx="731520" cy="7315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38912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B7CB8"/>
                </a:solidFill>
                <a:latin typeface="Calibri"/>
              </a:rPr>
              <a:t>Cadre réaliste des attentes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Pas d’indication PD — hors essai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Attentes réalistes — pas de miracle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Anti-automédication — message clair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840480"/>
            <a:ext cx="3794760" cy="2240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co_flo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18520" y="3950208"/>
            <a:ext cx="731520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321040" y="3977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43434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4F7A"/>
                </a:solidFill>
                <a:latin typeface="Calibri"/>
              </a:rPr>
              <a:t>Relier les acteurs du parcours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7548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Neurologue — suivi moteur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Endocrinologue — métabolisme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121E28"/>
                </a:solidFill>
                <a:latin typeface="Calibri"/>
              </a:rPr>
              <a:t>●  Diététicien / MG — nutrition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5DCE4"/>
                </a:solidFill>
                <a:latin typeface="Calibri"/>
              </a:rPr>
              <a:t>Formuler clairement : mature en métabolisme, prudent en Parkinson.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727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pic>
        <p:nvPicPr>
          <p:cNvPr id="11" name="Picture 10" descr="ico_gluc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463040"/>
            <a:ext cx="685800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11680" y="146304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Classe mature en métabolisme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105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DT2, obésité, cardio-rénal : bénéfices prouvés, mais toujours molécule-spécifiques.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5328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pic>
        <p:nvPicPr>
          <p:cNvPr id="17" name="Picture 16" descr="ico_neur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423160"/>
            <a:ext cx="685800" cy="685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11680" y="242316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 PD plausible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7706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Survie, mitochondries, inflammation, α-syn : cohérent en préclinique, pas encore prouvé chez l’humain.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2918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2918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34930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pic>
        <p:nvPicPr>
          <p:cNvPr id="23" name="Picture 22" descr="ico_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3383280"/>
            <a:ext cx="685800" cy="685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011680" y="33832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Clinique hétérogène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7307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LIXIPARK + (ph.II) · Exenatide-PD3 − · pas d’effet de classe démontré.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2519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" y="42519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4531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pic>
        <p:nvPicPr>
          <p:cNvPr id="29" name="Picture 28" descr="ico_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4343400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11680" y="434340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Pas d’indication actuelle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6908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Hors protocole de recherche : ne pas prescrire ni conseiller un GLP-1 pour la Parkinson.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2120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52120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54132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35" name="Picture 34" descr="ico_phar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5303520"/>
            <a:ext cx="685800" cy="685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011680" y="5303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Pharmacien central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56509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424C"/>
                </a:solidFill>
                <a:latin typeface="Calibri"/>
              </a:rPr>
              <a:t>Éducation, tolérance, nutrition, information réaliste : sécuriser sans surpromettre.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