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C8D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5943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Agonistes du GLP-1 :
mise au point et potentiel
prometteur pour la
maladie de Parkinson</a:t>
            </a:r>
          </a:p>
        </p:txBody>
      </p:sp>
      <p:pic>
        <p:nvPicPr>
          <p:cNvPr id="6" name="Picture 5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640080"/>
            <a:ext cx="5303520" cy="3931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5029200"/>
            <a:ext cx="214884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5029200"/>
            <a:ext cx="214884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5029200"/>
            <a:ext cx="214884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60920" y="5029200"/>
            <a:ext cx="214884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20" y="5029200"/>
            <a:ext cx="2148840" cy="10972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2194560" cy="11887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21E28"/>
                </a:solidFill>
                <a:latin typeface="Calibri"/>
              </a:rPr>
              <a:t>Parkinson, besoin, repositionnement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1280160"/>
            <a:ext cx="2194560" cy="1188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21E28"/>
                </a:solidFill>
                <a:latin typeface="Calibri"/>
              </a:rPr>
              <a:t>GLP-1, récepteur, agonistes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60" y="1280160"/>
            <a:ext cx="2194560" cy="118872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21E28"/>
                </a:solidFill>
                <a:latin typeface="Calibri"/>
              </a:rPr>
              <a:t>DT2, obésité, cardio-rénal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79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79" y="1280160"/>
            <a:ext cx="2194560" cy="118872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79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39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21E28"/>
                </a:solidFill>
                <a:latin typeface="Calibri"/>
              </a:rPr>
              <a:t>Neuroprotection &amp; essais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1280160"/>
            <a:ext cx="2194560" cy="11887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21E28"/>
                </a:solidFill>
                <a:latin typeface="Calibri"/>
              </a:rPr>
              <a:t>Messages &amp; discussion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Quatre objectifs de la thèse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91440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6304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783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F424C"/>
                </a:solidFill>
                <a:latin typeface="Calibri"/>
              </a:rPr>
              <a:t>GLP-1, GLP-1R, panorama des agonistes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2316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423160"/>
            <a:ext cx="91440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69748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606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Indications validées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F424C"/>
                </a:solidFill>
                <a:latin typeface="Calibri"/>
              </a:rPr>
              <a:t>DT2, obésité, protection cardio-rénale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657600"/>
            <a:ext cx="91440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93192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251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F424C"/>
                </a:solidFill>
                <a:latin typeface="Calibri"/>
              </a:rPr>
              <a:t>Mécanismes, préclinique, LIXIPARK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89204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892040"/>
            <a:ext cx="91440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516636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074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Rôle du pharmacien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F424C"/>
                </a:solidFill>
                <a:latin typeface="Calibri"/>
              </a:rPr>
              <a:t>Éducation, vigilance, coordination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95D39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8D4DE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A8B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Maladie de Parkinson — anatomie fonctionnelle</a:t>
            </a:r>
          </a:p>
        </p:txBody>
      </p:sp>
      <p:pic>
        <p:nvPicPr>
          <p:cNvPr id="7" name="Picture 6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2ᵉ neurodégénérescence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Atteinte substance noire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Déficit dopaminergique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Moteurs + non moteurs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Aucun modificateur validé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Besoin neuroprotecteur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L’image montre la cible : préserver les neurones dopaminergiques, pas seulement masquer les symptômes.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Physiopathologie — 6 mécanismes clés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α-synucléine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Agrégation et propagation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Mitochondries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Dysfonction et ROS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Stress oxydatif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Lésions cumulatives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Neuroinflammation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Microglie activée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Autophagie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Clairance altérée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Gènes / environnement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Susceptibilité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Traitements actuels : utiles mais limités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116128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31920"/>
                <a:gridCol w="475488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Limite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Lévodopa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Référence motrice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Fluctuations / dyskinésies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Agonistes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Symptômes moteurs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EI neuropsychiatriques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Potentialisation 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Effet symptomatique seul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Dyskinésies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Pas d’effet modificateur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4572000"/>
            <a:ext cx="11612880" cy="16916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8006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MESSAGE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Calibri"/>
              </a:rPr>
              <a:t>Améliorer les symptômes ≠ freiner la neurodégénérescence.
Le repositionnement des agonistes du GLP-1 répond à ce besoin.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repositionner les agonistes du GLP-1 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Avantages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PK/PD déjà connues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Tolérance documentée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Développement accéléré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GLP-1R présent dans le SNC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Essais humains déjà menés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Hypothèse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Anti-inflammatoire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Anti-oxydant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Anti-apoptotique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Soutien mitochondrial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Clairance α-synucléine (hypothèse)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E7C86"/>
                </a:solidFill>
                <a:latin typeface="Calibri"/>
              </a:rPr>
              <a:t>PARTIE 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8D4DE"/>
                </a:solidFill>
                <a:latin typeface="Calibri"/>
              </a:rPr>
              <a:t>GLP-1, récepteur, courte/longue durée, panorama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A8B0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Physiologie du GLP-1 — du tube digestif au pancréas</a:t>
            </a:r>
          </a:p>
        </p:txBody>
      </p:sp>
      <p:pic>
        <p:nvPicPr>
          <p:cNvPr id="7" name="Picture 6" descr="med_02_glp1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Cellules L intestinales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Hormone incrétine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Insuline glucose-dépendante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DPP-4 : demi-vie 1–2 min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Agonistes résistants DPP-4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Base de toute la classe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Sans résistance à la DPP-4, pas de médicament utilisable : c’est le cœur du design pharmaceutique.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Récepteur GLP-1R et voies de signalisation</a:t>
            </a:r>
          </a:p>
        </p:txBody>
      </p:sp>
      <p:pic>
        <p:nvPicPr>
          <p:cNvPr id="7" name="Picture 6" descr="med_03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GPCR classe B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Pancréas, cœur, rein, SNC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AMPc → PKA / EPAC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PI3K / Akt : survie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MAPK / ERK : réparation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Base de la neuroprotection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Même récepteur, plusieurs cascades : métabolisme périphérique et survie neuronale.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pic>
        <p:nvPicPr>
          <p:cNvPr id="7" name="Picture 6" descr="med_04_agon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Courte : exénatide, lixisénatide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Stimulation intermittente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Fort effet postprandial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Longue : lira, dula, séma…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Exposition continue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Meilleur contrôle HbA1c / jeûne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La durée d’exposition du récepteur explique les différences d’efficacité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Panorama des agonistes — référence claire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560320"/>
                <a:gridCol w="493776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Admin.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Point clé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2×/j ou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Essais Parkinson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LIXIPARK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LEADER / obésité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REWIND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STEP / essais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GIP/GLP-1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21E28"/>
                          </a:solidFill>
                          <a:latin typeface="Calibri"/>
                        </a:rPr>
                        <a:t>Puissance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5029200"/>
            <a:ext cx="1170432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Structure différente → demi-vie et accès au SNC variables. La classe n’est pas uniforme en neurologie.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Six actions métaboliques simultanées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Glucose-dépendante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↓ Glucagon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Moins de glucose hépatique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Vidange gastrique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↓ pic postprandial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Satiété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↓ appétit / poids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Cellules 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Survie et fonction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Pléiotropie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Cœur, rein, inflammation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B7CB8"/>
                </a:solidFill>
                <a:latin typeface="Calibri"/>
              </a:rPr>
              <a:t>PARTIE 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8D4DE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A8B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Diabète de type 2 — place actuelle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5544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0,8–1,8%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↓ HbA1c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5544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ADA/EASD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Classe majeure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5544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Faible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Hypoglycémie*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971800"/>
            <a:ext cx="576072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1363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Rationnel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657600"/>
            <a:ext cx="53949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Effet incrétine diminué dans le DT2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Agonistes = incrétine durable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Courte durée → postprandial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Longue durée → jeûne / HbA1c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71800"/>
            <a:ext cx="566928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1363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154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En pratique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657600"/>
            <a:ext cx="5303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Après mesures ± metformine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Précoce si risque CV / MRC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Séma &amp; tirzépatide très puissants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*sauf association insuline/sulfamides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Obésité — un changement de paradigme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6459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~15%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Sémaglutide (STEP)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6459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Liraglutide (SCALE)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6459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Tirzépatide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63240"/>
            <a:ext cx="576072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22783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46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Mécanismes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74904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↓ appétit / ↑ satiété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Réduction des apports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Meilleure sensibilité insulinique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Impact cardiométabolique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063240"/>
            <a:ext cx="566928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22783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246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Conseil pharmacien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749040"/>
            <a:ext cx="53035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Titration = adhésion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EI digestifs = 1ʳᵉ cause d’arrêt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Repas légers + hydratation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Éducation injection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pic>
        <p:nvPicPr>
          <p:cNvPr id="7" name="Picture 6" descr="med_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LEADER : liraglutide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SUSTAIN-6 : sémaglutide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REWIND : dulaglutide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↓ MACE démontré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Signal rénal favorable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Au-delà de l’HbA1c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Ces essais ont repositionné la classe dans les recommandations internationales.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Tolérance &amp; sécurité — check-list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319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Fréquents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Nausées / vomissements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Diarrhées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Début / ↑ dose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Souvent transitoires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Titration lente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2511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À anticiper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Hypoglycémie si associations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Pancréatite (alerte)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Complications biliaires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Contre-indications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Pharmacovigilance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080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Messages utiles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Classe mature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Essais de sécurité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Profil favorable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Info patient claire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Traçabilité EI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8F62"/>
                </a:solidFill>
                <a:latin typeface="Calibri"/>
              </a:rPr>
              <a:t>PARTIE 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Chapitre 3 — Parkinson &amp; preuves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8D4DE"/>
                </a:solidFill>
                <a:latin typeface="Calibri"/>
              </a:rPr>
              <a:t>Mécanismes, préclinique, essais, pharmacien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A8B0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le GLP-1 dans la Parkinson 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402336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Effet GLP-1 potentiel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Preuve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↓ microglie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↓ ROS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Mitochondries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Soutien énergétique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Préclin.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Apoptose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Voies de survie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α-synucléine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Autophagie / clairance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pic>
        <p:nvPicPr>
          <p:cNvPr id="7" name="Picture 6" descr="med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Activation GLP-1R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Survie neuronale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↓ inflammation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↓ stress oxydatif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↓ apoptose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Autophagie / α-syn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Plausibilité biologique forte — étape nécessaire avant la preuve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Préclinique : signaux convergents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0"/>
              </a:tblGrid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Observations (MPTP / 6-OHDA)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Préservation neurones DA · ↓ oxydatif / 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Amélioration motrice · protection neuronale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Intérêt pour action centrale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Survie · autophagie · ↓ α-syn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297680"/>
            <a:ext cx="11704320" cy="1920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LIMITE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Calibri"/>
              </a:rPr>
              <a:t>La plausibilité animale ne garantit pas le succès humain.
Le passage modèle → clinique reste l’obstacle majeur.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Exénatide : espoir puis échec de phase III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Espoir initial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Études ouvertes encourageantes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Essai contrôlé initial positif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Bonne tolérance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Rationnel préclinique solide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Ouverture du champ GLP-1 / PD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Phase III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Pas de bénéfice significatif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Déception pour le champ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N’invalide pas toute la classe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Limites : sélection, durée, BHE ?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Signal ≠ preuve définitive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LIXIPARK — signal clinique le plus encourageant</a:t>
            </a:r>
          </a:p>
        </p:txBody>
      </p:sp>
      <p:pic>
        <p:nvPicPr>
          <p:cNvPr id="7" name="Picture 6" descr="med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PD stade précoce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Lixisénatide vs placebo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Scores moteurs stabilisés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Placebo : aggravation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Effet après washout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Questions de durabilité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Persistance après washout : argument contre un pur effet symptomatique immédiat.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Synthèse des essais — classe hétérogène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572000"/>
              </a:tblGrid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Ouvert → phase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Non confirmé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Lixisénatide (LIXIPARK)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Contrôlé, précoce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Stabilisation + washout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En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21E28"/>
                          </a:solidFill>
                          <a:latin typeface="Calibri"/>
                        </a:rPr>
                        <a:t>Résultats attendus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480560"/>
            <a:ext cx="11704320" cy="173736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Calibri"/>
              </a:rPr>
              <a:t>L’efficacité dépend de la molécule, du stade, de la BHE et du design.
Ne pas extrapoler un résultat à toute la classe.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Limites et perspectives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Limites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Peu d’essais, tailles modestes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Durées courtes vs maladie lente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Critères ≠ preuve neuroprotectrice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Passage BHE variable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Biomarqueurs manquants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Perspectives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Intervention précoce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Sélection par biomarqueurs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Essais plus larges et longs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Analogues plus pénétrants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Approches combinées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Rôle du pharmacien — sécuriser le parcours</a:t>
            </a:r>
          </a:p>
        </p:txBody>
      </p:sp>
      <p:pic>
        <p:nvPicPr>
          <p:cNvPr id="7" name="Picture 6" descr="med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Éducation injection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Titration progressive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Gestion EI digestifs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Pharmacovigilance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Usage validé vs expérimental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Coordination pluridisciplinaire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Aujourd’hui en métabolisme ; demain potentiellement en neurologie : le pharmacien reste central.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Missions du pharmacien — grille claire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Éducation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Injection SC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Titration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Oublis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Tolérance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EI digestifs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Repas légers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Adhésion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Insuline/sulfamides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Pancréatite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Biliaire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Essais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Traçabilité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Protocole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Dispensation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Information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Validé vs expérimental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Attentes réalistes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Coordination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Neurologue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Endocrinologue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21E28"/>
                </a:solidFill>
                <a:latin typeface="Calibri"/>
              </a:rPr>
              <a:t>●  MG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Cinq messages à retenir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777240" cy="8686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4416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5272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Classe mature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600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F424C"/>
                </a:solidFill>
                <a:latin typeface="Calibri"/>
              </a:rPr>
              <a:t>DT2, obésité, cardio-rénal : place solide.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0312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103120"/>
            <a:ext cx="777240" cy="8686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30428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1284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Rationnel fort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560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F424C"/>
                </a:solidFill>
                <a:latin typeface="Calibri"/>
              </a:rPr>
              <a:t>Neuroprotection plausible en préclinique.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6324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063240"/>
            <a:ext cx="777240" cy="8686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26440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7296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Clinique mixte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520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F424C"/>
                </a:solidFill>
                <a:latin typeface="Calibri"/>
              </a:rPr>
              <a:t>Exénatide –  ·  LIXIPARK +  ·  séma en cours.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02336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023360"/>
            <a:ext cx="777240" cy="8686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22452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13308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Preuve à bâtir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80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F424C"/>
                </a:solidFill>
                <a:latin typeface="Calibri"/>
              </a:rPr>
              <a:t>Essais plus larges, précoces, ciblés, longs.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98348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983480"/>
            <a:ext cx="777240" cy="8686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518464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0932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Pharmacien clé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440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F424C"/>
                </a:solidFill>
                <a:latin typeface="Calibri"/>
              </a:rPr>
              <a:t>Éducation, vigilance, coordination.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Merci  ·  Questions &amp; discussion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