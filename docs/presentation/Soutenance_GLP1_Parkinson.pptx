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_mute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48006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91440" cy="48006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EC8D4"/>
                </a:solidFill>
                <a:latin typeface="Calibri"/>
              </a:rPr>
              <a:t>SOUTENANCE DE THÈSE  ·  PHARMACIE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Agonistes du GLP-1 :
mise au point et potentiel
prometteur pour la
maladie de Parkinson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Idée directrice : une classe mature en métabolisme, un rationnel PD plausible, mais des preuves cliniques encore hétérogènes.</a:t>
            </a:r>
          </a:p>
        </p:txBody>
      </p:sp>
      <p:pic>
        <p:nvPicPr>
          <p:cNvPr id="8" name="Picture 7" descr="med_01_brain_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502920"/>
            <a:ext cx="5212080" cy="4023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4983480"/>
            <a:ext cx="2148840" cy="12344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Physiologie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7FA"/>
                </a:solidFill>
                <a:latin typeface="Calibri"/>
              </a:rPr>
              <a:t>Hormone &amp; récepteur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4983480"/>
            <a:ext cx="2148840" cy="12344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5120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Métabolisme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7FA"/>
                </a:solidFill>
                <a:latin typeface="Calibri"/>
              </a:rPr>
              <a:t>DT2 · poids · CV-rein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983480"/>
            <a:ext cx="2148840" cy="1234440"/>
          </a:xfrm>
          <a:prstGeom prst="rect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5120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Neuroprotection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7FA"/>
                </a:solidFill>
                <a:latin typeface="Calibri"/>
              </a:rPr>
              <a:t>Hypothèse préclinique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4983480"/>
            <a:ext cx="2148840" cy="1234440"/>
          </a:xfrm>
          <a:prstGeom prst="rect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5120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LIXIPARK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7FA"/>
                </a:solidFill>
                <a:latin typeface="Calibri"/>
              </a:rPr>
              <a:t>Signal phase II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4983480"/>
            <a:ext cx="2148840" cy="1234440"/>
          </a:xfrm>
          <a:prstGeom prst="rect">
            <a:avLst/>
          </a:prstGeom>
          <a:solidFill>
            <a:srgbClr val="2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51206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Pharmacien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7FA"/>
                </a:solidFill>
                <a:latin typeface="Calibri"/>
              </a:rPr>
              <a:t>Sécuriser &amp; informer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Cinq étapes : du besoin médical à la lecture critique des preuves PD.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2286000" cy="48463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286000" cy="105156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9202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Contexte</a:t>
            </a:r>
          </a:p>
        </p:txBody>
      </p:sp>
      <p:pic>
        <p:nvPicPr>
          <p:cNvPr id="12" name="Picture 11" descr="ico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F4F"/>
                </a:solidFill>
                <a:latin typeface="Calibri"/>
              </a:rPr>
              <a:t>Pourquoi chercher un modificateur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424C"/>
                </a:solidFill>
                <a:latin typeface="Calibri"/>
              </a:rPr>
              <a:t>Parkinson : fardeau, mécanismes, impasse thérapeutique et logique de repositionnement.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417320"/>
            <a:ext cx="2286000" cy="48463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417320"/>
            <a:ext cx="2286000" cy="10515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9202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Chapitre 1</a:t>
            </a:r>
          </a:p>
        </p:txBody>
      </p:sp>
      <p:pic>
        <p:nvPicPr>
          <p:cNvPr id="19" name="Picture 18" descr="ico_gl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60604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9748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F4F"/>
                </a:solidFill>
                <a:latin typeface="Calibri"/>
              </a:rPr>
              <a:t>Comment agit le GLP-1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424C"/>
                </a:solidFill>
                <a:latin typeface="Calibri"/>
              </a:rPr>
              <a:t>Physiologie, récepteur, courte/longue durée et panorama des molécules.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417320"/>
            <a:ext cx="2286000" cy="48463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1417320"/>
            <a:ext cx="2286000" cy="1051560"/>
          </a:xfrm>
          <a:prstGeom prst="rect">
            <a:avLst/>
          </a:prstGeom>
          <a:solidFill>
            <a:srgbClr val="2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19202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Chapitre 2</a:t>
            </a:r>
          </a:p>
        </p:txBody>
      </p:sp>
      <p:pic>
        <p:nvPicPr>
          <p:cNvPr id="26" name="Picture 25" descr="ico_car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606040"/>
            <a:ext cx="9144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7492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F4F"/>
                </a:solidFill>
                <a:latin typeface="Calibri"/>
              </a:rPr>
              <a:t>Ce qui est déjà validé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424C"/>
                </a:solidFill>
                <a:latin typeface="Calibri"/>
              </a:rPr>
              <a:t>DT2, obésité, cardio-rénal et tolérance : preuves matures, molécule par molécule.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1417320"/>
            <a:ext cx="2286000" cy="48463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60920" y="1417320"/>
            <a:ext cx="2286000" cy="1051560"/>
          </a:xfrm>
          <a:prstGeom prst="rect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19202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Chapitre 3</a:t>
            </a:r>
          </a:p>
        </p:txBody>
      </p:sp>
      <p:pic>
        <p:nvPicPr>
          <p:cNvPr id="33" name="Picture 32" descr="ico_neur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606040"/>
            <a:ext cx="91440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5236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F4F"/>
                </a:solidFill>
                <a:latin typeface="Calibri"/>
              </a:rPr>
              <a:t>Que dit la clinique PD 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424C"/>
                </a:solidFill>
                <a:latin typeface="Calibri"/>
              </a:rPr>
              <a:t>Mécanismes putatifs, préclinique, LIXIPARK vs Exenatide-PD3, rôle du pharmacien.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1417320"/>
            <a:ext cx="2286000" cy="48463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38360" y="1417320"/>
            <a:ext cx="2286000" cy="1051560"/>
          </a:xfrm>
          <a:prstGeom prst="rect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2" y="19202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pic>
        <p:nvPicPr>
          <p:cNvPr id="40" name="Picture 39" descr="ico_phar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06040"/>
            <a:ext cx="914400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82980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2F4F"/>
                </a:solidFill>
                <a:latin typeface="Calibri"/>
              </a:rPr>
              <a:t>Que retenir pour le jury 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297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424C"/>
                </a:solidFill>
                <a:latin typeface="Calibri"/>
              </a:rPr>
              <a:t>Messages prudents : plausibilité ≠ preuve ≠ indication.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Quatre objectifs de la thèse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Chaque objectif sert une question : décrire, situer, juger, accompagner.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612880" cy="105156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914400" cy="105156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733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11" name="Picture 10" descr="ico_rece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55448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0" y="155448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4F"/>
                </a:solidFill>
                <a:latin typeface="Georgia"/>
              </a:rPr>
              <a:t>Physiologie &amp; pharmacologie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202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Comprendre GLP-1, GLP-1R et les différences PK/PD — molécule par molécule, sans effet de classe.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11612880" cy="105156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06040"/>
            <a:ext cx="914400" cy="10515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8620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7" name="Picture 16" descr="ico_gluc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743200"/>
            <a:ext cx="777240" cy="777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86000" y="274320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4F"/>
                </a:solidFill>
                <a:latin typeface="Georgia"/>
              </a:rPr>
              <a:t>Indications validées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1089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Situer la classe dans DT2, obésité et cardio-rénal (LEADER, SELECT, FLOW…) avec leurs limites.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11612880" cy="105156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914400" cy="1051560"/>
          </a:xfrm>
          <a:prstGeom prst="rect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0507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23" name="Picture 22" descr="ico_t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931920"/>
            <a:ext cx="777240" cy="777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86000" y="393192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4F"/>
                </a:solidFill>
                <a:latin typeface="Georgia"/>
              </a:rPr>
              <a:t>Repositionnement Parkinson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976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Séparer plausibilité, signal symptomatique et preuve modificatrice (LIXIPARK vs Exenatide-PD3).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83480"/>
            <a:ext cx="11612880" cy="105156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914400" cy="1051560"/>
          </a:xfrm>
          <a:prstGeom prst="rect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2395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29" name="Picture 28" descr="ico_phar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5120640"/>
            <a:ext cx="777240" cy="7772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286000" y="512064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4F"/>
                </a:solidFill>
                <a:latin typeface="Georgia"/>
              </a:rPr>
              <a:t>Rôle du pharmacien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4864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Sécuriser l’usage métabolique et rappeler qu’il n’existe aucune indication PD hors recherche.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95D39"/>
                </a:solidFill>
                <a:latin typeface="Calibri"/>
              </a:rPr>
              <a:t>PARTIE 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Contexte &amp; besoin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DCE4"/>
                </a:solidFill>
                <a:latin typeface="Calibri"/>
              </a:rPr>
              <a:t>Parkinson : fardeau, physiopathologie, impasse thérapeutique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C8D4"/>
                </a:solidFill>
                <a:latin typeface="Calibri"/>
              </a:rPr>
              <a:t>Idée : les soins actuels soulagent, mais ne freinent pas la dégénérescence.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B8C0"/>
                </a:solidFill>
                <a:latin typeface="Calibri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CONTEXTE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Maladie de Parkinson — anatomie fonctionnelle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Le cerveau dopaminergique est atteint ; l’enjeu n’est plus seulement de masquer les symptômes.</a:t>
            </a:r>
          </a:p>
        </p:txBody>
      </p:sp>
      <p:pic>
        <p:nvPicPr>
          <p:cNvPr id="8" name="Picture 7" descr="med_01_brain_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2ᵉ neurodégénérescence — fardeau croissant et handicap progressif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Triade motrice — bradykinésie ± tremblement / rigidité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Non moteurs majeurs — constipation, sommeil, cognition, chutes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α-synucléine + inflammation — axes physiopathologiques centraux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Traitements = symptomatiques — dopa et apparentés soulagent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Aucun modificateur certain — besoin médical non couvert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Besoin non couvert : freiner la neurodégénérescence — sans confondre MDS-UPDRS et neuroprotection.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Physiopathologie — 6 mécanismes clés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Plusieurs voies convergent vers la mort neuronale : autant de portes d’entrée putatives pour le GLP-1R.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158191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581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α-synucléine</a:t>
            </a:r>
          </a:p>
        </p:txBody>
      </p:sp>
      <p:pic>
        <p:nvPicPr>
          <p:cNvPr id="12" name="Picture 11" descr="ico_asy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554480"/>
            <a:ext cx="77724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D39"/>
                </a:solidFill>
                <a:latin typeface="Calibri"/>
              </a:rPr>
              <a:t>Agrégation et propagation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560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Protéine mal repliée qui se propage et aggrave la lésion. Cible potentielle des agonistes GLP-1 en préclinique.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0832" y="158191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581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Mitochondries</a:t>
            </a:r>
          </a:p>
        </p:txBody>
      </p:sp>
      <p:pic>
        <p:nvPicPr>
          <p:cNvPr id="19" name="Picture 18" descr="ico_m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54480"/>
            <a:ext cx="777240" cy="777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07408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Dysfonction et 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560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Énergie cellulaire défaillante → fragilité neuronale. Cible potentielle des agonistes GLP-1 en préclinique.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02752" y="1581912"/>
            <a:ext cx="384048" cy="384048"/>
          </a:xfrm>
          <a:prstGeom prst="ellipse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1581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Stress oxydatif</a:t>
            </a:r>
          </a:p>
        </p:txBody>
      </p:sp>
      <p:pic>
        <p:nvPicPr>
          <p:cNvPr id="26" name="Picture 25" descr="ico_infl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54480"/>
            <a:ext cx="777240" cy="7772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39328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A1A"/>
                </a:solidFill>
                <a:latin typeface="Calibri"/>
              </a:rPr>
              <a:t>Lésions cumulatives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560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Les ROS endommagent lipides, protéines et ADN. Cible potentielle des agonistes GLP-1 en préclinique.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2" y="4005072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40416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005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Neuroinflammation</a:t>
            </a:r>
          </a:p>
        </p:txBody>
      </p:sp>
      <p:pic>
        <p:nvPicPr>
          <p:cNvPr id="33" name="Picture 32" descr="ico_infl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977640"/>
            <a:ext cx="777240" cy="7772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5488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7CB8"/>
                </a:solidFill>
                <a:latin typeface="Calibri"/>
              </a:rPr>
              <a:t>Microglie activée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Inflammation chronique qui entretient la dégénérescence. Cible potentielle des agonistes GLP-1 en préclinique.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70832" y="4005072"/>
            <a:ext cx="384048" cy="384048"/>
          </a:xfrm>
          <a:prstGeom prst="ellipse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40416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4005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Autophagie</a:t>
            </a:r>
          </a:p>
        </p:txBody>
      </p:sp>
      <p:pic>
        <p:nvPicPr>
          <p:cNvPr id="40" name="Picture 39" descr="ico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977640"/>
            <a:ext cx="777240" cy="7772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407408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8F62"/>
                </a:solidFill>
                <a:latin typeface="Calibri"/>
              </a:rPr>
              <a:t>Clairance altérée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Moins de recyclage des agrégats toxiques. Cible potentielle des agonistes GLP-1 en préclinique.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02752" y="4005072"/>
            <a:ext cx="384048" cy="384048"/>
          </a:xfrm>
          <a:prstGeom prst="ellipse">
            <a:avLst/>
          </a:prstGeom>
          <a:solidFill>
            <a:srgbClr val="1A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40416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4005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Gènes / environnement</a:t>
            </a:r>
          </a:p>
        </p:txBody>
      </p:sp>
      <p:pic>
        <p:nvPicPr>
          <p:cNvPr id="47" name="Picture 46" descr="ico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3977640"/>
            <a:ext cx="777240" cy="7772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39328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4F7A"/>
                </a:solidFill>
                <a:latin typeface="Calibri"/>
              </a:rPr>
              <a:t>Susceptibilité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8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Terrain génétique + expositions modulent le risque. Cible potentielle des agonistes GLP-1 en préclinique.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Traitements actuels : utiles mais limités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Ils restaurent la transmission dopaminergique, pas la survie neuronale.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17320"/>
          <a:ext cx="116128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97680"/>
                <a:gridCol w="4754880"/>
              </a:tblGrid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Classe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Idée principale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Limite clinique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Lévodopa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Référence motrice la plus efficace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Fluctuations / dyskinésies au long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Agonistes DA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Stimulent les récepteurs DA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EI neuropsychiatriques possibles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IMAO-B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Prolongent la dopamine endogène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Effet symptomatique seulement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Amantadine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Aide surtout sur les dyskinésies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Pas d’effet modificateur démontré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4434840"/>
            <a:ext cx="11612880" cy="18288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A1A"/>
                </a:solidFill>
                <a:latin typeface="Calibri"/>
              </a:rPr>
              <a:t>MESSAGE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834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Améliorer un score (ex. MDS-UPDRS) ≠ prouver un effet modificateur.
Biomarqueurs de progression encore insuffisants — d’où la prudence méthodologique.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Pourquoi repositionner les agonistes du GLP-1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On gagne du temps sur la sécurité connue, pas sur la preuve d’efficacité PD.</a:t>
            </a:r>
          </a:p>
        </p:txBody>
      </p:sp>
      <p:pic>
        <p:nvPicPr>
          <p:cNvPr id="8" name="Picture 7" descr="ico_p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914400" cy="914400"/>
          </a:xfrm>
          <a:prstGeom prst="rect">
            <a:avLst/>
          </a:prstGeom>
        </p:spPr>
      </p:pic>
      <p:pic>
        <p:nvPicPr>
          <p:cNvPr id="9" name="Picture 8" descr="ico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63040"/>
            <a:ext cx="914400" cy="914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468880"/>
            <a:ext cx="5760720" cy="37490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" y="263347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670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151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Avantages du repositionnement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71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Idée : partir d’une classe mature pour tester une nouvelle indication.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319272"/>
            <a:ext cx="539496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PK/PD déjà connues — moins d’inconnu pharmacologique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Tolérance documentée — profil EI déjà cartographié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Pharmacovigilance existante — suivi de sécurité en vie réelle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Développement accéléré possible — mais pas automatique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Preuve d’efficacité toujours requise — repositionner ≠ valider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5669280" cy="37490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263347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670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615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Prudence scientifique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971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Idée : le repositionnement n’exempte jamais d’un essai rigoureux.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19272"/>
            <a:ext cx="530352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Plausibilité ≠ efficacité clinique — le cerveau n’est pas le pancréas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Pas d’équivalence entre molécules — PK et BHE varient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Pas d’effet de classe présumé — chaque preuve est locale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Symptomatique ≠ modificateur — un score peut tromper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Indication PD : aucune à ce jour — hors essai seulement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_ch1_gl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109728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Calibri"/>
              </a:rPr>
              <a:t>PARTIE 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Chapitre 1 — Physiologie &amp; pharmacologie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DCE4"/>
                </a:solidFill>
                <a:latin typeface="Calibri"/>
              </a:rPr>
              <a:t>GLP-1, récepteur, courte/longue durée, panorama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C8D4"/>
                </a:solidFill>
                <a:latin typeface="Calibri"/>
              </a:rPr>
              <a:t>Idée : comprendre la classe avant de juger son potentiel neurologique.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B8C0"/>
                </a:solidFill>
                <a:latin typeface="Calibri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1 · PHYSIOLOGIE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Origine du GLP-1 : du proglucagon aux formes actives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Un même précurseur, des enzymes de maturation différentes → des peptides aux rôles distincts.</a:t>
            </a:r>
          </a:p>
        </p:txBody>
      </p:sp>
      <p:pic>
        <p:nvPicPr>
          <p:cNvPr id="8" name="Picture 7" descr="med_proglucagon_gl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45236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18120" y="1325880"/>
            <a:ext cx="4114800" cy="416052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82712" y="149047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14721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288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Spécificité tissulaire = fonctions différentes.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176272"/>
            <a:ext cx="3749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Incrétine peptidique — issue du proglucagon (pancréas, intestin, SNC)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Cellules α — proglucagon → glucagon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Cellules L (iléon/côlon) — GLP-1, GLP-2, glicentine, oxyntomoduline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Formes actives — GLP-1(7-36) amide et GLP-1(7-37)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Sécrétion postprandiale — glucides, lipides, protéines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Réponse précoce — signaux nerveux / endocrines / paracrines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NTS (tronc cérébral) — GLP-1 central (satiété) ; intestin = source circulante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5577840"/>
            <a:ext cx="11704320" cy="77724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8978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Le tractus gastro-intestinal est la principale source de GLP-1 circulant ; la production centrale reste complémentaire.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1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Physiologie du GLP-1 — du tube digestif au pancréas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Le GLP-1 naturel est trop fugace : les agonistes corrigent ce frein pharmacocinétique.</a:t>
            </a:r>
          </a:p>
        </p:txBody>
      </p:sp>
      <p:pic>
        <p:nvPicPr>
          <p:cNvPr id="8" name="Picture 7" descr="med_02_glp1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Cellules L — sécrètent le GLP-1 après le repas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Hormone incrétine — amplifie l’insuline si glucose élevé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Glucose-dépendance — faible risque d’hypoglycémie seul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DPP-4 — détruit le GLP-1 en 1–2 minutes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Agonistes résistants — rendent le médicament utilisable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Base de classe — tout part de cette physiologie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Sans résistance à la DPP-4, pas de médicament utilisable : c’est le cœur du design pharmaceutique.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1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Récepteur GLP-1R et voies de signalisation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Activer le GLP-1R n’est pas un seul effet : c’est un réseau de signaux.</a:t>
            </a:r>
          </a:p>
        </p:txBody>
      </p:sp>
      <p:pic>
        <p:nvPicPr>
          <p:cNvPr id="8" name="Picture 7" descr="med_03_rece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1A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GPCR classe B — récepteur membranaire spécifique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Distribution large — pancréas, cœur, rein, SNC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AMPc → PKA / EPAC — signal métabolique central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PI3K / Akt — voies de survie cellulaire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MAPK / ERK — réparation / plasticité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Pont vers la neuroprotection — même récepteur, autre tissu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Même récepteur, plusieurs cascades : métabolisme périphérique et survie neuronale putative.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1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Courte vs longue durée d’action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Deux agonistes « GLP-1 » ne donnent pas le même profil d’action.</a:t>
            </a:r>
          </a:p>
        </p:txBody>
      </p:sp>
      <p:pic>
        <p:nvPicPr>
          <p:cNvPr id="8" name="Picture 7" descr="med_04_agon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Courte (exé, lixi) — stimulation intermittente du récepteur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Postprandial fort — utile sur le pic glycémique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Longue (lira, dula, séma) — exposition continue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Jeûne / HbA1c — meilleur contrôle glycémique global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PK différente → effets différents — pas d’interchangeabilité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Conséquence PD — l’exposition centrale peut aussi différer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 durée d’exposition du récepteur explique les différences d’efficacité clinique.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Panorama des agonistes — référence claire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Chaque molécule a un profil, une posologie et une ancre de preuve distincts.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371600"/>
          <a:ext cx="1170432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560320"/>
                <a:gridCol w="4937760"/>
              </a:tblGrid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Molécule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Profil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Admin.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Idée / ancre de preuve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Exénatide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Courte / 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2×/j ou 1×/sem.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Testé en PD ; Exenatide-PD3 négatif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Lixisénatide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Courte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1×/j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LIXIPARK : signal moteur phase II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Liraglutide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Longue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1×/j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LEADER (CV) · obésité 3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Dulaglutide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Longue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1×/sem.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REWIND : bénéfice CV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Sémaglutide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Longue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1×/sem. / 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SELECT · FLOW · MOST-ABLE (PD)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Tirzépatide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GIP/GLP-1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1×/sem.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Double agoniste — non sélectif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28600" y="5029200"/>
            <a:ext cx="11704320" cy="12344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Tirzépatide ≠ agoniste sélectif. Structure/PK variables → pas d’effet de classe neurologique présumé.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Six actions métaboliques simultanées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Un seul médicament agit sur plusieurs leviers glycémiques et pondéraux.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_gluc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↑ Insuline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Glucose-dépendante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60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Sécrétion stimulée seulement si glycémie élevée.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00200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↓ Glucagon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Moins de glucose hépatique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60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Réduit la production de glucose par le foie.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600200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8972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Vidange gastrique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↓ pic postprandial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5603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Ralentit l’arrivée des nutriments après le repas.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_w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60"/>
            <a:ext cx="731520" cy="731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588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Satiété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8F62"/>
                </a:solidFill>
                <a:latin typeface="Calibri"/>
              </a:rPr>
              <a:t>↓ appétit / poids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Action centrale sur la faim et les apports.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_pi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023360"/>
            <a:ext cx="731520" cy="7315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578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Cellules 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CB8"/>
                </a:solidFill>
                <a:latin typeface="Calibri"/>
              </a:rPr>
              <a:t>Survie et fonction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Soutien fonctionnel des îlots en modèles.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o_cardi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731520" cy="731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8972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Pléiotropie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4F7A"/>
                </a:solidFill>
                <a:latin typeface="Calibri"/>
              </a:rPr>
              <a:t>Cœur, rein, inflammation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9834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424C"/>
                </a:solidFill>
                <a:latin typeface="Calibri"/>
              </a:rPr>
              <a:t>Effets hors glycémie pour certaines molécules.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_ch2_metabo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109728" cy="6858000"/>
          </a:xfrm>
          <a:prstGeom prst="rect">
            <a:avLst/>
          </a:prstGeom>
          <a:solidFill>
            <a:srgbClr val="2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B7CB8"/>
                </a:solidFill>
                <a:latin typeface="Calibri"/>
              </a:rPr>
              <a:t>PARTIE 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Chapitre 2 — Indications validées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DCE4"/>
                </a:solidFill>
                <a:latin typeface="Calibri"/>
              </a:rPr>
              <a:t>DT2, obésité, cardio-rénal, tolérance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C8D4"/>
                </a:solidFill>
                <a:latin typeface="Calibri"/>
              </a:rPr>
              <a:t>Idée : ici les preuves sont solides — c’est le contraste avec le chapitre Parkinson.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B8C0"/>
                </a:solidFill>
                <a:latin typeface="Calibri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Diabète de type 2 — place actuelle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Classe majeure : glycémie, poids et, selon molécule, protection cardio-rénale.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0,8–1,8%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↓ HbA1c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F4F8"/>
                </a:solidFill>
                <a:latin typeface="Calibri"/>
              </a:rPr>
              <a:t>Efficacité glycémique robuste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794760" cy="141732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8191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ADA/EASD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7568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Classe majeure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F4F8"/>
                </a:solidFill>
                <a:latin typeface="Calibri"/>
              </a:rPr>
              <a:t>Recommandée tôt si CV/MRC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840480" cy="1417320"/>
          </a:xfrm>
          <a:prstGeom prst="rect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819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Faible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Hypoglycémie*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F4F8"/>
                </a:solidFill>
                <a:latin typeface="Calibri"/>
              </a:rPr>
              <a:t>Sauf associations à risque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5760720" cy="32004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" y="318211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2186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163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Rationnel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520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Idée : on restaure une physiologie incrétine défaillante.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867912"/>
            <a:ext cx="53949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Effet incrétine diminué dans le DT2 — déficit à compenser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Agonistes = incrétine durable — action pharmacologique stable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Courte durée → postprandial — utile sur le pic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Longue durée → jeûne / HbA1c — contrôle global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5669280" cy="32004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82512" y="318211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2186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1638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En pratique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Idée : le choix se guide aussi par les comorbidités.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867912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Après mesures ± metformine — selon recommandations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Précoce si risque CV / MRC — bénéfice au-delà de l’HbA1c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Séma &amp; tirzépatide très puissants — poids + glycémie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*sauf association insuline/sulfamides — surveiller l’hypo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Obésité — un changement de paradigme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De l’échec des seuls régimes à des traitements hormonaux à forte efficacité.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~15%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Sémaglutide (STEP)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F4F8"/>
                </a:solidFill>
                <a:latin typeface="Calibri"/>
              </a:rPr>
              <a:t>Perte de poids majeure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3794760" cy="141732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8191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3 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7568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Liraglutide (SCALE)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F4F8"/>
                </a:solidFill>
                <a:latin typeface="Calibri"/>
              </a:rPr>
              <a:t>Dose spécifique obésité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840480" cy="1417320"/>
          </a:xfrm>
          <a:prstGeom prst="rect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819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Georgia"/>
              </a:rPr>
              <a:t>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Tirzépatide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F4F8"/>
                </a:solidFill>
                <a:latin typeface="Calibri"/>
              </a:rPr>
              <a:t>Double agoniste très puissant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5760720" cy="32004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" y="318211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2186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163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Mécanismes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520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Idée : on traite une maladie, pas seulement un chiffre sur la balance.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867912"/>
            <a:ext cx="53949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↓ appétit / ↑ satiété — levier central de la prise alimentaire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Réduction des apports — déficit énergétique durable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Meilleure sensibilité insulinique — bénéfice métabolique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Impact cardiométabolique — au-delà du seul chiffre de poids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017520"/>
            <a:ext cx="5669280" cy="32004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82512" y="318211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2186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1638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Vigilance clinique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Idée : l’efficacité pondérale impose une surveillance nutritionnelle.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867912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Titration = adhésion — monter trop vite fait arrêter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EI digestifs fréquents — anticiper et éduquer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Attention âgés / fragiles — risque de dénutrition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Sarcopénie possible — surveiller force et apports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2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Cardioprotection et néphroprotection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Les bénéfices CV/rénaux sont prouvés pour des molécules précises, pas pour « les GLP-1 » en bloc.</a:t>
            </a:r>
          </a:p>
        </p:txBody>
      </p:sp>
      <p:pic>
        <p:nvPicPr>
          <p:cNvPr id="8" name="Picture 7" descr="med_05_cardiore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LEADER — liraglutide ↓ MACE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SUSTAIN-6 — sémaglutide : bénéfice CV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REWIND — dulaglutide en prévention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SELECT — séma sans DT2 : preuve élargie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FLOW — séma + MRC : rein protégé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Molécule ≠ classe — pas d’interchangeabilité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Bénéfices cardio-rénaux démontrés pour certaines molécules — pas une interchangeabilité automatique.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Tolérance &amp; sécurité — check-list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Classe mature : EI digestifs fréquents, alertes rares mais à connaître.</a:t>
            </a:r>
          </a:p>
        </p:txBody>
      </p:sp>
      <p:pic>
        <p:nvPicPr>
          <p:cNvPr id="8" name="Picture 7" descr="ico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325880"/>
            <a:ext cx="822960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1417320"/>
            <a:ext cx="3840480" cy="48006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" y="158191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Fréquents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Idée : la plupart des arrêts viennent du digestif.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267712"/>
            <a:ext cx="347472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Nausées / vomissements — surtout à l’instauration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Diarrhées — dose-dépendantes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Début / ↑ dose — moment de vigilance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Souvent transitoires — s’atténuent en titration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Titration lente — clé de l’adhésion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417320"/>
            <a:ext cx="3840480" cy="48006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1581912"/>
            <a:ext cx="384048" cy="384048"/>
          </a:xfrm>
          <a:prstGeom prst="ellipse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À anticiper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Idée : rares mais graves = messages patient clairs.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267712"/>
            <a:ext cx="347472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Hypoglycémie si associations — insuline/sulfamides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Pancréatite (alerte) — douleur abdo intense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Complications biliaires — surveillance clinique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Contre-indications — respecter le RCP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Pharmacovigilance — déclarer les EI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417320"/>
            <a:ext cx="3840480" cy="48006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57032" y="1581912"/>
            <a:ext cx="384048" cy="384048"/>
          </a:xfrm>
          <a:prstGeom prst="ellipse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1618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1563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Messages utiles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8F62"/>
                </a:solidFill>
                <a:latin typeface="Calibri"/>
              </a:rPr>
              <a:t>Idée : éduquer vaut mieux que corriger après coup.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267712"/>
            <a:ext cx="347472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Classe mature — données de sécurité larges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Essais de sécurité — CV et métaboliques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Profil favorable — si bonne sélection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Info patient claire — injection, repas, oubli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Traçabilité EI — rôle du pharmacien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_ch3_parkin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109728" cy="6858000"/>
          </a:xfrm>
          <a:prstGeom prst="rect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A8F62"/>
                </a:solidFill>
                <a:latin typeface="Calibri"/>
              </a:rPr>
              <a:t>PARTIE 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Chapitre 3 — Parkinson &amp; preuves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DCE4"/>
                </a:solidFill>
                <a:latin typeface="Calibri"/>
              </a:rPr>
              <a:t>Mécanismes, préclinique, essais, pharmacien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EC8D4"/>
                </a:solidFill>
                <a:latin typeface="Calibri"/>
              </a:rPr>
              <a:t>Idée : passer de la plausibilité biologique à la lecture critique des essais.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B8C0"/>
                </a:solidFill>
                <a:latin typeface="Calibri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Pourquoi le GLP-1 dans la Parkinson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Chaque mécanisme PD a un pendant putatif via le GLP-1R — surtout préclinique.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417320"/>
          <a:ext cx="117043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937760"/>
                <a:gridCol w="38404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Mécanisme PD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Effet GLP-1 potentiel (idée)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Niveau de preuve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Neuroinflammation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Atténuer l’activation microgliale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Préclin. 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Stress oxydatif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Réduire la charge en ROS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Préclin. ++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Mitochondries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Soutenir le métabolisme énergétique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Préclin.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Apoptose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Activer des voies de survie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Préclin. ++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α-synucléine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Favoriser autophagie / clairance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Exploratoire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Mécanismes neuroprotecteurs putatifs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Beau schéma mécanistique ≠ démonstration clinique chez le patient parkinsonien.</a:t>
            </a:r>
          </a:p>
        </p:txBody>
      </p:sp>
      <p:pic>
        <p:nvPicPr>
          <p:cNvPr id="8" name="Picture 7" descr="med_06_ne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Activation GLP-1R — point d’entrée commun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Survie neuronale — voies PI3K/Akt, MAPK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↓ inflammation — microglie moins délétère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↓ stress oxydatif — moins de lésions cumulées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↓ apoptose — moins de mort cellulaire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Autophagie / α-syn — piste encore exploratoire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Plausibilité biologique forte — hypothèses précliniques, pas une preuve d’efficacité humaine.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Préclinique : signaux convergents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Les modèles animaux convergent — mais ils ne reproduisent pas la maladie humaine.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371600"/>
          <a:ext cx="117043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Molécule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Observations (MPTP / 6-OHDA) — idée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Exénatide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Préserve neurones DA ; ↓ oxydatif / inflammation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Liraglutide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Améliore le moteur ; protection neuronale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Lixisénatide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Intérêt pour une action centrale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Sémaglutide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1E28"/>
                          </a:solidFill>
                          <a:latin typeface="Calibri"/>
                        </a:rPr>
                        <a:t>Survie, autophagie, ↓ α-syn en modèles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28600" y="4297680"/>
            <a:ext cx="11704320" cy="192024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LIMITE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 plausibilité animale ne garantit pas le succès humain.
Le passage modèle → clinique reste l’obstacle majeur.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Exénatide : espoir puis échec de phase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Le signal exploratoire n’a pas survécu à l’épreuve d’un grand essai.</a:t>
            </a:r>
          </a:p>
        </p:txBody>
      </p:sp>
      <p:pic>
        <p:nvPicPr>
          <p:cNvPr id="8" name="Picture 7" descr="ico_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1600"/>
            <a:ext cx="868680" cy="868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2331720"/>
            <a:ext cx="5760720" cy="3886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" y="249631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5328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780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Espoir initial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834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Idée : l’espoir venait d’un signal, pas d’une preuve.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182112"/>
            <a:ext cx="53949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Études pilotes / phase II — premiers signaux moteurs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Signal exploratoire — encourageant mais fragile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Bonne tolérance globale — acceptable en PD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Rationnel préclinique solide — justifiait un grand essai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A justifié Exenatide-PD3 — passage à l’échelle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31720"/>
            <a:ext cx="5669280" cy="3886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249631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5328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780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Exenatide-PD3 (phase III)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Idée : un négatif de phase III pèse plus qu’un signal de phase II.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182112"/>
            <a:ext cx="530352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194 participants · 96 semaines — vrai test de force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Exénatide hebdomadaire vs placebo — design robuste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MDS-UPDRS III OFF : pas de différence — critère raté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Pas d’effet modificateur démontré — conclusion nette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Fin de l’optimisme de classe — lire molécule par molécule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LIXIPARK — signal phase II, pas une preuve de neuroprotection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LIXIPARK ouvre une piste pour le lixisénatide ; il ne valide pas la classe entière.</a:t>
            </a:r>
          </a:p>
        </p:txBody>
      </p:sp>
      <p:pic>
        <p:nvPicPr>
          <p:cNvPr id="8" name="Picture 7" descr="med_07_lixi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Phase II · 156 patients — taille correcte mais pas confirmatoire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Parkinson précoce · 12 mois — fenêtre courte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MDS-UPDRS III : −0,04 vs +3,04 — moins d’aggravation sous lixi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Différence ajustée : 3,08 pts — signal moteur favorable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Nausées / vomissements ↑ — tolérance à anticiper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Pas d’indication réglementaire — hors essai seulement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Signal moteur favorable à court terme — insuffisant pour affirmer un effet modificateur durable.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Synthèse des essais — classe hétérogène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Même cible, résultats divergents : on lit chaque essai, pas « les GLP-1 ».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371600"/>
          <a:ext cx="11704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4389120"/>
              </a:tblGrid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Molécule / essai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Design (idée)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Résultat</a:t>
                      </a:r>
                    </a:p>
                  </a:txBody>
                  <a:tcPr>
                    <a:solidFill>
                      <a:srgbClr val="0D2F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Exénatide (pilote/ph.II)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Faible effectif — exploration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Signal exploratoire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LIXIPARK (lixisénatide)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Ph.II · 156 · 12 mois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+3,08 pts MDS-UPDRS III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Exenatide-PD3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Ph.III · 194 · 96 sem.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Négatif (OFF)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MOST-ABLE (séma oral)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Ph.II · 99 · 48 sem.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21E28"/>
                          </a:solidFill>
                          <a:latin typeface="Calibri"/>
                        </a:rPr>
                        <a:t>Résultats en attente</a:t>
                      </a:r>
                    </a:p>
                  </a:txBody>
                  <a:tcPr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28600" y="4434840"/>
            <a:ext cx="11704320" cy="178308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Pas d’effet de classe démontré. Pas d’indication dans Parkinson hors essai clinique.
Méta-analyse globale : pas de bénéfice moteur significatif (signal courte durée = exploratoire).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Limites et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Pour progresser : plus long, plus précoce, plus multicritère, mieux stratifié.</a:t>
            </a:r>
          </a:p>
        </p:txBody>
      </p:sp>
      <p:pic>
        <p:nvPicPr>
          <p:cNvPr id="8" name="Picture 7" descr="ico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822960" cy="822960"/>
          </a:xfrm>
          <a:prstGeom prst="rect">
            <a:avLst/>
          </a:prstGeom>
        </p:spPr>
      </p:pic>
      <p:pic>
        <p:nvPicPr>
          <p:cNvPr id="9" name="Picture 8" descr="ico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822960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331720"/>
            <a:ext cx="5760720" cy="3886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" y="2496312"/>
            <a:ext cx="384048" cy="384048"/>
          </a:xfrm>
          <a:prstGeom prst="ellipse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5328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780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34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D39"/>
                </a:solidFill>
                <a:latin typeface="Calibri"/>
              </a:rPr>
              <a:t>Idée : beaucoup d’essais ne peuvent techniquement pas conclure.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182112"/>
            <a:ext cx="539496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Phase II ≠ preuve modificatrice — signal ≠ confirmation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Durées souvent trop courtes — la PD évolue lentement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MDS-UPDRS OFF insuffisant seul — un score ne dit pas tout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Biomarqueurs non validés — difficile de prouver le freinage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Hétérogénéité patients / molécules — brouille les moyennes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5669280" cy="3886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2496312"/>
            <a:ext cx="384048" cy="384048"/>
          </a:xfrm>
          <a:prstGeom prst="ellipse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5328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4780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Perspectives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8F62"/>
                </a:solidFill>
                <a:latin typeface="Calibri"/>
              </a:rPr>
              <a:t>Idée : le design futur doit coller à la lenteur de la maladie.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82112"/>
            <a:ext cx="530352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Stade précoce + suivi long — capturer la progression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Critères moteurs + non moteurs — vision complète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Cognition, chutes, nutrition — pertinents en PD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Stratification / biomarqueurs — qui répond vraiment ?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MOST-ABLE et essais confirmatoires — prochaine étape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 · ATLAS MÉDICAL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Rôle du pharmacien — sécuriser le parcours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Deux missions : bien utiliser la classe en métabolisme, et ne pas l’étendre hors preuve.</a:t>
            </a:r>
          </a:p>
        </p:txBody>
      </p:sp>
      <p:pic>
        <p:nvPicPr>
          <p:cNvPr id="8" name="Picture 7" descr="med_08_pha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731520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325880"/>
            <a:ext cx="4251960" cy="3977639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45552" y="1490472"/>
            <a:ext cx="384048" cy="384048"/>
          </a:xfrm>
          <a:prstGeom prst="ellipse">
            <a:avLst/>
          </a:prstGeom>
          <a:solidFill>
            <a:srgbClr val="2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27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Idées à retenir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828800"/>
            <a:ext cx="38862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Éducation injection / titration — geste et rythme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EI digestifs &amp; hydratation — prévenir l’arrêt précoce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Constipation / perte de poids — croiser avec la PD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Risque chute / sarcopénie — vigilance gériatrique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Hypoglycémie si associations — interactions pratiques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21E28"/>
                </a:solidFill>
                <a:latin typeface="Calibri"/>
              </a:rPr>
              <a:t>●  Hors essai = pas d’indication PD — message non négociable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440680"/>
            <a:ext cx="11704320" cy="914400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8A1A"/>
                </a:solidFill>
                <a:latin typeface="Calibri"/>
              </a:rPr>
              <a:t>À RETENIR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Le pharmacien sécurise l’usage métabolique et rappelle clairement le caractère expérimental dans Parkinson.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CHAPITRE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Missions du pharmacien — grille claire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Six missions concrètes : éduquer, surveiller, informer, coordonner.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_p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527048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Éducation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Rendre le geste sûr et reproductible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Injection SC — technique et sites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Titration — rythme personnalisé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Oublis / conservation — règles simples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27048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Tolérance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5D39"/>
                </a:solidFill>
                <a:latin typeface="Calibri"/>
              </a:rPr>
              <a:t>Anticiper les EI qui font arrêter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Nausées / vomissements — conseils repas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Constipation (PD) — déjà fréquente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Hydratation — prévenir la fragilité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_we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527048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Vigilance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8A1A"/>
                </a:solidFill>
                <a:latin typeface="Calibri"/>
              </a:rPr>
              <a:t>Protéger les patients vulnérables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3172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Insuline/sulfamides — hypo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Dénutrition — poids + apports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Chutes / fragilité — alerte soignants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_tr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950208"/>
            <a:ext cx="731520" cy="731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3977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Essais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8F62"/>
                </a:solidFill>
                <a:latin typeface="Calibri"/>
              </a:rPr>
              <a:t>Sécuriser le circuit de recherche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Traçabilité — lot et observance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Protocole — respect strict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Dispensation — cadre réglementaire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_phar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950208"/>
            <a:ext cx="731520" cy="7315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389120" y="3977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Information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343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7CB8"/>
                </a:solidFill>
                <a:latin typeface="Calibri"/>
              </a:rPr>
              <a:t>Cadre réaliste des attentes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Pas d’indication PD — hors essai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Attentes réalistes — pas de miracle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Anti-automédication — message clair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3794760" cy="22402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o_f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0" y="3950208"/>
            <a:ext cx="731520" cy="7315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21040" y="3977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4F"/>
                </a:solidFill>
                <a:latin typeface="Georgia"/>
              </a:rPr>
              <a:t>Coordination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43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F7A"/>
                </a:solidFill>
                <a:latin typeface="Calibri"/>
              </a:rPr>
              <a:t>Relier les acteurs du parcours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754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Neurologue — suivi moteur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Endocrinologue — métabolisme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E28"/>
                </a:solidFill>
                <a:latin typeface="Calibri"/>
              </a:rPr>
              <a:t>●  Diététicien / MG — nutrition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Agonistes du GLP-1  ·  Parkinson  ·  Soutenance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C8D4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Cinq messages à retenir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DCE4"/>
                </a:solidFill>
                <a:latin typeface="Calibri"/>
              </a:rPr>
              <a:t>Formuler clairement : mature en métabolisme, prudent en Parkinson.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8686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7724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7276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11" name="Picture 10" descr="ico_gluc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68580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11680" y="1463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4F"/>
                </a:solidFill>
                <a:latin typeface="Georgia"/>
              </a:rPr>
              <a:t>Classe mature en métabolisme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105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DT2, obésité, cardio-rénal : bénéfices prouvés, mais toujours molécule-spécifiques.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11612880" cy="8686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31720"/>
            <a:ext cx="777240" cy="868680"/>
          </a:xfrm>
          <a:prstGeom prst="rect">
            <a:avLst/>
          </a:prstGeom>
          <a:solidFill>
            <a:srgbClr val="2A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53288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7" name="Picture 16" descr="ico_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23160"/>
            <a:ext cx="685800" cy="685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11680" y="2423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4F"/>
                </a:solidFill>
                <a:latin typeface="Georgia"/>
              </a:rPr>
              <a:t>Rationnel PD plausible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706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Survie, mitochondries, inflammation, α-syn : cohérent en préclinique, pas encore prouvé chez l’humain.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91840"/>
            <a:ext cx="11612880" cy="8686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777240" cy="86868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49300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23" name="Picture 22" descr="ico_t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383280"/>
            <a:ext cx="685800" cy="685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11680" y="3383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4F"/>
                </a:solidFill>
                <a:latin typeface="Georgia"/>
              </a:rPr>
              <a:t>Clinique hétérogène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307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LIXIPARK + (ph.II) · Exenatide-PD3 − · pas d’effet de classe démontré.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251960"/>
            <a:ext cx="11612880" cy="8686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251960"/>
            <a:ext cx="777240" cy="868680"/>
          </a:xfrm>
          <a:prstGeom prst="rect">
            <a:avLst/>
          </a:prstGeom>
          <a:solidFill>
            <a:srgbClr val="C9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4531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29" name="Picture 28" descr="ico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343400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11680" y="43434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4F"/>
                </a:solidFill>
                <a:latin typeface="Georgia"/>
              </a:rPr>
              <a:t>Pas d’indication actuelle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6908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Hors protocole de recherche : ne pas prescrire ni conseiller un GLP-1 pour la Parkinson.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12080"/>
            <a:ext cx="11612880" cy="8686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212080"/>
            <a:ext cx="777240" cy="868680"/>
          </a:xfrm>
          <a:prstGeom prst="rect">
            <a:avLst/>
          </a:prstGeom>
          <a:solidFill>
            <a:srgbClr val="2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41324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35" name="Picture 34" descr="ico_phar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303520"/>
            <a:ext cx="685800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16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4F"/>
                </a:solidFill>
                <a:latin typeface="Georgia"/>
              </a:rPr>
              <a:t>Pharmacien central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6509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424C"/>
                </a:solidFill>
                <a:latin typeface="Calibri"/>
              </a:rPr>
              <a:t>Éducation, tolérance, nutrition, information réaliste : sécuriser sans surpromettre.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Merci  ·  Questions &amp; discussion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83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