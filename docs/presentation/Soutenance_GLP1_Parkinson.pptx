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48006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48006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01 ·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ORGANISATION DE LA SOUTENANCE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PARCOURS LOGIQUE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164592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Besoin médical (Parkinson)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Physiologie &amp; pharmacologie GLP-1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265176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Indications métaboliques validées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315468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Repositionnement PD &amp; essais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365760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Conclusion &amp; rôle du pharmacien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CE QUE CHAQUE PARTIE APPORTE</a:t>
            </a:r>
          </a:p>
        </p:txBody>
      </p:sp>
      <p:sp>
        <p:nvSpPr>
          <p:cNvPr id="27" name="Oval 26"/>
          <p:cNvSpPr/>
          <p:nvPr/>
        </p:nvSpPr>
        <p:spPr>
          <a:xfrm>
            <a:off x="63550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Contexte : fardeau, physiopatho, soins symptomatiques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Chap. 1–2 : fondements GLP-1 puis DT2 / poids / CV-rein</a:t>
            </a:r>
          </a:p>
        </p:txBody>
      </p:sp>
      <p:sp>
        <p:nvSpPr>
          <p:cNvPr id="33" name="Oval 32"/>
          <p:cNvSpPr/>
          <p:nvPr/>
        </p:nvSpPr>
        <p:spPr>
          <a:xfrm>
            <a:off x="63550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Chap. 3 : LIXIPARK vs Exenatide-PD3, molécule par molécule</a:t>
            </a:r>
          </a:p>
        </p:txBody>
      </p:sp>
      <p:sp>
        <p:nvSpPr>
          <p:cNvPr id="36" name="Oval 35"/>
          <p:cNvSpPr/>
          <p:nvPr/>
        </p:nvSpPr>
        <p:spPr>
          <a:xfrm>
            <a:off x="63550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Fil conducteur : plausibilité ≠ preuve clinique</a:t>
            </a:r>
          </a:p>
        </p:txBody>
      </p:sp>
      <p:sp>
        <p:nvSpPr>
          <p:cNvPr id="39" name="Oval 38"/>
          <p:cNvSpPr/>
          <p:nvPr/>
        </p:nvSpPr>
        <p:spPr>
          <a:xfrm>
            <a:off x="63550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Ouverture : missions du pharmacien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394960"/>
            <a:ext cx="1170432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6235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Lecture continue : du besoin médical aux preuves, sans surinterprétation.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 · OBJECTIFS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OBJECTIFS DE LA THÈSE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DÉMARCHE DE LA THÈSE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Décrire GLP-1 / GLP-1R / molécules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Analyser DT2, obésité, cardio-rénal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Évaluer le repositionnement PD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Préciser le rôle du pharmacien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Conclure sans surinterprétation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QUESTIONS CENTRALES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Pharmacologie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Différences PK/PD : pas d’équivalence entre agonistes.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Clinique PD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LIXIPARK (ph.II) vs Exenatide-PD3 (ph.III négatif).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Pratique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Aucune indication PD hors protocole de recherche.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Bradykinésie + tremblement/rigidité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Symptômes non moteurs majeurs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α-synucléine +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Traitements = symptomatiques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Aucun modificateur certain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Besoin non couvert : freiner la neurodégénérescence — sans confondre MDS-UPDRS / score moteur et neuroprotection.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 · PD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PHYSIOPATHOLOGIE MULTIFACTORIELLE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MÉCANISMES PROPOSÉS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Agrégation d’α-synucléine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Dysfonction mitochondriale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Stress oxydatif (ROS)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Neuroinflammation microgliale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Autophagie / protéostase altérées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IMPLICATIONS CLINIQUES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Hétérogénéité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Expression clinique et progression très variables d’un patient à l’autre.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Cibles GLP-1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Survie cellulaire, mitochondries, inflammation, α-syn (préclinique).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Limite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Mécanismes plausibles ≠ démonstration d’efficacité humaine.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04 · SOINS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TRAITEMENTS ACTUELS DE LA PARKINSON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STRATÉGIE SYMPTOMATIQUE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1645920"/>
            <a:ext cx="365760" cy="365760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Lévodopa = référence motrice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Agonistes dopaminergiques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2651760"/>
            <a:ext cx="365760" cy="365760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IMAO-B / ICOMT / amantadine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3154680"/>
            <a:ext cx="365760" cy="365760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Stimulation cérébrale profonde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3657600"/>
            <a:ext cx="365760" cy="365760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Aucun modificateur certain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LECTURE MÉTHODOLOGIQUE</a:t>
            </a:r>
          </a:p>
        </p:txBody>
      </p:sp>
      <p:sp>
        <p:nvSpPr>
          <p:cNvPr id="27" name="Oval 26"/>
          <p:cNvSpPr/>
          <p:nvPr/>
        </p:nvSpPr>
        <p:spPr>
          <a:xfrm>
            <a:off x="63550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Efficacité = symptômes, pas dégénérescence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MDS-UPDRS : peut être symptomatique / variable</a:t>
            </a:r>
          </a:p>
        </p:txBody>
      </p:sp>
      <p:sp>
        <p:nvSpPr>
          <p:cNvPr id="33" name="Oval 32"/>
          <p:cNvSpPr/>
          <p:nvPr/>
        </p:nvSpPr>
        <p:spPr>
          <a:xfrm>
            <a:off x="63550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Besoin : essais longs + biomarqueurs</a:t>
            </a:r>
          </a:p>
        </p:txBody>
      </p:sp>
      <p:sp>
        <p:nvSpPr>
          <p:cNvPr id="36" name="Oval 35"/>
          <p:cNvSpPr/>
          <p:nvPr/>
        </p:nvSpPr>
        <p:spPr>
          <a:xfrm>
            <a:off x="63550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Ne pas confondre score et neuroprotection</a:t>
            </a:r>
          </a:p>
        </p:txBody>
      </p:sp>
      <p:sp>
        <p:nvSpPr>
          <p:cNvPr id="39" name="Oval 38"/>
          <p:cNvSpPr/>
          <p:nvPr/>
        </p:nvSpPr>
        <p:spPr>
          <a:xfrm>
            <a:off x="63550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Place aux stratégies modificatrices à tester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394960"/>
            <a:ext cx="1170432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6235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Les soins actuels soulagent — ils ne prouvent pas un effet modificateur de maladie.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05 · RATIONNEL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REPOSITIONNEMENT DES AGONISTES DU GLP-1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POURQUOI CETTE CLASSE ?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PK/PD et tolérance déjà connues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GLP-1R présent dans le SNC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Voies AMPc / PI3K / MAPK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Signaux précliniques favorables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Essais humains déjà conduits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GARDE-FOUS SCIENTIFIQUES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Pas d’effet de classe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Chaque molécule a sa PK, son exposition et ses preuves.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Preuve requise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Le repositionnement n’exempte pas d’essais rigoureux.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Distinction clé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Plausibilité / symptomatique / modificateur de maladie.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 · MOLÉCULES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PANORAMA DES AGONISTES DU GLP-1R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4F7A"/>
                </a:solidFill>
                <a:latin typeface="Calibri"/>
              </a:rPr>
              <a:t>LOGIQUE DE CLASSIFICATION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Exendine-4 : exénatide, lixisénatide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4F7A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Analogues GLP-1 humain : lira/dula/séma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4F7A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Courte vs longue durée d’action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4F7A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PK différente → effets différents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4F7A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Tirzépatide : double GIP/GLP-1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ANCRAGE PARKINSON / PREUVES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Exénatide LP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Évalué en PD ; Exenatide-PD3 négatif (ph.III).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Lixisénatide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LIXIPARK ph.II : signal moteur +3,08 pts.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Sémaglutide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SELECT / FLOW ; MOST-ABLE (oral) en cours.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07 ·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EFFETS MÉTABOLIQUES DES AGONISTES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MÉCANISME D’ACTION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↑ Insuline (si hyperglycémie)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Glucagon (si hyperglycémie)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Ralentissement vidange gastrique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↑ Satiété / ↓ apports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Effets cardio-rénaux (certaines molécules)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CONSÉQUENCES PRATIQUES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Hypoglycémie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Faible en monothérapie ; ↑ si insuline/sulfamides.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Courte durée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Effet postprandial plus marqué (vidange).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Longue durée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Meilleur contrôle jeûne / HbA1c (exposition continue).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08 · DT2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DIABÈTE DE TYPE 2 : PLACE DES GLP-1R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RATIONNEL PHYSIOPATHOLOGIQUE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164592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Insulinorésistance + déficit β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Effet incrétine diminué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265176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Activation pharmacologique GLP-1R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315468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↓ glycémie jeûne et postprandiale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3657600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↓ poids + faible hypo intrinsèque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DÉCISION THÉRAPEUTIQUE</a:t>
            </a:r>
          </a:p>
        </p:txBody>
      </p:sp>
      <p:sp>
        <p:nvSpPr>
          <p:cNvPr id="27" name="Oval 26"/>
          <p:cNvSpPr/>
          <p:nvPr/>
        </p:nvSpPr>
        <p:spPr>
          <a:xfrm>
            <a:off x="63550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Cibles : HbA1c + CV, rein, poids, préférences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Introduction tôt possible si MCV/MRC</a:t>
            </a:r>
          </a:p>
        </p:txBody>
      </p:sp>
      <p:sp>
        <p:nvSpPr>
          <p:cNvPr id="33" name="Oval 32"/>
          <p:cNvSpPr/>
          <p:nvPr/>
        </p:nvSpPr>
        <p:spPr>
          <a:xfrm>
            <a:off x="63550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Associations : insuline/sulfamides (hypo)</a:t>
            </a:r>
          </a:p>
        </p:txBody>
      </p:sp>
      <p:sp>
        <p:nvSpPr>
          <p:cNvPr id="36" name="Oval 35"/>
          <p:cNvSpPr/>
          <p:nvPr/>
        </p:nvSpPr>
        <p:spPr>
          <a:xfrm>
            <a:off x="63550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SGLT2 : surveiller hydratation</a:t>
            </a:r>
          </a:p>
        </p:txBody>
      </p:sp>
      <p:sp>
        <p:nvSpPr>
          <p:cNvPr id="39" name="Oval 38"/>
          <p:cNvSpPr/>
          <p:nvPr/>
        </p:nvSpPr>
        <p:spPr>
          <a:xfrm>
            <a:off x="63550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Choix molécule-spécifique, pas de classe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394960"/>
            <a:ext cx="1170432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6235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En DT2, le choix se guide aussi par les comorbidités cardio-rénales — molécule par molécule.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09 · POIDS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OBÉSITÉ ET RÉDUCTION PONDÉRALE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MÉCANISME PONDÉRAL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↑ satiété / ↓ faim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8A1A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apports énergétiques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8A1A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Liraglutide 3 mg (SCALE)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8A1A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Sémaglutide hebdo (STEP)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8A1A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Tirzépatide : double agoniste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VIGILANCE CLINIQUE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Bénéfice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Utile si obésité + risque cardiométabolique.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Risque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Âgés / fragiles : dénutrition, sarcopénie, déshydratation.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Suivi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Poids + apports + digestif + force / autonomie.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LEADER : liraglutide (MACE↓)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SELECT : séma sans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FLOW : séma +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Molécule ≠ classe entière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Bénéfices cardio-rénaux démontrés pour certaines molécules — pas une interchangeabilité automatique.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10 · SÉCURITÉ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TOLÉRANCE ET SÉCURITÉ D’EMPLOI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CASCADE DES EI DIGESTIFS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1645920"/>
            <a:ext cx="365760" cy="365760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Instauration / ↑ dose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Nausées, vomissements, diarrhée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2651760"/>
            <a:ext cx="365760" cy="365760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↓ appétit / constipation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3154680"/>
            <a:ext cx="365760" cy="365760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Risque déshydratation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3657600"/>
            <a:ext cx="365760" cy="365760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Arrêt si intolérance sévère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POINTS DE VIGILANCE PHARMACIEN</a:t>
            </a:r>
          </a:p>
        </p:txBody>
      </p:sp>
      <p:sp>
        <p:nvSpPr>
          <p:cNvPr id="27" name="Oval 26"/>
          <p:cNvSpPr/>
          <p:nvPr/>
        </p:nvSpPr>
        <p:spPr>
          <a:xfrm>
            <a:off x="63550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Hypoglycémie rare seul ; ↑ si insuline/sulfamides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Douleur abdo intense : biliaire / pancréatite</a:t>
            </a:r>
          </a:p>
        </p:txBody>
      </p:sp>
      <p:sp>
        <p:nvSpPr>
          <p:cNvPr id="33" name="Oval 32"/>
          <p:cNvSpPr/>
          <p:nvPr/>
        </p:nvSpPr>
        <p:spPr>
          <a:xfrm>
            <a:off x="63550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Éducation : injection, conservation, oubli</a:t>
            </a:r>
          </a:p>
        </p:txBody>
      </p:sp>
      <p:sp>
        <p:nvSpPr>
          <p:cNvPr id="36" name="Oval 35"/>
          <p:cNvSpPr/>
          <p:nvPr/>
        </p:nvSpPr>
        <p:spPr>
          <a:xfrm>
            <a:off x="63550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Repas légers + hydratation</a:t>
            </a:r>
          </a:p>
        </p:txBody>
      </p:sp>
      <p:sp>
        <p:nvSpPr>
          <p:cNvPr id="39" name="Oval 38"/>
          <p:cNvSpPr/>
          <p:nvPr/>
        </p:nvSpPr>
        <p:spPr>
          <a:xfrm>
            <a:off x="63550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Titration = clé d’adhésion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394960"/>
            <a:ext cx="1170432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6235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La plupart des EI digestifs sont dose-dépendants : titration lente et éducation patient.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11 · PD/GLP-1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POURQUOI EXPLORER LE GLP-1 DANS PARKINSON ?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CHAÎNE MÉCANISTIQUE PROPOSÉE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Activation du GLP-1R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8F62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AMPc / PKA / EPAC2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8F62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PI3K-Akt &amp; MAPK-ERK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8F62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inflammation / oxydatif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8F62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Survie neuronale putative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NIVEAU DE PREUVE ACTUEL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Préclinique ++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Signaux sur inflammation, ROS, survie (modèles).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α-synucléine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Autophagie / protéostase : encore exploratoire.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Clinique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Hétérogène : LIXIPARK ≠ Exenatide-PD3.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Plausibilité biologique forte — hypothèses précliniques, pas une preuve d’efficacité humaine.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12 · PRÉCLIN.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DONNÉES EXPÉRIMENTALES (MPTP / 6-OHDA)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CE QUE MONTRENT LES MODÈLES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Atteinte dopaminergique induite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Exénatide / lira / lixi / séma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Signaux moteurs / histologiques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oxydatif / inflammation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Justification d’essais cliniques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LIMITES DE TRANSPOSITION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Modèles toxiques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Lésion rapide ≠ progression lente humaine.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α-synucléine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Mal reproduite dans MPTP/6-OHDA classiques.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Lecture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Soutenir un essai, pas conclure à l’efficacité.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13 · EXÉNATIDE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DE L’ESPOIR INITIAL À EXENATIDE-PD3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TRAJECTOIRE DES PREUVES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Études pilotes / ph.II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Signal moteur exploratoire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Justification d’un grand essai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Exenatide-PD3 (194 patients)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5D39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Pas de différence OFF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DONNÉES CHIFFRÉES CLÉS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Design PD3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Exénatide hebdo vs placebo · 96 semaines.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Critère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MDS-UPDRS III à l’état OFF : aggravation similaire.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Conclusion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Pas d’effet modificateur démontré pour l’exénatide.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phase II, pas une preuve de neuroprotection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Phase II · 156 patients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Parkinson précoce · 12 mois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MDS-UPDRS III : −0,04 vs +3,04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Différence ajustée : 3,08 pts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 ↑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d’indication réglementaire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Signal moteur favorable à court terme — insuffisant pour affirmer un effet modificateur durable.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14 · SYNTHÈSE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ESSAIS CLINIQUES : LECTURE COMPARATIVE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HIÉRARCHIE DES RÉSULTATS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Pilotes exénatide : signal exploratoire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LIXIPARK : +3,08 pts (ph.II)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Exenatide-PD3 : négatif (ph.III)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MOST-ABLE : en cours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Méta-analyse : globalement 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INTERPRÉTATION PRUDENTE</a:t>
            </a:r>
          </a:p>
        </p:txBody>
      </p:sp>
      <p:sp>
        <p:nvSpPr>
          <p:cNvPr id="27" name="Oval 26"/>
          <p:cNvSpPr/>
          <p:nvPr/>
        </p:nvSpPr>
        <p:spPr>
          <a:xfrm>
            <a:off x="63550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LIXIPARK : 156 pts · 12 mois · PD précoce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EI digestifs ↑ sous lixisénatide</a:t>
            </a:r>
          </a:p>
        </p:txBody>
      </p:sp>
      <p:sp>
        <p:nvSpPr>
          <p:cNvPr id="33" name="Oval 32"/>
          <p:cNvSpPr/>
          <p:nvPr/>
        </p:nvSpPr>
        <p:spPr>
          <a:xfrm>
            <a:off x="63550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Exenatide-PD3 : 194 pts · 96 sem. · OFF NS</a:t>
            </a:r>
          </a:p>
        </p:txBody>
      </p:sp>
      <p:sp>
        <p:nvSpPr>
          <p:cNvPr id="36" name="Oval 35"/>
          <p:cNvSpPr/>
          <p:nvPr/>
        </p:nvSpPr>
        <p:spPr>
          <a:xfrm>
            <a:off x="63550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Pas d’effet de classe démontré</a:t>
            </a:r>
          </a:p>
        </p:txBody>
      </p:sp>
      <p:sp>
        <p:nvSpPr>
          <p:cNvPr id="39" name="Oval 38"/>
          <p:cNvSpPr/>
          <p:nvPr/>
        </p:nvSpPr>
        <p:spPr>
          <a:xfrm>
            <a:off x="63550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Aucune indication PD hors essai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394960"/>
            <a:ext cx="11704320" cy="86868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6235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Signal phase II (LIXIPARK) ≠ preuve phase III (Exenatide-PD3) — lire molécule par molécule.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15 · MÉTHODE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LIMITES ET PERSPECTIVES DE RECHERCHE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39496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527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OBSTACLES MÉTHODOLOGIQUES</a:t>
            </a:r>
          </a:p>
        </p:txBody>
      </p:sp>
      <p:sp>
        <p:nvSpPr>
          <p:cNvPr id="10" name="Oval 9"/>
          <p:cNvSpPr/>
          <p:nvPr/>
        </p:nvSpPr>
        <p:spPr>
          <a:xfrm>
            <a:off x="393192" y="1737360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92224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164592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78308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Durées trop courtes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8A1A"/>
                </a:solidFill>
                <a:latin typeface="Calibri"/>
              </a:rPr>
              <a:t>▾</a:t>
            </a:r>
          </a:p>
        </p:txBody>
      </p:sp>
      <p:sp>
        <p:nvSpPr>
          <p:cNvPr id="15" name="Oval 14"/>
          <p:cNvSpPr/>
          <p:nvPr/>
        </p:nvSpPr>
        <p:spPr>
          <a:xfrm>
            <a:off x="393192" y="2560319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" y="261518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4688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MDS-UPDRS OFF insuffisant seul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0895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8A1A"/>
                </a:solidFill>
                <a:latin typeface="Calibri"/>
              </a:rPr>
              <a:t>▾</a:t>
            </a:r>
          </a:p>
        </p:txBody>
      </p:sp>
      <p:sp>
        <p:nvSpPr>
          <p:cNvPr id="20" name="Oval 19"/>
          <p:cNvSpPr/>
          <p:nvPr/>
        </p:nvSpPr>
        <p:spPr>
          <a:xfrm>
            <a:off x="393192" y="3383279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343814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2918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4289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Biomarqueurs non validés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1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8A1A"/>
                </a:solidFill>
                <a:latin typeface="Calibri"/>
              </a:rPr>
              <a:t>▾</a:t>
            </a:r>
          </a:p>
        </p:txBody>
      </p:sp>
      <p:sp>
        <p:nvSpPr>
          <p:cNvPr id="25" name="Oval 24"/>
          <p:cNvSpPr/>
          <p:nvPr/>
        </p:nvSpPr>
        <p:spPr>
          <a:xfrm>
            <a:off x="393192" y="4206239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26110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1147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Hétérogénéité patients/molécules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54879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98A1A"/>
                </a:solidFill>
                <a:latin typeface="Calibri"/>
              </a:rPr>
              <a:t>▾</a:t>
            </a:r>
          </a:p>
        </p:txBody>
      </p:sp>
      <p:sp>
        <p:nvSpPr>
          <p:cNvPr id="30" name="Oval 29"/>
          <p:cNvSpPr/>
          <p:nvPr/>
        </p:nvSpPr>
        <p:spPr>
          <a:xfrm>
            <a:off x="393192" y="5029199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084063"/>
            <a:ext cx="475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493775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07491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Risque de surinterprétation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143000"/>
            <a:ext cx="6126480" cy="5303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12527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CE QUE DEVRONT FAIRE LES ESSAIS FUTURS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64592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62472" y="184708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44184" y="190195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17556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0848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Stade précoce + suivi long + puissance adéquate.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80720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62472" y="300837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44184" y="3063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2916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Critères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Moteurs + non moteurs + cognition + chutes + nutrition.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6849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62472" y="4169664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44184" y="422452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078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Stratification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0740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Phénotypes métaboliques/génétiques testés a priori.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 /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&amp; hydratation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Constipation / perte de poids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Risque chute / sarcopénie (PD)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Hors essai = pas d’indication PD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Le pharmacien sécurise l’usage métabolique et rappelle clairement le caractère expérimental dans Parkinson.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16 · PHARMA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MISSIONS DU PHARMACIEN (CONTEXTE PD)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7CB8"/>
                </a:solidFill>
                <a:latin typeface="Calibri"/>
              </a:rPr>
              <a:t>PARCOURS D’ACCOMPAGNEMENT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1645920"/>
            <a:ext cx="365760" cy="365760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Éducation injection / titration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Repérage EI digestifs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2651760"/>
            <a:ext cx="365760" cy="365760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Surveillance poids / hydratation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3154680"/>
            <a:ext cx="365760" cy="365760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Prévention hypoglycémie associée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3657600"/>
            <a:ext cx="365760" cy="365760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Coordination pluridisciplinaire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SPÉCIFICITÉS PARKINSON</a:t>
            </a:r>
          </a:p>
        </p:txBody>
      </p:sp>
      <p:sp>
        <p:nvSpPr>
          <p:cNvPr id="27" name="Oval 26"/>
          <p:cNvSpPr/>
          <p:nvPr/>
        </p:nvSpPr>
        <p:spPr>
          <a:xfrm>
            <a:off x="63550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Vulnérabilités : constipation, sarcopénie, chutes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Dextérité / cognition pour l’injection</a:t>
            </a:r>
          </a:p>
        </p:txBody>
      </p:sp>
      <p:sp>
        <p:nvSpPr>
          <p:cNvPr id="33" name="Oval 32"/>
          <p:cNvSpPr/>
          <p:nvPr/>
        </p:nvSpPr>
        <p:spPr>
          <a:xfrm>
            <a:off x="63550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Rappeler le caractère expérimental PD</a:t>
            </a:r>
          </a:p>
        </p:txBody>
      </p:sp>
      <p:sp>
        <p:nvSpPr>
          <p:cNvPr id="36" name="Oval 35"/>
          <p:cNvSpPr/>
          <p:nvPr/>
        </p:nvSpPr>
        <p:spPr>
          <a:xfrm>
            <a:off x="63550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Prévenir automédication / attentes excessives</a:t>
            </a:r>
          </a:p>
        </p:txBody>
      </p:sp>
      <p:sp>
        <p:nvSpPr>
          <p:cNvPr id="39" name="Oval 38"/>
          <p:cNvSpPr/>
          <p:nvPr/>
        </p:nvSpPr>
        <p:spPr>
          <a:xfrm>
            <a:off x="63550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Sécuriser l’usage métabolique légitime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394960"/>
            <a:ext cx="1170432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6235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 pharmacien sécurise l’usage métabolique et cadre clairement l’absence d’indication PD hors essai.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82880"/>
            <a:ext cx="1325880" cy="594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292608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17 · 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5603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MESSAGES À RETENIR POUR LE JURY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FIL DE DÉMONSTRATION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Classe mature en métabolisme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Rationnel PD biologiquement cohérent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Clinique hétérogène (LIXI ≠ EXEN)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Aucune indication PD actuelle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Pharmacien = sécurisation + information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143000"/>
            <a:ext cx="5760720" cy="41148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34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FORMULATION FINALE</a:t>
            </a:r>
          </a:p>
        </p:txBody>
      </p:sp>
      <p:sp>
        <p:nvSpPr>
          <p:cNvPr id="27" name="Oval 26"/>
          <p:cNvSpPr/>
          <p:nvPr/>
        </p:nvSpPr>
        <p:spPr>
          <a:xfrm>
            <a:off x="6355080" y="164592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70078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66420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Métabolisme : bénéfices CV/rénaux molécule-spécifiques</a:t>
            </a:r>
          </a:p>
        </p:txBody>
      </p:sp>
      <p:sp>
        <p:nvSpPr>
          <p:cNvPr id="30" name="Oval 29"/>
          <p:cNvSpPr/>
          <p:nvPr/>
        </p:nvSpPr>
        <p:spPr>
          <a:xfrm>
            <a:off x="6355080" y="214884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16712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LIXIPARK signal ph.II ; Exenatide-PD3 négatif</a:t>
            </a:r>
          </a:p>
        </p:txBody>
      </p:sp>
      <p:sp>
        <p:nvSpPr>
          <p:cNvPr id="33" name="Oval 32"/>
          <p:cNvSpPr/>
          <p:nvPr/>
        </p:nvSpPr>
        <p:spPr>
          <a:xfrm>
            <a:off x="6355080" y="265176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2706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26700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Pas d’effet de classe en Parkinson</a:t>
            </a:r>
          </a:p>
        </p:txBody>
      </p:sp>
      <p:sp>
        <p:nvSpPr>
          <p:cNvPr id="36" name="Oval 35"/>
          <p:cNvSpPr/>
          <p:nvPr/>
        </p:nvSpPr>
        <p:spPr>
          <a:xfrm>
            <a:off x="6355080" y="315468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32095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172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Avenir : essais longs, ciblés, multicritères</a:t>
            </a:r>
          </a:p>
        </p:txBody>
      </p:sp>
      <p:sp>
        <p:nvSpPr>
          <p:cNvPr id="39" name="Oval 38"/>
          <p:cNvSpPr/>
          <p:nvPr/>
        </p:nvSpPr>
        <p:spPr>
          <a:xfrm>
            <a:off x="6355080" y="3657600"/>
            <a:ext cx="365760" cy="365760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7124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367588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E28"/>
                </a:solidFill>
                <a:latin typeface="Calibri"/>
              </a:rPr>
              <a:t>Puis seulement éventuelle pratique clinique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394960"/>
            <a:ext cx="11704320" cy="86868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62356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Plausibilité ≠ symptomatique ≠ modificateur de maladie — conclure avec prudence.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