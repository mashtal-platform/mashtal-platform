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48006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48006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5029200"/>
            <a:ext cx="214884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5029200"/>
            <a:ext cx="214884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5029200"/>
            <a:ext cx="214884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5029200"/>
            <a:ext cx="214884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46920" y="5029200"/>
            <a:ext cx="2148840" cy="10972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46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2194560" cy="1188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Parkinson, besoin, repositionnement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280160"/>
            <a:ext cx="2194560" cy="1188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GLP-1, récepteur, agonistes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1280160"/>
            <a:ext cx="2194560" cy="118872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DT2, obésité, cardio-rénal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1280160"/>
            <a:ext cx="2194560" cy="11887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79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Neuroprotection &amp; essais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1280160"/>
            <a:ext cx="2194560" cy="1188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Messages &amp; discussion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91440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83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GLP-1, GLP-1R, panorama des agonistes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91440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974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606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protection cardio-rénale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91440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93192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51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Mécanismes, préclinique, LIXIPARK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89204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892040"/>
            <a:ext cx="91440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1663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2ᵉ neurodégénérescence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Atteinte substance noire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Déficit dopaminergique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Moteurs + non moteurs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Aucun modificateur validé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Besoin neuroprotecteur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L’image montre la cible : préserver les neurones dopaminergiques, pas seulement masquer les symptômes.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Agrégation et propagation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Dysfonction et ROS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Lésions cumulatives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Microglie activée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altérée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Susceptibilité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6128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75488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Potentialisation 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4572000"/>
            <a:ext cx="11612880" cy="16916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8006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Améliorer les symptômes ≠ freiner la neurodégénérescence.
Le repositionnement des agonistes du GLP-1 répond à ce besoin.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PK/PD déjà connues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Tolérance documentée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Développement accéléré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GLP-1R présent dans le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humains déjà menés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Hypothèse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Anti-inflammatoire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Anti-oxydant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Anti-apoptotique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Soutien mitochondrial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α-synucléine (hypothèse)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pic>
        <p:nvPicPr>
          <p:cNvPr id="7" name="Picture 6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Cellules L intestinales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Hormone incrétine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 glucose-dépendante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DPP-4 : demi-vie 1–2 min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résistants DPP-4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toute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pic>
        <p:nvPicPr>
          <p:cNvPr id="7" name="Picture 6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GPCR classe B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Pancréas, cœur, rein,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AMPc → PKA / EPAC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PI3K / Akt : survie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MAPK / ERK : réparation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la 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pic>
        <p:nvPicPr>
          <p:cNvPr id="7" name="Picture 6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Stimulation intermittente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Fort effet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: lira, dula, séma…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Exposition continue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 contrôle HbA1c / jeûne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Panorama des agonistes — référence claire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560320"/>
                <a:gridCol w="493776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Point clé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2×/j ou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Essais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LIXIPARK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LEADER / obésité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STEP / essais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Puissance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5029200"/>
            <a:ext cx="1170432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Structure différente → demi-vie et accès au SNC variables. La classe n’est pas uniforme en neurologie.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Glucose-dépendante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Moins de glucose hépatique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pic postprandial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poids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et fonction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Cœur, rein, inflammation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5544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5544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5544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971800"/>
            <a:ext cx="576072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1363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657600"/>
            <a:ext cx="5394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incrétine diminué dans le DT2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= incrétine durable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durée →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durée → jeûne / HbA1c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71800"/>
            <a:ext cx="566928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1363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657600"/>
            <a:ext cx="5303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Après mesures ± metformine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Précoce si risque CV / MRC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Séma &amp; tirzépatide très puissants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*sauf association insuline/sulfamides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6459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6459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6459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63240"/>
            <a:ext cx="576072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22783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46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74904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↑ satiété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Réduction des apports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Meilleure sensibilité insulinique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Impact cardiométabolique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063240"/>
            <a:ext cx="566928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22783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Conseil pharmacien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749040"/>
            <a:ext cx="53035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= adhésion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 = 1ʳᵉ cause d’arrêt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 + hydratation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pic>
        <p:nvPicPr>
          <p:cNvPr id="7" name="Picture 6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LEADER : liraglutide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SUSTAIN-6 : sémaglutide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REWIND : dulaglutide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MACE démontré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rénal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Au-delà de l’HbA1c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Ces essais ont repositionné la classe dans les recommandations internationales.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319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Diarrhées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Début / ↑ dose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Souvent transitoires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lente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2511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 (alerte)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Complications biliaires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Contre-indications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80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Classe mature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de sécurité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Profil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Info patient claire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 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40233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microglie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Soutien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pic>
        <p:nvPicPr>
          <p:cNvPr id="7" name="Picture 6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Activation GLP-1R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neuronale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stress oxydatif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apoptose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Autophagie / α-syn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Plausibilité biologique forte — étape nécessaire avant la preuve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Préservation neurones DA ·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Amélioration motrice ·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Intérêt pour action centrale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Survie · autophagie · ↓ α-syn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Études ouvertes encourageantes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 contrôlé initial positif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Bonne tolérance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Rationnel préclinique solide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Ouverture du champ GLP-1 / PD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Phase 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de bénéfice significatif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Déception pour le champ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N’invalide pas toute la classe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Limites : sélection, durée, BHE ?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≠ preuve définitive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LIXIPARK — signal clinique le plus encourageant</a:t>
            </a:r>
          </a:p>
        </p:txBody>
      </p:sp>
      <p:pic>
        <p:nvPicPr>
          <p:cNvPr id="7" name="Picture 6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PD stade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Lixisénatide vs placebo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Scores moteurs stabilisés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Placebo : aggravation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après washout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Questions de durabilité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Persistance après washout : argument contre un pur effet symptomatique immédiat.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572000"/>
              </a:tblGrid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Ouvert → phase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Non confirmé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 (LIXIPARK)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Contrôlé, précoce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Stabilisation + washout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Résultats attendus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480560"/>
            <a:ext cx="11704320" cy="173736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L’efficacité dépend de la molécule, du stade, de la BHE et du design.
Ne pas extrapoler un résultat à toute la classe.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Peu d’essais, tailles modestes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Durées courtes vs maladie lente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Critères ≠ preuve neuroprotectrice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Passage BHE variable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Biomarqueurs manquants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Intervention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Sélection par biomarqueurs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plus larges et longs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Analogues plus pénétrants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Approches combinées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pic>
        <p:nvPicPr>
          <p:cNvPr id="7" name="Picture 6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progressive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Gestion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Usage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Coordination pluridisciplinaire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Aujourd’hui en métabolisme ; demain potentiellement en neurologie : le pharmacien reste central.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Injection SC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Oublis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Adhésion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Insuline/sulfamides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Biliaire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Protocole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Dispensation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Attentes réalistes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Neurologue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Endocrinologue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441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5272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Classe mature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00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cardio-rénal : place solide.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031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1031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042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1284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Rationnel fort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Neuroprotection plausible en préclinique.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0632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2644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7296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Clinique mixte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520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Exénatide –  ·  LIXIPARK +  ·  séma en cours.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2245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13308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Preuve à bâtir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Essais plus larges, précoces, ciblés, longs.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9834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1846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0932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Pharmacien clé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