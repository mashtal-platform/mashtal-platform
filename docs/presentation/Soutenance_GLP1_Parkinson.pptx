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parkinson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21208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B8C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5943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Agonistes du GLP-1 :
Mise au point et potentiel
prometteur pour la maladie
de Parkinson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5760720" cy="137160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Physiologie  ·  Pharmacologie  ·  Cardio-rénal
Neuroprotection  ·  LIXIPARK  ·  Rôle du 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Plan coloré de la présentation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219456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54480"/>
            <a:ext cx="2194560" cy="128016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0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82E"/>
                </a:solidFill>
                <a:latin typeface="Calibri"/>
              </a:rPr>
              <a:t>Parkinson &amp; besoin
Idées claires
sans zones vides
visuels ciblés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554480"/>
            <a:ext cx="219456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1554480"/>
            <a:ext cx="2194560" cy="128016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240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2004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82E"/>
                </a:solidFill>
                <a:latin typeface="Calibri"/>
              </a:rPr>
              <a:t>GLP-1 &amp; agonistes
Idées claires
sans zones vides
visuels ciblés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1554480"/>
            <a:ext cx="219456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83480" y="1554480"/>
            <a:ext cx="2194560" cy="128016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240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2004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82E"/>
                </a:solidFill>
                <a:latin typeface="Calibri"/>
              </a:rPr>
              <a:t>DT2 · obésité · CV
Idées claires
sans zones vides
visuels ciblés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199" y="1554480"/>
            <a:ext cx="219456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199" y="1554480"/>
            <a:ext cx="2194560" cy="128016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199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240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59" y="32004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82E"/>
                </a:solidFill>
                <a:latin typeface="Calibri"/>
              </a:rPr>
              <a:t>Parkinson &amp; preuves
Idées claires
sans zones vides
visuels ciblés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20" y="1554480"/>
            <a:ext cx="219456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46920" y="1554480"/>
            <a:ext cx="2194560" cy="128016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17373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240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200400"/>
            <a:ext cx="1920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82E"/>
                </a:solidFill>
                <a:latin typeface="Calibri"/>
              </a:rPr>
              <a:t>Messages clés
Idées claires
sans zones vides
visuels ciblés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Quatre objectifs — une lecture de pharmacien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11521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914400" cy="10058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73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0020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3D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47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560320"/>
            <a:ext cx="11521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560320"/>
            <a:ext cx="914400" cy="100584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816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74320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3D4F"/>
                </a:solidFill>
                <a:latin typeface="Georgia"/>
              </a:rPr>
              <a:t>Indications validées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090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703320"/>
            <a:ext cx="11521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703320"/>
            <a:ext cx="914400" cy="100584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959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88620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3D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33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846320"/>
            <a:ext cx="1152144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846320"/>
            <a:ext cx="914400" cy="100584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102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02920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3D4F"/>
                </a:solidFill>
                <a:latin typeface="Georgia"/>
              </a:rPr>
              <a:t>Rôle du pharmacien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376672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280160" cy="50292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B8C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A8B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La maladie de Parkinson : un enjeu majeur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parkinson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566928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25880"/>
            <a:ext cx="544068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2ᵉ maladie neurodégénérative (après Alzheimer)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Prévalence en forte hausse (×2–3 attendu)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Handicap moteur + symptômes non moteurs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Impact médical, social et économique majeur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Besoin urgent de stratégies neuroprotectrices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Traitements actuels = symptomatiques seuls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Physiopathologie multifactorielle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03320" cy="50292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Agrégation &amp; propagation
Cible potentielle des agonistes du GLP-1R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03320" cy="50292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Mitochondries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Dysfonction &amp; ROS
Cible potentielle des agonistes du GLP-1R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3703320" cy="50292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Stress oxydatif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Lésions cumulatives
Cible potentielle des agonistes du GLP-1R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3703320" cy="50292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Neuroinflammation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Microglie activée
Cible potentielle des agonistes du GLP-1R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03320" cy="50292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Autophagie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Dégradation altérée
Cible potentielle des agonistes du GLP-1R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3703320" cy="502920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Gènes &amp; environnement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82E"/>
                </a:solidFill>
                <a:latin typeface="Calibri"/>
              </a:rPr>
              <a:t>Susceptibilité
Cible potentielle des agonistes du GLP-1R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Traitements actuels : efficaces… mais limités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371600"/>
          <a:ext cx="11521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Lévodopa (± ICOMT)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Fluctuations,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Agonistes dopaminergiques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Thérapies avancées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Stades compliqués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Invasives, sélection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846320"/>
            <a:ext cx="11521440" cy="128016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Message clé : améliorer les symptômes ≠ freiner la neurodégénérescence.
D’où l’intérêt du repositionnement des agonistes du GLP-1.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Repositionnement : une stratégie intelligente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71600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6692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" y="1426464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Pourquoi repositionner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847088"/>
            <a:ext cx="541324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PK/PD connues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données déjà disponibles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Tolérance documentée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classe mature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Développement accéléré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vs molécule de novo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Pertinent en neuro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nombreux échecs d’innovations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GLP-1R au SNC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cible accessible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62356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62356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2646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Pourquoi le GLP-1 ici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47088"/>
            <a:ext cx="536752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Anti-inflammatoire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modèles expérimentaux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Anti-oxydant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survie cellulaire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Anti-apoptotique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voies PI3K/Akt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Cibles PD chevauchantes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mitochondries, α-syn…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A282E"/>
                </a:solidFill>
                <a:latin typeface="Calibri"/>
              </a:rPr>
              <a:t>●  Essais humains</a:t>
            </a:r>
            <a:r>
              <a:rPr sz="1300" b="0">
                <a:solidFill>
                  <a:srgbClr val="4A6068"/>
                </a:solidFill>
                <a:latin typeface="Calibri"/>
              </a:rPr>
              <a:t> — exénatide, LIXIPARK…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280160" cy="50292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B8C4"/>
                </a:solidFill>
                <a:latin typeface="Calibri"/>
              </a:rPr>
              <a:t>Du GLP-1 endogène aux agonistes modernes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A8B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Physiologie du GLP-1 (hormone incrétine)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glp1_physi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566928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25880"/>
            <a:ext cx="544068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Produit par les cellules L (iléon / côlon)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Issu du clivage du proglucagon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Formes actives : (7-36)amide &amp; (7-37)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Sécrétion stimulée par les nutriments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Effet incrétine glucose-dépendant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Demi-vie très courte : 1–2 min (DPP-4)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Besoin d’agonistes résistants à la DPP-4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Récepteur GLP-1R &amp; signalisation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54406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GPCR classe B (463 acides aminés)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Pancréas β, cœur, rein, tube digestif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SNC : hypothalamus, tronc, hippocampe…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Gs → AMPc → PKA / EPAC2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PI3K/Akt : anti-apoptose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MAPK/ERK : réparation / plasticité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Au cerveau → effets neuroprotecteurs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_receptor_sign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6692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agonis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566928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25880"/>
            <a:ext cx="54406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stimulation intermittente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fort effet sur vidange gastrique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contrôle postprandial marqué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Longue : lira, dula, séma, tirzépatide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exposition continue du récepteur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→ meilleur contrôle jeûne / HbA1c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Panorama des agonistes — comparaison claire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71600"/>
          <a:ext cx="116128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Particularité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Exendine-4 ·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LIXIPARK · postprandial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DT2 + obésité ·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REWIND (CV)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STEP · SUSTAIN-6 ·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Puissance métabolique ++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74320" y="5394960"/>
            <a:ext cx="11612880" cy="77724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Structure différente → demi-vie, immunogénicité et accès au SNC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d’action métaboliques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03320" cy="50292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Glucose-dépendante → peu d’hypoglycémies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03320" cy="50292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↓ Glucagon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Moins de production hépatique de glucose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3703320" cy="50292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52704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Vidange gastrique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8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Ralentie (surtout courte durée)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749040"/>
            <a:ext cx="3703320" cy="50292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Satiété centrale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↓ appétit → perte de poids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749040"/>
            <a:ext cx="3703320" cy="50292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Cellules 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Survie / fonction préservées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3749040"/>
            <a:ext cx="3703320" cy="502920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3858768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Effets pléiotropes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572000"/>
            <a:ext cx="3337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282E"/>
                </a:solidFill>
                <a:latin typeface="Calibri"/>
              </a:rPr>
              <a:t>Vasculaire, rénal, inflammatoire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280160" cy="502920"/>
          </a:xfrm>
          <a:prstGeom prst="roundRect">
            <a:avLst>
              <a:gd name="adj" fmla="val 10000"/>
            </a:avLst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B8C4"/>
                </a:solidFill>
                <a:latin typeface="Calibri"/>
              </a:rPr>
              <a:t>Diabète, obésité et protection cardio-rénale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A8B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Diabète de type 2 : place majeure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71600"/>
            <a:ext cx="3657600" cy="155448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selon molécule / dose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371600"/>
            <a:ext cx="3657600" cy="155448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544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Classe prioritaire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surtout si risque CV/MRC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371600"/>
            <a:ext cx="3840480" cy="1554480"/>
          </a:xfrm>
          <a:prstGeom prst="roundRect">
            <a:avLst>
              <a:gd name="adj" fmla="val 10000"/>
            </a:avLst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5544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Hypoglycémie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en monothérapie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00400"/>
            <a:ext cx="566928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200400"/>
            <a:ext cx="56692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3255264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Rationnel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" y="3675888"/>
            <a:ext cx="541324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Diminution de l’effet incrétine dans le DT2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Agonistes = incrétine pharmacologique durable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Longue durée → jeûne + HbA1c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200400"/>
            <a:ext cx="5623560" cy="2926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562356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325526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Lecture pratique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675888"/>
            <a:ext cx="536752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Après mesures hygiéno-diététiques ± metformine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Précoce si MCV / MRC / haut risque CV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Sémaglutide &amp; tirzépatide très puissants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Bénéfice poids concomitant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Obésité : un changement de paradigme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71600"/>
            <a:ext cx="3657600" cy="169164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perte de poids moyenne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371600"/>
            <a:ext cx="3657600" cy="169164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544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103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68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bénéfice durable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371600"/>
            <a:ext cx="3840480" cy="1691640"/>
          </a:xfrm>
          <a:prstGeom prst="roundRect">
            <a:avLst>
              <a:gd name="adj" fmla="val 10000"/>
            </a:avLst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5544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03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F5F0"/>
                </a:solidFill>
                <a:latin typeface="Calibri"/>
              </a:rPr>
              <a:t>souvent &gt; sélectifs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337560"/>
            <a:ext cx="566928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37560"/>
            <a:ext cx="56692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3392424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Comment ça marche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" y="3813048"/>
            <a:ext cx="5413248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↓ appétit / ↑ satiété (action centrale)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Réduction des apports alimentaires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Amélioration sensibilité à l’insuline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Impact sur syndrome métabolique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337560"/>
            <a:ext cx="56235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337560"/>
            <a:ext cx="562356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339242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Conseil pharmacien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3813048"/>
            <a:ext cx="5367528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Titration progressive = adhésion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Éducation injection / conservation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Hydratation &amp; repas légers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Cardioprotection &amp; néphroprotection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566928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25880"/>
            <a:ext cx="5440680" cy="384048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LEADER (liraglutide) : ↓ MACE &amp; mortalité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SUSTAIN-6 (sémaglutide) : ↓ MACE + signal rénal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REWIND (dulaglutide) : bénéfice CV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Effet au-delà de l’HbA1c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Mécanismes : poids, PA, lipides, inflammation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Intérêt fort si risque CV / MRC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Tolérance &amp; sécurité — vigilance pharmacienne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71600"/>
            <a:ext cx="379476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79476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426464"/>
            <a:ext cx="3538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847088"/>
            <a:ext cx="353872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Début de traitement / ↑ dose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Titration lente = clé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371600"/>
            <a:ext cx="379476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371600"/>
            <a:ext cx="3794760" cy="384048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4256" y="1426464"/>
            <a:ext cx="3538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À anticiper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847088"/>
            <a:ext cx="353872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Hypoglycémie si insuline/sulfamides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Pancréatite (signes d’alerte)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Contre-indications spécifiques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Déclaration pharmacovigilance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749039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3749039" cy="384048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1426464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Messages rassurants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1847088"/>
            <a:ext cx="349300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Grands essais de sécurité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Profil globalement favorable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Information claire du patient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Traçabilité des EI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0"/>
            <a:ext cx="73152" cy="6858000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280160" cy="502920"/>
          </a:xfrm>
          <a:prstGeom prst="roundRect">
            <a:avLst>
              <a:gd name="adj" fmla="val 10000"/>
            </a:avLst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PARTIE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repositionnement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EB8C4"/>
                </a:solidFill>
                <a:latin typeface="Calibri"/>
              </a:rPr>
              <a:t>Mécanismes, preuves et rôle du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A8B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25880"/>
          <a:ext cx="1161288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846320"/>
                <a:gridCol w="3840480"/>
              </a:tblGrid>
              <a:tr h="53035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Modulation GLP-1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↓ microglie / médiateurs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↓ ROS, intégrité cellulaire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Préclinique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Voies de survie (Akt, PKA)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Préclinique ++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Neurones DA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Préservation (modèles)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282E"/>
                          </a:solidFill>
                          <a:latin typeface="Calibri"/>
                        </a:rPr>
                        <a:t>Préclin. → clin. hétérogène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neuro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566928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25880"/>
            <a:ext cx="54406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cAMP / PKA / EPAC → survie neuronale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PI3K / Akt → anti-apoptose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MAPK / ERK → réparation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↓ neuroinflammation microgliale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Soutien mitochondrial / ↓ oxydatif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Autophagie → ↓ α-synucléine (hypothèse)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Plausibilité biologique forte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Données précliniques convergentes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371600"/>
          <a:ext cx="115214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914400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Préservation neurones DA · ↓ oxydatif · ↓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Intérêt pénétration /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Survie · autophagie · ↓ agrégation α-syn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4846320"/>
            <a:ext cx="11521440" cy="128016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Attention : la plausibilité animale ne garantit pas le succès clinique.
Le passage modèle → humain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CLINIQUE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Exénatide : espoir puis déception (phase III)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71600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669280" cy="384048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" y="1426464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 qui a nourri l’espoir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847088"/>
            <a:ext cx="541324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Classe déjà connue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62356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62356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2646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Ce que la phase III a montré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47088"/>
            <a:ext cx="536752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Pas de bénéfice significatif sur progression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Leçon : signal ≠ preuve définitive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CLINIQUE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LIXIPARK (lixisénatide) — signal le plus fort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76072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clinical_t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57784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1325880"/>
            <a:ext cx="2743200" cy="137160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087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Précoce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057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Stade PD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132588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150876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05740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Scores moteurs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880360"/>
            <a:ext cx="5623560" cy="1463040"/>
          </a:xfrm>
          <a:prstGeom prst="roundRect">
            <a:avLst>
              <a:gd name="adj" fmla="val 10000"/>
            </a:avLst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5440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Washout 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Effet persistant → au-delà du purement symptomatique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526280"/>
            <a:ext cx="11612880" cy="1600200"/>
          </a:xfrm>
          <a:prstGeom prst="roundRect">
            <a:avLst>
              <a:gd name="adj" fmla="val 10000"/>
            </a:avLst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709160"/>
            <a:ext cx="11155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Lecture critique : stabilisation motrice vs aggravation placebo + persistance après washout.
Questions : durabilité long terme, tolérance digestive, généralisabilité — pas encore une indication neurologique.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CLINIQUE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Synthèse des essais : classe hétérogène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371600"/>
          <a:ext cx="11612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521208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A3D4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Ouvert → ph.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Signal 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Contrôlé, PD précoce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Essais 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Autres / dérivés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282E"/>
                          </a:solidFill>
                          <a:latin typeface="Calibri"/>
                        </a:rPr>
                        <a:t>Meilleure pénétration SNC ?</a:t>
                      </a:r>
                    </a:p>
                  </a:txBody>
                  <a:tcPr>
                    <a:solidFill>
                      <a:srgbClr val="EAF5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74320" y="5029200"/>
            <a:ext cx="11612880" cy="1097280"/>
          </a:xfrm>
          <a:prstGeom prst="roundRect">
            <a:avLst>
              <a:gd name="adj" fmla="val 10000"/>
            </a:avLst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 plausibilité de classe est réelle, mais l’efficacité dépend de la molécule, du stade, de la BHE et du design.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Limites &amp; questions ouvertes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371600"/>
            <a:ext cx="566928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66928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" y="1426464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Limites des essais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847088"/>
            <a:ext cx="541324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Peu d’études, tailles modestes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Critères moteurs ≠ neuroprotection prouvée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Symptomatique vs modificateur 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Populations / stades hétérogènes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623560" cy="4754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623560" cy="384048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2646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Questions pharmacologiques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47088"/>
            <a:ext cx="536752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Structure (exendine vs GLP-1 humain)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Dose neurologique ≠ dose métabolique 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Biomarqueurs de sélection manquants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82E"/>
                </a:solidFill>
                <a:latin typeface="Calibri"/>
              </a:rPr>
              <a:t>●  Besoin d’essais plus larges / longs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Où va la recherche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640080" cy="214884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1945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7452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Stade précoce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Avant perte neuronale trop avancée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417320"/>
            <a:ext cx="640080" cy="21488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21945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7452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Biomarqueurs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Sélectionner les meilleurs répondeurs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640080" cy="214884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1945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87452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Essais longs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51460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Prouver un vrai ralentissement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749040"/>
            <a:ext cx="640080" cy="214884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526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20624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Molécules optimisées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Meilleure pénétration SNC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3749040"/>
            <a:ext cx="640080" cy="214884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4526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20624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Combinaisons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Neuroprotection + symptomatique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2440" y="374904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2440" y="3749040"/>
            <a:ext cx="640080" cy="2148840"/>
          </a:xfrm>
          <a:prstGeom prst="rect">
            <a:avLst/>
          </a:prstGeom>
          <a:solidFill>
            <a:srgbClr val="C44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4526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4206240"/>
            <a:ext cx="2697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Sémaglutide &amp; suite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484632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6068"/>
                </a:solidFill>
                <a:latin typeface="Calibri"/>
              </a:rPr>
              <a:t>Clarifier le champ clinique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7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CHAPITRE 3 —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Rôle du pharmacien : sécuriser le parcours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325880"/>
            <a:ext cx="544068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5440680" cy="384048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380744"/>
            <a:ext cx="51846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Points clés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801368"/>
            <a:ext cx="518464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Éducation : injection, titration, régularité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Tolérance : anticiper les EI digestifs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Vigilance : insuline/sulfamides, pancréatite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Pharmacovigilance &amp; déclaration des EI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Essais : traçabilité / conservation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Info claire : usage validé vs expérimental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282E"/>
                </a:solidFill>
                <a:latin typeface="Calibri"/>
              </a:rPr>
              <a:t>●  Coordination neurologue–endocrinologue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325880"/>
            <a:ext cx="5943600" cy="4937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8_pharmac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669280" cy="46634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326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1097280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2EB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B8C4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38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Messages à retenir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280160"/>
            <a:ext cx="11521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685800" cy="777240"/>
          </a:xfrm>
          <a:prstGeom prst="rect">
            <a:avLst/>
          </a:prstGeom>
          <a:solidFill>
            <a:srgbClr val="148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63040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37160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Classe mature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664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6068"/>
                </a:solidFill>
                <a:latin typeface="Calibri"/>
              </a:rPr>
              <a:t>Incontournable en DT2, obésité et protection cardio-rénale.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2148840"/>
            <a:ext cx="11521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148840"/>
            <a:ext cx="685800" cy="777240"/>
          </a:xfrm>
          <a:prstGeom prst="rect">
            <a:avLst/>
          </a:prstGeom>
          <a:solidFill>
            <a:srgbClr val="2F9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331720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402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Rationnel solide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5328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6068"/>
                </a:solidFill>
                <a:latin typeface="Calibri"/>
              </a:rPr>
              <a:t>Neuroprotection plausible et convergente en préclinique.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017520"/>
            <a:ext cx="11521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017520"/>
            <a:ext cx="685800" cy="777240"/>
          </a:xfrm>
          <a:prstGeom prst="rect">
            <a:avLst/>
          </a:prstGeom>
          <a:solidFill>
            <a:srgbClr val="E86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200400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1089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015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6068"/>
                </a:solidFill>
                <a:latin typeface="Calibri"/>
              </a:rPr>
              <a:t>Exénatide négatif en ph. III ; LIXIPARK encourageant.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3886199"/>
            <a:ext cx="11521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886199"/>
            <a:ext cx="685800" cy="777240"/>
          </a:xfrm>
          <a:prstGeom prst="rect">
            <a:avLst/>
          </a:prstGeom>
          <a:solidFill>
            <a:srgbClr val="C486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069079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977639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Preuve à construire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270247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6068"/>
                </a:solidFill>
                <a:latin typeface="Calibri"/>
              </a:rPr>
              <a:t>Essais plus larges, précoces, ciblés, plus longs.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4754880"/>
            <a:ext cx="1152144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754880"/>
            <a:ext cx="685800" cy="777240"/>
          </a:xfrm>
          <a:prstGeom prst="rect">
            <a:avLst/>
          </a:prstGeom>
          <a:solidFill>
            <a:srgbClr val="3A9B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937760"/>
            <a:ext cx="685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8463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3D4F"/>
                </a:solidFill>
                <a:latin typeface="Georgia"/>
              </a:rPr>
              <a:t>Pharmacien central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6068"/>
                </a:solidFill>
                <a:latin typeface="Calibri"/>
              </a:rPr>
              <a:t>Éducation, vigilance, coordination — aujourd’hui et demain.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10528"/>
            <a:ext cx="228600" cy="347472"/>
          </a:xfrm>
          <a:prstGeom prst="rect">
            <a:avLst/>
          </a:prstGeom>
          <a:solidFill>
            <a:srgbClr val="E8A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4710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2EB8C4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