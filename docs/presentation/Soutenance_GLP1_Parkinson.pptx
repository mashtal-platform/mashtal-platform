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itle_bg_muted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400800" cy="48006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0" y="0"/>
            <a:ext cx="91440" cy="480060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82296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EC8D4"/>
                </a:solidFill>
                <a:latin typeface="Calibri"/>
              </a:rPr>
              <a:t>SOUTENANCE DE THÈSE  ·  PHARMACIE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80160"/>
            <a:ext cx="56692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Georgia"/>
              </a:rPr>
              <a:t>Agonistes du GLP-1 :
mise au point et potentiel
prometteur pour la
maladie de Parkinson</a:t>
            </a:r>
          </a:p>
        </p:txBody>
      </p:sp>
      <p:pic>
        <p:nvPicPr>
          <p:cNvPr id="7" name="Picture 6" descr="med_01_brain_p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502920"/>
            <a:ext cx="5212080" cy="40233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02920" y="5029200"/>
            <a:ext cx="2148840" cy="109728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53492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Physiologie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5029200"/>
            <a:ext cx="2148840" cy="109728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8920" y="53492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Métabolisme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74920" y="5029200"/>
            <a:ext cx="2148840" cy="109728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74920" y="53492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Neuroprotection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60920" y="5029200"/>
            <a:ext cx="2148840" cy="109728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60920" y="53492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LIXIPARK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646920" y="5029200"/>
            <a:ext cx="2148840" cy="1097280"/>
          </a:xfrm>
          <a:prstGeom prst="rect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46920" y="53492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Pharmacien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201168"/>
            <a:ext cx="1234440" cy="64008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32004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01 ·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56032"/>
            <a:ext cx="6583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Calibri"/>
              </a:rPr>
              <a:t>ORGANISATION DE LA SOUTENANCE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8366760" y="137160"/>
            <a:ext cx="3566160" cy="77724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0" y="18288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POINT CLÉ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411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5 blocs · lecture continue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1234440"/>
            <a:ext cx="5394960" cy="52120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34416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E7C86"/>
                </a:solidFill>
                <a:latin typeface="Calibri"/>
              </a:rPr>
              <a:t>PARCOURS LOGIQUE</a:t>
            </a:r>
          </a:p>
        </p:txBody>
      </p:sp>
      <p:sp>
        <p:nvSpPr>
          <p:cNvPr id="13" name="Oval 12"/>
          <p:cNvSpPr/>
          <p:nvPr/>
        </p:nvSpPr>
        <p:spPr>
          <a:xfrm>
            <a:off x="393192" y="1810512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1874520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1737360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1874520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Besoin médical (Parkinson)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350007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E7C86"/>
                </a:solidFill>
                <a:latin typeface="Calibri"/>
              </a:rPr>
              <a:t>▼</a:t>
            </a:r>
          </a:p>
        </p:txBody>
      </p:sp>
      <p:sp>
        <p:nvSpPr>
          <p:cNvPr id="18" name="Oval 17"/>
          <p:cNvSpPr/>
          <p:nvPr/>
        </p:nvSpPr>
        <p:spPr>
          <a:xfrm>
            <a:off x="393192" y="2633471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3192" y="269747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" y="256031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269747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Physiologie &amp; pharmacologie GLP-1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17296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E7C86"/>
                </a:solidFill>
                <a:latin typeface="Calibri"/>
              </a:rPr>
              <a:t>▼</a:t>
            </a:r>
          </a:p>
        </p:txBody>
      </p:sp>
      <p:sp>
        <p:nvSpPr>
          <p:cNvPr id="23" name="Oval 22"/>
          <p:cNvSpPr/>
          <p:nvPr/>
        </p:nvSpPr>
        <p:spPr>
          <a:xfrm>
            <a:off x="393192" y="3456431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3192" y="352043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0120" y="338327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352043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Indications métaboliques validées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399592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E7C86"/>
                </a:solidFill>
                <a:latin typeface="Calibri"/>
              </a:rPr>
              <a:t>▼</a:t>
            </a:r>
          </a:p>
        </p:txBody>
      </p:sp>
      <p:sp>
        <p:nvSpPr>
          <p:cNvPr id="28" name="Oval 27"/>
          <p:cNvSpPr/>
          <p:nvPr/>
        </p:nvSpPr>
        <p:spPr>
          <a:xfrm>
            <a:off x="393192" y="4279391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93192" y="434339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0120" y="420623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0" y="434339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Repositionnement PD &amp; essais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81888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E7C86"/>
                </a:solidFill>
                <a:latin typeface="Calibri"/>
              </a:rPr>
              <a:t>▼</a:t>
            </a:r>
          </a:p>
        </p:txBody>
      </p:sp>
      <p:sp>
        <p:nvSpPr>
          <p:cNvPr id="33" name="Oval 32"/>
          <p:cNvSpPr/>
          <p:nvPr/>
        </p:nvSpPr>
        <p:spPr>
          <a:xfrm>
            <a:off x="393192" y="5102351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3192" y="516635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" y="502919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516635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Conclusion &amp; rôle du pharmacien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06440" y="1234440"/>
            <a:ext cx="6126480" cy="52120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0" y="1344168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F4F"/>
                </a:solidFill>
                <a:latin typeface="Calibri"/>
              </a:rPr>
              <a:t>CE QUE CHAQUE PARTIE APPORTE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43600" y="1737360"/>
            <a:ext cx="58521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62472" y="1920240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62472" y="1965960"/>
            <a:ext cx="3840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0" y="18470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Contexte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0" y="2176272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Fardeau, physiopathologie, traitements symptomatiques, besoin non couvert.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0" y="3081528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062472" y="3264408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62472" y="3310128"/>
            <a:ext cx="3840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80" y="319125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Chapitres 1–2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0" y="35204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Fondements GLP-1 puis bénéfices DT2 / obésité / cardio-rénal.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943600" y="4242816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062472" y="4425696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62472" y="4471416"/>
            <a:ext cx="3840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83680" y="435254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Chapitre 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83680" y="4681728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LIXIPARK vs Exenatide-PD3 : lecture critique molécule par molécule.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 / 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201168"/>
            <a:ext cx="1234440" cy="64008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32004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02 · OBJECTIFS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56032"/>
            <a:ext cx="6583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Calibri"/>
              </a:rPr>
              <a:t>OBJECTIFS DE LA THÈSE</a:t>
            </a:r>
          </a:p>
        </p:txBody>
      </p:sp>
      <p:sp>
        <p:nvSpPr>
          <p:cNvPr id="8" name="Rectangle 7"/>
          <p:cNvSpPr/>
          <p:nvPr/>
        </p:nvSpPr>
        <p:spPr>
          <a:xfrm>
            <a:off x="8366760" y="137160"/>
            <a:ext cx="3566160" cy="77724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0" y="18288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POINT CLÉ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411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Plausibilité ≠ preuve clinique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1234440"/>
            <a:ext cx="5394960" cy="52120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34416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95D39"/>
                </a:solidFill>
                <a:latin typeface="Calibri"/>
              </a:rPr>
              <a:t>DÉMARCHE DE LA THÈSE</a:t>
            </a:r>
          </a:p>
        </p:txBody>
      </p:sp>
      <p:sp>
        <p:nvSpPr>
          <p:cNvPr id="13" name="Oval 12"/>
          <p:cNvSpPr/>
          <p:nvPr/>
        </p:nvSpPr>
        <p:spPr>
          <a:xfrm>
            <a:off x="393192" y="1810512"/>
            <a:ext cx="438912" cy="438912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1874520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1737360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1874520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Décrire GLP-1 / GLP-1R / molécules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350007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D95D39"/>
                </a:solidFill>
                <a:latin typeface="Calibri"/>
              </a:rPr>
              <a:t>▼</a:t>
            </a:r>
          </a:p>
        </p:txBody>
      </p:sp>
      <p:sp>
        <p:nvSpPr>
          <p:cNvPr id="18" name="Oval 17"/>
          <p:cNvSpPr/>
          <p:nvPr/>
        </p:nvSpPr>
        <p:spPr>
          <a:xfrm>
            <a:off x="393192" y="2633471"/>
            <a:ext cx="438912" cy="438912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3192" y="269747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" y="256031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269747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Analyser DT2, obésité, cardio-rénal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17296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D95D39"/>
                </a:solidFill>
                <a:latin typeface="Calibri"/>
              </a:rPr>
              <a:t>▼</a:t>
            </a:r>
          </a:p>
        </p:txBody>
      </p:sp>
      <p:sp>
        <p:nvSpPr>
          <p:cNvPr id="23" name="Oval 22"/>
          <p:cNvSpPr/>
          <p:nvPr/>
        </p:nvSpPr>
        <p:spPr>
          <a:xfrm>
            <a:off x="393192" y="3456431"/>
            <a:ext cx="438912" cy="438912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3192" y="352043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0120" y="338327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352043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Évaluer le repositionnement PD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399592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D95D39"/>
                </a:solidFill>
                <a:latin typeface="Calibri"/>
              </a:rPr>
              <a:t>▼</a:t>
            </a:r>
          </a:p>
        </p:txBody>
      </p:sp>
      <p:sp>
        <p:nvSpPr>
          <p:cNvPr id="28" name="Oval 27"/>
          <p:cNvSpPr/>
          <p:nvPr/>
        </p:nvSpPr>
        <p:spPr>
          <a:xfrm>
            <a:off x="393192" y="4279391"/>
            <a:ext cx="438912" cy="438912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93192" y="434339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0120" y="420623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0" y="434339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Préciser le rôle du pharmacien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81888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D95D39"/>
                </a:solidFill>
                <a:latin typeface="Calibri"/>
              </a:rPr>
              <a:t>▼</a:t>
            </a:r>
          </a:p>
        </p:txBody>
      </p:sp>
      <p:sp>
        <p:nvSpPr>
          <p:cNvPr id="33" name="Oval 32"/>
          <p:cNvSpPr/>
          <p:nvPr/>
        </p:nvSpPr>
        <p:spPr>
          <a:xfrm>
            <a:off x="393192" y="5102351"/>
            <a:ext cx="438912" cy="438912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3192" y="516635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" y="502919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516635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Conclure sans surinterprétation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06440" y="1234440"/>
            <a:ext cx="6126480" cy="52120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0" y="1344168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F4F"/>
                </a:solidFill>
                <a:latin typeface="Calibri"/>
              </a:rPr>
              <a:t>QUESTIONS CENTRALES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43600" y="1737360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62472" y="1920240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62472" y="1965960"/>
            <a:ext cx="3840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0" y="18470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Pharmacologie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0" y="2176272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Différences PK/PD : pas d’équivalence entre agonistes.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0" y="2898648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062472" y="3081528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62472" y="3127248"/>
            <a:ext cx="3840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80" y="300837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Clinique PD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0" y="33375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LIXIPARK (ph.II) vs Exenatide-PD3 (ph.III négatif).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943600" y="4059936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062472" y="4242816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62472" y="4288536"/>
            <a:ext cx="3840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83680" y="416966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Pratique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83680" y="4498848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Aucune indication PD hors protocole de recherche.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3 / 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D95D39"/>
                </a:solidFill>
                <a:latin typeface="Calibri"/>
              </a:rPr>
              <a:t>PARTIE 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3172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Contexte &amp; besoin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23360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B5DCE4"/>
                </a:solidFill>
                <a:latin typeface="Calibri"/>
              </a:rPr>
              <a:t>Parkinson : fardeau, physiopathologie, impasse thérapeutique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AB8C0"/>
                </a:solidFill>
                <a:latin typeface="Calibri"/>
              </a:rPr>
              <a:t>4 / 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CONTEXTE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Maladie de Parkinson — anatomie fonctionnelle</a:t>
            </a:r>
          </a:p>
        </p:txBody>
      </p:sp>
      <p:pic>
        <p:nvPicPr>
          <p:cNvPr id="7" name="Picture 6" descr="med_01_brain_p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2ᵉ neurodégénérescence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Bradykinésie + tremblement/rigidité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Symptômes non moteurs majeurs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α-synucléine + inflammation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Traitements = symptomatiques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Aucun modificateur certain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Besoin non couvert : freiner la neurodégénérescence — sans confondre MDS-UPDRS / score moteur et neuroprotection.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5 / 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201168"/>
            <a:ext cx="1234440" cy="64008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32004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03 · PD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56032"/>
            <a:ext cx="6583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Calibri"/>
              </a:rPr>
              <a:t>PHYSIOPATHOLOGIE MULTIFACTORIELLE</a:t>
            </a:r>
          </a:p>
        </p:txBody>
      </p:sp>
      <p:sp>
        <p:nvSpPr>
          <p:cNvPr id="8" name="Rectangle 7"/>
          <p:cNvSpPr/>
          <p:nvPr/>
        </p:nvSpPr>
        <p:spPr>
          <a:xfrm>
            <a:off x="8366760" y="137160"/>
            <a:ext cx="3566160" cy="77724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0" y="18288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POINT CLÉ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411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Plusieurs cibles potentielles du GLP-1R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1234440"/>
            <a:ext cx="5394960" cy="52120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34416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95D39"/>
                </a:solidFill>
                <a:latin typeface="Calibri"/>
              </a:rPr>
              <a:t>MÉCANISMES PROPOSÉS</a:t>
            </a:r>
          </a:p>
        </p:txBody>
      </p:sp>
      <p:sp>
        <p:nvSpPr>
          <p:cNvPr id="13" name="Oval 12"/>
          <p:cNvSpPr/>
          <p:nvPr/>
        </p:nvSpPr>
        <p:spPr>
          <a:xfrm>
            <a:off x="393192" y="1810512"/>
            <a:ext cx="438912" cy="438912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1874520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1737360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1874520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Agrégation d’α-synucléine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350007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D95D39"/>
                </a:solidFill>
                <a:latin typeface="Calibri"/>
              </a:rPr>
              <a:t>▼</a:t>
            </a:r>
          </a:p>
        </p:txBody>
      </p:sp>
      <p:sp>
        <p:nvSpPr>
          <p:cNvPr id="18" name="Oval 17"/>
          <p:cNvSpPr/>
          <p:nvPr/>
        </p:nvSpPr>
        <p:spPr>
          <a:xfrm>
            <a:off x="393192" y="2633471"/>
            <a:ext cx="438912" cy="438912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3192" y="269747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" y="256031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269747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Dysfonction mitochondriale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17296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D95D39"/>
                </a:solidFill>
                <a:latin typeface="Calibri"/>
              </a:rPr>
              <a:t>▼</a:t>
            </a:r>
          </a:p>
        </p:txBody>
      </p:sp>
      <p:sp>
        <p:nvSpPr>
          <p:cNvPr id="23" name="Oval 22"/>
          <p:cNvSpPr/>
          <p:nvPr/>
        </p:nvSpPr>
        <p:spPr>
          <a:xfrm>
            <a:off x="393192" y="3456431"/>
            <a:ext cx="438912" cy="438912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3192" y="352043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0120" y="338327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352043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Stress oxydatif (ROS)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399592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D95D39"/>
                </a:solidFill>
                <a:latin typeface="Calibri"/>
              </a:rPr>
              <a:t>▼</a:t>
            </a:r>
          </a:p>
        </p:txBody>
      </p:sp>
      <p:sp>
        <p:nvSpPr>
          <p:cNvPr id="28" name="Oval 27"/>
          <p:cNvSpPr/>
          <p:nvPr/>
        </p:nvSpPr>
        <p:spPr>
          <a:xfrm>
            <a:off x="393192" y="4279391"/>
            <a:ext cx="438912" cy="438912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93192" y="434339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0120" y="420623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0" y="434339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Neuroinflammation microgliale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81888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D95D39"/>
                </a:solidFill>
                <a:latin typeface="Calibri"/>
              </a:rPr>
              <a:t>▼</a:t>
            </a:r>
          </a:p>
        </p:txBody>
      </p:sp>
      <p:sp>
        <p:nvSpPr>
          <p:cNvPr id="33" name="Oval 32"/>
          <p:cNvSpPr/>
          <p:nvPr/>
        </p:nvSpPr>
        <p:spPr>
          <a:xfrm>
            <a:off x="393192" y="5102351"/>
            <a:ext cx="438912" cy="438912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3192" y="516635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" y="502919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516635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Autophagie / protéostase altérées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06440" y="1234440"/>
            <a:ext cx="6126480" cy="52120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0" y="1344168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F4F"/>
                </a:solidFill>
                <a:latin typeface="Calibri"/>
              </a:rPr>
              <a:t>IMPLICATIONS CLINIQUES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43600" y="1737360"/>
            <a:ext cx="58521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62472" y="1920240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62472" y="1965960"/>
            <a:ext cx="3840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0" y="18470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Hétérogénéité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0" y="2176272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Expression clinique et progression très variables d’un patient à l’autre.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0" y="3081528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062472" y="3264408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62472" y="3310128"/>
            <a:ext cx="3840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80" y="319125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Cibles GLP-1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0" y="35204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Survie cellulaire, mitochondries, inflammation, α-syn (préclinique).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943600" y="4242816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062472" y="4425696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62472" y="4471416"/>
            <a:ext cx="3840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83680" y="435254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Limite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83680" y="4681728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Mécanismes plausibles ≠ démonstration d’efficacité humaine.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6 / 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201168"/>
            <a:ext cx="1234440" cy="64008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32004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04 · SOINS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56032"/>
            <a:ext cx="6583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Calibri"/>
              </a:rPr>
              <a:t>TRAITEMENTS ACTUELS DE LA PARKINSON</a:t>
            </a:r>
          </a:p>
        </p:txBody>
      </p:sp>
      <p:sp>
        <p:nvSpPr>
          <p:cNvPr id="8" name="Rectangle 7"/>
          <p:cNvSpPr/>
          <p:nvPr/>
        </p:nvSpPr>
        <p:spPr>
          <a:xfrm>
            <a:off x="8366760" y="137160"/>
            <a:ext cx="3566160" cy="77724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0" y="18288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POINT CLÉ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411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MDS-UPDRS ≠ neuroprotection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1234440"/>
            <a:ext cx="5394960" cy="52120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34416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STRATÉGIE SYMPTOMATIQUE</a:t>
            </a:r>
          </a:p>
        </p:txBody>
      </p:sp>
      <p:sp>
        <p:nvSpPr>
          <p:cNvPr id="13" name="Oval 12"/>
          <p:cNvSpPr/>
          <p:nvPr/>
        </p:nvSpPr>
        <p:spPr>
          <a:xfrm>
            <a:off x="393192" y="1810512"/>
            <a:ext cx="438912" cy="438912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1874520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1737360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1874520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Lévodopa = référence motrice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350007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98A1A"/>
                </a:solidFill>
                <a:latin typeface="Calibri"/>
              </a:rPr>
              <a:t>▼</a:t>
            </a:r>
          </a:p>
        </p:txBody>
      </p:sp>
      <p:sp>
        <p:nvSpPr>
          <p:cNvPr id="18" name="Oval 17"/>
          <p:cNvSpPr/>
          <p:nvPr/>
        </p:nvSpPr>
        <p:spPr>
          <a:xfrm>
            <a:off x="393192" y="2633471"/>
            <a:ext cx="438912" cy="438912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3192" y="269747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" y="256031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269747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Agonistes dopaminergiques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17296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98A1A"/>
                </a:solidFill>
                <a:latin typeface="Calibri"/>
              </a:rPr>
              <a:t>▼</a:t>
            </a:r>
          </a:p>
        </p:txBody>
      </p:sp>
      <p:sp>
        <p:nvSpPr>
          <p:cNvPr id="23" name="Oval 22"/>
          <p:cNvSpPr/>
          <p:nvPr/>
        </p:nvSpPr>
        <p:spPr>
          <a:xfrm>
            <a:off x="393192" y="3456431"/>
            <a:ext cx="438912" cy="438912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3192" y="352043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0120" y="338327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352043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IMAO-B / ICOMT / amantadine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399592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98A1A"/>
                </a:solidFill>
                <a:latin typeface="Calibri"/>
              </a:rPr>
              <a:t>▼</a:t>
            </a:r>
          </a:p>
        </p:txBody>
      </p:sp>
      <p:sp>
        <p:nvSpPr>
          <p:cNvPr id="28" name="Oval 27"/>
          <p:cNvSpPr/>
          <p:nvPr/>
        </p:nvSpPr>
        <p:spPr>
          <a:xfrm>
            <a:off x="393192" y="4279391"/>
            <a:ext cx="438912" cy="438912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93192" y="434339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0120" y="420623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0" y="434339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Stimulation cérébrale profonde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81888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98A1A"/>
                </a:solidFill>
                <a:latin typeface="Calibri"/>
              </a:rPr>
              <a:t>▼</a:t>
            </a:r>
          </a:p>
        </p:txBody>
      </p:sp>
      <p:sp>
        <p:nvSpPr>
          <p:cNvPr id="33" name="Oval 32"/>
          <p:cNvSpPr/>
          <p:nvPr/>
        </p:nvSpPr>
        <p:spPr>
          <a:xfrm>
            <a:off x="393192" y="5102351"/>
            <a:ext cx="438912" cy="438912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3192" y="516635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" y="502919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516635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Aucun modificateur certain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06440" y="1234440"/>
            <a:ext cx="6126480" cy="52120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0" y="1344168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F4F"/>
                </a:solidFill>
                <a:latin typeface="Calibri"/>
              </a:rPr>
              <a:t>LECTURE MÉTHODOLOGIQUE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43600" y="1737360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62472" y="1920240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62472" y="1965960"/>
            <a:ext cx="3840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0" y="18470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Efficacité motrice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0" y="2176272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Les traitements améliorent les symptômes, pas la dégénérescence.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0" y="2898648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062472" y="3081528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62472" y="3127248"/>
            <a:ext cx="3840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80" y="300837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Scores cliniques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0" y="33375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Une variation MDS-UPDRS peut être symptomatique ou variable.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943600" y="4059936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062472" y="4242816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62472" y="4288536"/>
            <a:ext cx="3840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83680" y="416966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Besoin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83680" y="4498848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Essais longs + biomarqueurs pour prouver un effet modificateur.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7 / 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201168"/>
            <a:ext cx="1234440" cy="64008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32004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05 · RATIONNEL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56032"/>
            <a:ext cx="6583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Calibri"/>
              </a:rPr>
              <a:t>REPOSITIONNEMENT DES AGONISTES DU GLP-1</a:t>
            </a:r>
          </a:p>
        </p:txBody>
      </p:sp>
      <p:sp>
        <p:nvSpPr>
          <p:cNvPr id="8" name="Rectangle 7"/>
          <p:cNvSpPr/>
          <p:nvPr/>
        </p:nvSpPr>
        <p:spPr>
          <a:xfrm>
            <a:off x="8366760" y="137160"/>
            <a:ext cx="3566160" cy="77724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0" y="18288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POINT CLÉ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411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Aucune indication PD à ce jour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1234440"/>
            <a:ext cx="5394960" cy="52120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34416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E7C86"/>
                </a:solidFill>
                <a:latin typeface="Calibri"/>
              </a:rPr>
              <a:t>POURQUOI CETTE CLASSE ?</a:t>
            </a:r>
          </a:p>
        </p:txBody>
      </p:sp>
      <p:sp>
        <p:nvSpPr>
          <p:cNvPr id="13" name="Oval 12"/>
          <p:cNvSpPr/>
          <p:nvPr/>
        </p:nvSpPr>
        <p:spPr>
          <a:xfrm>
            <a:off x="393192" y="1810512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1874520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1737360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1874520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PK/PD et tolérance déjà connues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350007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E7C86"/>
                </a:solidFill>
                <a:latin typeface="Calibri"/>
              </a:rPr>
              <a:t>▼</a:t>
            </a:r>
          </a:p>
        </p:txBody>
      </p:sp>
      <p:sp>
        <p:nvSpPr>
          <p:cNvPr id="18" name="Oval 17"/>
          <p:cNvSpPr/>
          <p:nvPr/>
        </p:nvSpPr>
        <p:spPr>
          <a:xfrm>
            <a:off x="393192" y="2633471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3192" y="269747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" y="256031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269747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GLP-1R présent dans le SNC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17296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E7C86"/>
                </a:solidFill>
                <a:latin typeface="Calibri"/>
              </a:rPr>
              <a:t>▼</a:t>
            </a:r>
          </a:p>
        </p:txBody>
      </p:sp>
      <p:sp>
        <p:nvSpPr>
          <p:cNvPr id="23" name="Oval 22"/>
          <p:cNvSpPr/>
          <p:nvPr/>
        </p:nvSpPr>
        <p:spPr>
          <a:xfrm>
            <a:off x="393192" y="3456431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3192" y="352043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0120" y="338327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352043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Voies AMPc / PI3K / MAPK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399592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E7C86"/>
                </a:solidFill>
                <a:latin typeface="Calibri"/>
              </a:rPr>
              <a:t>▼</a:t>
            </a:r>
          </a:p>
        </p:txBody>
      </p:sp>
      <p:sp>
        <p:nvSpPr>
          <p:cNvPr id="28" name="Oval 27"/>
          <p:cNvSpPr/>
          <p:nvPr/>
        </p:nvSpPr>
        <p:spPr>
          <a:xfrm>
            <a:off x="393192" y="4279391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93192" y="434339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0120" y="420623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0" y="434339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Signaux précliniques favorables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81888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E7C86"/>
                </a:solidFill>
                <a:latin typeface="Calibri"/>
              </a:rPr>
              <a:t>▼</a:t>
            </a:r>
          </a:p>
        </p:txBody>
      </p:sp>
      <p:sp>
        <p:nvSpPr>
          <p:cNvPr id="33" name="Oval 32"/>
          <p:cNvSpPr/>
          <p:nvPr/>
        </p:nvSpPr>
        <p:spPr>
          <a:xfrm>
            <a:off x="393192" y="5102351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3192" y="516635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" y="502919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516635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Essais humains déjà conduits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06440" y="1234440"/>
            <a:ext cx="6126480" cy="52120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0" y="1344168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F4F"/>
                </a:solidFill>
                <a:latin typeface="Calibri"/>
              </a:rPr>
              <a:t>GARDE-FOUS SCIENTIFIQUES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43600" y="1737360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62472" y="1920240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62472" y="1965960"/>
            <a:ext cx="3840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0" y="18470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Pas d’effet de classe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0" y="2176272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Chaque molécule a sa PK, son exposition et ses preuves.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0" y="2898648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062472" y="3081528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62472" y="3127248"/>
            <a:ext cx="3840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80" y="300837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Preuve requise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0" y="33375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Le repositionnement n’exempte pas d’essais rigoureux.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943600" y="4059936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062472" y="4242816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62472" y="4288536"/>
            <a:ext cx="3840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83680" y="416966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Distinction clé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83680" y="4498848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Plausibilité / symptomatique / modificateur de maladie.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8 / 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ec_ch1_gl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217920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17920" y="0"/>
            <a:ext cx="109728" cy="685800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E7C86"/>
                </a:solidFill>
                <a:latin typeface="Calibri"/>
              </a:rPr>
              <a:t>PARTIE  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Chapitre 1 — Physiologie &amp; pharmacologie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23360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B5DCE4"/>
                </a:solidFill>
                <a:latin typeface="Calibri"/>
              </a:rPr>
              <a:t>GLP-1, récepteur, courte/longue durée, panorama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43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AB8C0"/>
                </a:solidFill>
                <a:latin typeface="Calibri"/>
              </a:rPr>
              <a:t>9 / 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Physiologie du GLP-1 — du tube digestif au pancréas</a:t>
            </a:r>
          </a:p>
        </p:txBody>
      </p:sp>
      <p:pic>
        <p:nvPicPr>
          <p:cNvPr id="7" name="Picture 6" descr="med_02_glp1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Cellules L intestinales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Hormone incrétine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Insuline glucose-dépendante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DPP-4 : demi-vie 1–2 min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Agonistes résistants DPP-4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Base de toute la classe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Sans résistance à la DPP-4, pas de médicament utilisable : c’est le cœur du design pharmaceutique.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10 / 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Récepteur GLP-1R et voies de signalisation</a:t>
            </a:r>
          </a:p>
        </p:txBody>
      </p:sp>
      <p:pic>
        <p:nvPicPr>
          <p:cNvPr id="7" name="Picture 6" descr="med_03_recep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1A4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GPCR classe B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Pancréas, cœur, rein, SNC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AMPc → PKA / EPAC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PI3K / Akt : survie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MAPK / ERK : réparation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Base de la neuroprotection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Même récepteur, plusieurs cascades : métabolisme périphérique et survie neuronale.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11 / 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Courte vs longue durée d’action</a:t>
            </a:r>
          </a:p>
        </p:txBody>
      </p:sp>
      <p:pic>
        <p:nvPicPr>
          <p:cNvPr id="7" name="Picture 6" descr="med_04_agoni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Courte : exénatide, lixisénatide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Stimulation intermittente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Fort effet postprandial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Longue : lira, dula, séma…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Exposition continue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Meilleur contrôle HbA1c / jeûne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La durée d’exposition du récepteur explique les différences d’efficacité clinique.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12 / 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A4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201168"/>
            <a:ext cx="1234440" cy="640080"/>
          </a:xfrm>
          <a:prstGeom prst="rect">
            <a:avLst/>
          </a:prstGeom>
          <a:solidFill>
            <a:srgbClr val="1A4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32004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06 · MOLÉCULES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56032"/>
            <a:ext cx="6583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Calibri"/>
              </a:rPr>
              <a:t>PANORAMA DES AGONISTES DU GLP-1R</a:t>
            </a:r>
          </a:p>
        </p:txBody>
      </p:sp>
      <p:sp>
        <p:nvSpPr>
          <p:cNvPr id="8" name="Rectangle 7"/>
          <p:cNvSpPr/>
          <p:nvPr/>
        </p:nvSpPr>
        <p:spPr>
          <a:xfrm>
            <a:off x="8366760" y="137160"/>
            <a:ext cx="3566160" cy="777240"/>
          </a:xfrm>
          <a:prstGeom prst="rect">
            <a:avLst/>
          </a:prstGeom>
          <a:solidFill>
            <a:srgbClr val="1A4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0" y="18288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POINT CLÉ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411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Tirzépatide ≠ sélectif GLP-1R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1234440"/>
            <a:ext cx="5394960" cy="52120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34416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4F7A"/>
                </a:solidFill>
                <a:latin typeface="Calibri"/>
              </a:rPr>
              <a:t>LOGIQUE DE CLASSIFICATION</a:t>
            </a:r>
          </a:p>
        </p:txBody>
      </p:sp>
      <p:sp>
        <p:nvSpPr>
          <p:cNvPr id="13" name="Oval 12"/>
          <p:cNvSpPr/>
          <p:nvPr/>
        </p:nvSpPr>
        <p:spPr>
          <a:xfrm>
            <a:off x="393192" y="1810512"/>
            <a:ext cx="438912" cy="438912"/>
          </a:xfrm>
          <a:prstGeom prst="ellipse">
            <a:avLst/>
          </a:prstGeom>
          <a:solidFill>
            <a:srgbClr val="1A4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1874520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1737360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1874520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Exendine-4 : exénatide, lixisénatide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350007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4F7A"/>
                </a:solidFill>
                <a:latin typeface="Calibri"/>
              </a:rPr>
              <a:t>▼</a:t>
            </a:r>
          </a:p>
        </p:txBody>
      </p:sp>
      <p:sp>
        <p:nvSpPr>
          <p:cNvPr id="18" name="Oval 17"/>
          <p:cNvSpPr/>
          <p:nvPr/>
        </p:nvSpPr>
        <p:spPr>
          <a:xfrm>
            <a:off x="393192" y="2633471"/>
            <a:ext cx="438912" cy="438912"/>
          </a:xfrm>
          <a:prstGeom prst="ellipse">
            <a:avLst/>
          </a:prstGeom>
          <a:solidFill>
            <a:srgbClr val="1A4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3192" y="269747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" y="256031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269747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Analogues GLP-1 humain : lira/dula/séma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17296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4F7A"/>
                </a:solidFill>
                <a:latin typeface="Calibri"/>
              </a:rPr>
              <a:t>▼</a:t>
            </a:r>
          </a:p>
        </p:txBody>
      </p:sp>
      <p:sp>
        <p:nvSpPr>
          <p:cNvPr id="23" name="Oval 22"/>
          <p:cNvSpPr/>
          <p:nvPr/>
        </p:nvSpPr>
        <p:spPr>
          <a:xfrm>
            <a:off x="393192" y="3456431"/>
            <a:ext cx="438912" cy="438912"/>
          </a:xfrm>
          <a:prstGeom prst="ellipse">
            <a:avLst/>
          </a:prstGeom>
          <a:solidFill>
            <a:srgbClr val="1A4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3192" y="352043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0120" y="338327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352043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Courte vs longue durée d’action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399592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4F7A"/>
                </a:solidFill>
                <a:latin typeface="Calibri"/>
              </a:rPr>
              <a:t>▼</a:t>
            </a:r>
          </a:p>
        </p:txBody>
      </p:sp>
      <p:sp>
        <p:nvSpPr>
          <p:cNvPr id="28" name="Oval 27"/>
          <p:cNvSpPr/>
          <p:nvPr/>
        </p:nvSpPr>
        <p:spPr>
          <a:xfrm>
            <a:off x="393192" y="4279391"/>
            <a:ext cx="438912" cy="438912"/>
          </a:xfrm>
          <a:prstGeom prst="ellipse">
            <a:avLst/>
          </a:prstGeom>
          <a:solidFill>
            <a:srgbClr val="1A4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93192" y="434339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0120" y="420623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0" y="434339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PK différente → effets différents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81888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4F7A"/>
                </a:solidFill>
                <a:latin typeface="Calibri"/>
              </a:rPr>
              <a:t>▼</a:t>
            </a:r>
          </a:p>
        </p:txBody>
      </p:sp>
      <p:sp>
        <p:nvSpPr>
          <p:cNvPr id="33" name="Oval 32"/>
          <p:cNvSpPr/>
          <p:nvPr/>
        </p:nvSpPr>
        <p:spPr>
          <a:xfrm>
            <a:off x="393192" y="5102351"/>
            <a:ext cx="438912" cy="438912"/>
          </a:xfrm>
          <a:prstGeom prst="ellipse">
            <a:avLst/>
          </a:prstGeom>
          <a:solidFill>
            <a:srgbClr val="1A4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3192" y="516635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" y="502919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516635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Tirzépatide : double GIP/GLP-1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06440" y="1234440"/>
            <a:ext cx="6126480" cy="52120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0" y="1344168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F4F"/>
                </a:solidFill>
                <a:latin typeface="Calibri"/>
              </a:rPr>
              <a:t>ANCRAGE PARKINSON / PREUVES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43600" y="1737360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62472" y="1920240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62472" y="1965960"/>
            <a:ext cx="3840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0" y="18470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Exénatide LP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0" y="2176272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Évalué en PD ; Exenatide-PD3 négatif (ph.III).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0" y="2898648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062472" y="3081528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62472" y="3127248"/>
            <a:ext cx="3840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80" y="300837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Lixisénatide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0" y="33375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LIXIPARK ph.II : signal moteur +3,08 pts.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943600" y="4059936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062472" y="4242816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62472" y="4288536"/>
            <a:ext cx="3840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83680" y="416966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Sémaglutide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83680" y="4498848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SELECT / FLOW ; MOST-ABLE (oral) en cours.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13 / 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201168"/>
            <a:ext cx="1234440" cy="64008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32004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07 · 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56032"/>
            <a:ext cx="6583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Calibri"/>
              </a:rPr>
              <a:t>EFFETS MÉTABOLIQUES DES AGONISTES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8366760" y="137160"/>
            <a:ext cx="3566160" cy="77724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0" y="18288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POINT CLÉ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411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Action plurimodale glucose-dépendante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1234440"/>
            <a:ext cx="5394960" cy="52120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34416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E7C86"/>
                </a:solidFill>
                <a:latin typeface="Calibri"/>
              </a:rPr>
              <a:t>MÉCANISME D’ACTION</a:t>
            </a:r>
          </a:p>
        </p:txBody>
      </p:sp>
      <p:sp>
        <p:nvSpPr>
          <p:cNvPr id="13" name="Oval 12"/>
          <p:cNvSpPr/>
          <p:nvPr/>
        </p:nvSpPr>
        <p:spPr>
          <a:xfrm>
            <a:off x="393192" y="1810512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1874520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1737360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1874520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↑ Insuline (si hyperglycémie)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350007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E7C86"/>
                </a:solidFill>
                <a:latin typeface="Calibri"/>
              </a:rPr>
              <a:t>▼</a:t>
            </a:r>
          </a:p>
        </p:txBody>
      </p:sp>
      <p:sp>
        <p:nvSpPr>
          <p:cNvPr id="18" name="Oval 17"/>
          <p:cNvSpPr/>
          <p:nvPr/>
        </p:nvSpPr>
        <p:spPr>
          <a:xfrm>
            <a:off x="393192" y="2633471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3192" y="269747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" y="256031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269747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↓ Glucagon (si hyperglycémie)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17296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E7C86"/>
                </a:solidFill>
                <a:latin typeface="Calibri"/>
              </a:rPr>
              <a:t>▼</a:t>
            </a:r>
          </a:p>
        </p:txBody>
      </p:sp>
      <p:sp>
        <p:nvSpPr>
          <p:cNvPr id="23" name="Oval 22"/>
          <p:cNvSpPr/>
          <p:nvPr/>
        </p:nvSpPr>
        <p:spPr>
          <a:xfrm>
            <a:off x="393192" y="3456431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3192" y="352043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0120" y="338327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352043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Ralentissement vidange gastrique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399592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E7C86"/>
                </a:solidFill>
                <a:latin typeface="Calibri"/>
              </a:rPr>
              <a:t>▼</a:t>
            </a:r>
          </a:p>
        </p:txBody>
      </p:sp>
      <p:sp>
        <p:nvSpPr>
          <p:cNvPr id="28" name="Oval 27"/>
          <p:cNvSpPr/>
          <p:nvPr/>
        </p:nvSpPr>
        <p:spPr>
          <a:xfrm>
            <a:off x="393192" y="4279391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93192" y="434339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0120" y="420623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0" y="434339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↑ Satiété / ↓ apports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81888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E7C86"/>
                </a:solidFill>
                <a:latin typeface="Calibri"/>
              </a:rPr>
              <a:t>▼</a:t>
            </a:r>
          </a:p>
        </p:txBody>
      </p:sp>
      <p:sp>
        <p:nvSpPr>
          <p:cNvPr id="33" name="Oval 32"/>
          <p:cNvSpPr/>
          <p:nvPr/>
        </p:nvSpPr>
        <p:spPr>
          <a:xfrm>
            <a:off x="393192" y="5102351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3192" y="516635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" y="502919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516635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Effets cardio-rénaux (certaines molécules)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06440" y="1234440"/>
            <a:ext cx="6126480" cy="52120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0" y="1344168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F4F"/>
                </a:solidFill>
                <a:latin typeface="Calibri"/>
              </a:rPr>
              <a:t>CONSÉQUENCES PRATIQUES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43600" y="1737360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62472" y="1920240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62472" y="1965960"/>
            <a:ext cx="3840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0" y="18470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Hypoglycémie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0" y="2176272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Faible en monothérapie ; ↑ si insuline/sulfamides.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0" y="2898648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062472" y="3081528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62472" y="3127248"/>
            <a:ext cx="3840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80" y="300837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Courte durée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0" y="33375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Effet postprandial plus marqué (vidange).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943600" y="4059936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062472" y="4242816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62472" y="4288536"/>
            <a:ext cx="3840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83680" y="416966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Longue durée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83680" y="4498848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Meilleur contrôle jeûne / HbA1c (exposition continue).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14 / 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ec_ch2_metabol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217920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17920" y="0"/>
            <a:ext cx="109728" cy="6858000"/>
          </a:xfrm>
          <a:prstGeom prst="rect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B7CB8"/>
                </a:solidFill>
                <a:latin typeface="Calibri"/>
              </a:rPr>
              <a:t>PARTIE 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Chapitre 2 — Indications validées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23360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B5DCE4"/>
                </a:solidFill>
                <a:latin typeface="Calibri"/>
              </a:rPr>
              <a:t>DT2, obésité, cardio-rénal, tolérance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43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AB8C0"/>
                </a:solidFill>
                <a:latin typeface="Calibri"/>
              </a:rPr>
              <a:t>15 / 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201168"/>
            <a:ext cx="1234440" cy="64008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32004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08 · DT2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56032"/>
            <a:ext cx="6583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Calibri"/>
              </a:rPr>
              <a:t>DIABÈTE DE TYPE 2 : PLACE DES GLP-1R</a:t>
            </a:r>
          </a:p>
        </p:txBody>
      </p:sp>
      <p:sp>
        <p:nvSpPr>
          <p:cNvPr id="8" name="Rectangle 7"/>
          <p:cNvSpPr/>
          <p:nvPr/>
        </p:nvSpPr>
        <p:spPr>
          <a:xfrm>
            <a:off x="8366760" y="137160"/>
            <a:ext cx="3566160" cy="77724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0" y="18288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POINT CLÉ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411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Priorité aux comorbidités CV/MRC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1234440"/>
            <a:ext cx="5394960" cy="52120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34416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E7C86"/>
                </a:solidFill>
                <a:latin typeface="Calibri"/>
              </a:rPr>
              <a:t>RATIONNEL PHYSIOPATHOLOGIQUE</a:t>
            </a:r>
          </a:p>
        </p:txBody>
      </p:sp>
      <p:sp>
        <p:nvSpPr>
          <p:cNvPr id="13" name="Oval 12"/>
          <p:cNvSpPr/>
          <p:nvPr/>
        </p:nvSpPr>
        <p:spPr>
          <a:xfrm>
            <a:off x="393192" y="1810512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1874520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1737360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1874520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Insulinorésistance + déficit 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350007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E7C86"/>
                </a:solidFill>
                <a:latin typeface="Calibri"/>
              </a:rPr>
              <a:t>▼</a:t>
            </a:r>
          </a:p>
        </p:txBody>
      </p:sp>
      <p:sp>
        <p:nvSpPr>
          <p:cNvPr id="18" name="Oval 17"/>
          <p:cNvSpPr/>
          <p:nvPr/>
        </p:nvSpPr>
        <p:spPr>
          <a:xfrm>
            <a:off x="393192" y="2633471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3192" y="269747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" y="256031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269747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Effet incrétine diminué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17296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E7C86"/>
                </a:solidFill>
                <a:latin typeface="Calibri"/>
              </a:rPr>
              <a:t>▼</a:t>
            </a:r>
          </a:p>
        </p:txBody>
      </p:sp>
      <p:sp>
        <p:nvSpPr>
          <p:cNvPr id="23" name="Oval 22"/>
          <p:cNvSpPr/>
          <p:nvPr/>
        </p:nvSpPr>
        <p:spPr>
          <a:xfrm>
            <a:off x="393192" y="3456431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3192" y="352043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0120" y="338327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352043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Activation pharmacologique GLP-1R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399592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E7C86"/>
                </a:solidFill>
                <a:latin typeface="Calibri"/>
              </a:rPr>
              <a:t>▼</a:t>
            </a:r>
          </a:p>
        </p:txBody>
      </p:sp>
      <p:sp>
        <p:nvSpPr>
          <p:cNvPr id="28" name="Oval 27"/>
          <p:cNvSpPr/>
          <p:nvPr/>
        </p:nvSpPr>
        <p:spPr>
          <a:xfrm>
            <a:off x="393192" y="4279391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93192" y="434339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0120" y="420623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0" y="434339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↓ glycémie jeûne et postprandiale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81888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E7C86"/>
                </a:solidFill>
                <a:latin typeface="Calibri"/>
              </a:rPr>
              <a:t>▼</a:t>
            </a:r>
          </a:p>
        </p:txBody>
      </p:sp>
      <p:sp>
        <p:nvSpPr>
          <p:cNvPr id="33" name="Oval 32"/>
          <p:cNvSpPr/>
          <p:nvPr/>
        </p:nvSpPr>
        <p:spPr>
          <a:xfrm>
            <a:off x="393192" y="5102351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3192" y="516635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" y="502919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516635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↓ poids + faible hypo intrinsèque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06440" y="1234440"/>
            <a:ext cx="6126480" cy="52120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0" y="1344168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F4F"/>
                </a:solidFill>
                <a:latin typeface="Calibri"/>
              </a:rPr>
              <a:t>DÉCISION THÉRAPEUTIQUE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43600" y="1737360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62472" y="1920240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62472" y="1965960"/>
            <a:ext cx="3840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0" y="18470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Cibles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0" y="2176272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HbA1c n’est plus le seul critère : CV, rein, poids, préférences.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0" y="2898648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062472" y="3081528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62472" y="3127248"/>
            <a:ext cx="3840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80" y="300837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Introduction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0" y="33375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Possible tôt si MCV/MRC, selon molécule et recommandations.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943600" y="4059936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062472" y="4242816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62472" y="4288536"/>
            <a:ext cx="3840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83680" y="416966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Associations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83680" y="4498848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Attention insuline/sulfamides (hypoglycémie) et SGLT2 (hydratation).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16 / 30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201168"/>
            <a:ext cx="1234440" cy="64008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32004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09 · POIDS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56032"/>
            <a:ext cx="6583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Calibri"/>
              </a:rPr>
              <a:t>OBÉSITÉ ET RÉDUCTION PONDÉRALE</a:t>
            </a:r>
          </a:p>
        </p:txBody>
      </p:sp>
      <p:sp>
        <p:nvSpPr>
          <p:cNvPr id="8" name="Rectangle 7"/>
          <p:cNvSpPr/>
          <p:nvPr/>
        </p:nvSpPr>
        <p:spPr>
          <a:xfrm>
            <a:off x="8366760" y="137160"/>
            <a:ext cx="3566160" cy="77724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0" y="18288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POINT CLÉ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411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Réponse variable · reprise après arrêt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1234440"/>
            <a:ext cx="5394960" cy="52120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34416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MÉCANISME PONDÉRAL</a:t>
            </a:r>
          </a:p>
        </p:txBody>
      </p:sp>
      <p:sp>
        <p:nvSpPr>
          <p:cNvPr id="13" name="Oval 12"/>
          <p:cNvSpPr/>
          <p:nvPr/>
        </p:nvSpPr>
        <p:spPr>
          <a:xfrm>
            <a:off x="393192" y="1810512"/>
            <a:ext cx="438912" cy="438912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1874520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1737360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1874520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↑ satiété / ↓ faim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350007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98A1A"/>
                </a:solidFill>
                <a:latin typeface="Calibri"/>
              </a:rPr>
              <a:t>▼</a:t>
            </a:r>
          </a:p>
        </p:txBody>
      </p:sp>
      <p:sp>
        <p:nvSpPr>
          <p:cNvPr id="18" name="Oval 17"/>
          <p:cNvSpPr/>
          <p:nvPr/>
        </p:nvSpPr>
        <p:spPr>
          <a:xfrm>
            <a:off x="393192" y="2633471"/>
            <a:ext cx="438912" cy="438912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3192" y="269747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" y="256031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269747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↓ apports énergétiques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17296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98A1A"/>
                </a:solidFill>
                <a:latin typeface="Calibri"/>
              </a:rPr>
              <a:t>▼</a:t>
            </a:r>
          </a:p>
        </p:txBody>
      </p:sp>
      <p:sp>
        <p:nvSpPr>
          <p:cNvPr id="23" name="Oval 22"/>
          <p:cNvSpPr/>
          <p:nvPr/>
        </p:nvSpPr>
        <p:spPr>
          <a:xfrm>
            <a:off x="393192" y="3456431"/>
            <a:ext cx="438912" cy="438912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3192" y="352043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0120" y="338327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352043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Liraglutide 3 mg (SCALE)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399592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98A1A"/>
                </a:solidFill>
                <a:latin typeface="Calibri"/>
              </a:rPr>
              <a:t>▼</a:t>
            </a:r>
          </a:p>
        </p:txBody>
      </p:sp>
      <p:sp>
        <p:nvSpPr>
          <p:cNvPr id="28" name="Oval 27"/>
          <p:cNvSpPr/>
          <p:nvPr/>
        </p:nvSpPr>
        <p:spPr>
          <a:xfrm>
            <a:off x="393192" y="4279391"/>
            <a:ext cx="438912" cy="438912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93192" y="434339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0120" y="420623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0" y="434339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Sémaglutide hebdo (STEP)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81888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98A1A"/>
                </a:solidFill>
                <a:latin typeface="Calibri"/>
              </a:rPr>
              <a:t>▼</a:t>
            </a:r>
          </a:p>
        </p:txBody>
      </p:sp>
      <p:sp>
        <p:nvSpPr>
          <p:cNvPr id="33" name="Oval 32"/>
          <p:cNvSpPr/>
          <p:nvPr/>
        </p:nvSpPr>
        <p:spPr>
          <a:xfrm>
            <a:off x="393192" y="5102351"/>
            <a:ext cx="438912" cy="438912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3192" y="516635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" y="502919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516635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Tirzépatide : double agoniste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06440" y="1234440"/>
            <a:ext cx="6126480" cy="52120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0" y="1344168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F4F"/>
                </a:solidFill>
                <a:latin typeface="Calibri"/>
              </a:rPr>
              <a:t>VIGILANCE CLINIQUE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43600" y="1737360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62472" y="1920240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62472" y="1965960"/>
            <a:ext cx="3840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0" y="18470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Bénéfice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0" y="2176272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Utile si obésité + risque cardiométabolique.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0" y="2898648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062472" y="3081528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62472" y="3127248"/>
            <a:ext cx="3840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80" y="300837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Risque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0" y="33375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Âgés / fragiles : dénutrition, sarcopénie, déshydratation.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943600" y="4059936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062472" y="4242816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62472" y="4288536"/>
            <a:ext cx="3840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83680" y="416966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Suivi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83680" y="4498848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Poids + apports + digestif + force / autonomie.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17 / 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2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Cardioprotection et néphroprotection</a:t>
            </a:r>
          </a:p>
        </p:txBody>
      </p:sp>
      <p:pic>
        <p:nvPicPr>
          <p:cNvPr id="7" name="Picture 6" descr="med_05_cardiore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LEADER : liraglutide (MACE↓)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SUSTAIN-6 : sémaglutide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REWIND : dulaglutide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SELECT : séma sans DT2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FLOW : séma + MRC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Molécule ≠ classe entière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Bénéfices cardio-rénaux démontrés pour certaines molécules — pas une interchangeabilité automatique.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18 / 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201168"/>
            <a:ext cx="1234440" cy="64008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32004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10 · SÉCURITÉ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56032"/>
            <a:ext cx="6583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Calibri"/>
              </a:rPr>
              <a:t>TOLÉRANCE ET SÉCURITÉ D’EMPLOI</a:t>
            </a:r>
          </a:p>
        </p:txBody>
      </p:sp>
      <p:sp>
        <p:nvSpPr>
          <p:cNvPr id="8" name="Rectangle 7"/>
          <p:cNvSpPr/>
          <p:nvPr/>
        </p:nvSpPr>
        <p:spPr>
          <a:xfrm>
            <a:off x="8366760" y="137160"/>
            <a:ext cx="3566160" cy="77724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0" y="18288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POINT CLÉ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411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Titration = clé d’adhésion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1234440"/>
            <a:ext cx="5394960" cy="52120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34416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95D39"/>
                </a:solidFill>
                <a:latin typeface="Calibri"/>
              </a:rPr>
              <a:t>CASCADE DES EI DIGESTIFS</a:t>
            </a:r>
          </a:p>
        </p:txBody>
      </p:sp>
      <p:sp>
        <p:nvSpPr>
          <p:cNvPr id="13" name="Oval 12"/>
          <p:cNvSpPr/>
          <p:nvPr/>
        </p:nvSpPr>
        <p:spPr>
          <a:xfrm>
            <a:off x="393192" y="1810512"/>
            <a:ext cx="438912" cy="438912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1874520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1737360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1874520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Instauration / ↑ dose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350007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D95D39"/>
                </a:solidFill>
                <a:latin typeface="Calibri"/>
              </a:rPr>
              <a:t>▼</a:t>
            </a:r>
          </a:p>
        </p:txBody>
      </p:sp>
      <p:sp>
        <p:nvSpPr>
          <p:cNvPr id="18" name="Oval 17"/>
          <p:cNvSpPr/>
          <p:nvPr/>
        </p:nvSpPr>
        <p:spPr>
          <a:xfrm>
            <a:off x="393192" y="2633471"/>
            <a:ext cx="438912" cy="438912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3192" y="269747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" y="256031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269747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Nausées, vomissements, diarrhée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17296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D95D39"/>
                </a:solidFill>
                <a:latin typeface="Calibri"/>
              </a:rPr>
              <a:t>▼</a:t>
            </a:r>
          </a:p>
        </p:txBody>
      </p:sp>
      <p:sp>
        <p:nvSpPr>
          <p:cNvPr id="23" name="Oval 22"/>
          <p:cNvSpPr/>
          <p:nvPr/>
        </p:nvSpPr>
        <p:spPr>
          <a:xfrm>
            <a:off x="393192" y="3456431"/>
            <a:ext cx="438912" cy="438912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3192" y="352043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0120" y="338327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352043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↓ appétit / constipation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399592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D95D39"/>
                </a:solidFill>
                <a:latin typeface="Calibri"/>
              </a:rPr>
              <a:t>▼</a:t>
            </a:r>
          </a:p>
        </p:txBody>
      </p:sp>
      <p:sp>
        <p:nvSpPr>
          <p:cNvPr id="28" name="Oval 27"/>
          <p:cNvSpPr/>
          <p:nvPr/>
        </p:nvSpPr>
        <p:spPr>
          <a:xfrm>
            <a:off x="393192" y="4279391"/>
            <a:ext cx="438912" cy="438912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93192" y="434339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0120" y="420623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0" y="434339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Risque déshydratation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81888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D95D39"/>
                </a:solidFill>
                <a:latin typeface="Calibri"/>
              </a:rPr>
              <a:t>▼</a:t>
            </a:r>
          </a:p>
        </p:txBody>
      </p:sp>
      <p:sp>
        <p:nvSpPr>
          <p:cNvPr id="33" name="Oval 32"/>
          <p:cNvSpPr/>
          <p:nvPr/>
        </p:nvSpPr>
        <p:spPr>
          <a:xfrm>
            <a:off x="393192" y="5102351"/>
            <a:ext cx="438912" cy="438912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3192" y="516635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" y="502919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516635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Arrêt si intolérance sévère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06440" y="1234440"/>
            <a:ext cx="6126480" cy="52120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0" y="1344168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F4F"/>
                </a:solidFill>
                <a:latin typeface="Calibri"/>
              </a:rPr>
              <a:t>POINTS DE VIGILANCE PHARMACIEN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43600" y="1737360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62472" y="1920240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62472" y="1965960"/>
            <a:ext cx="3840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0" y="18470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Hypoglycémie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0" y="2176272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Rare seul ; surveiller si insuline ou sulfamides.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0" y="2898648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062472" y="3081528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62472" y="3127248"/>
            <a:ext cx="3840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80" y="300837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Alertes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0" y="33375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Douleur abdominale intense : biliaire / pancréatite.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943600" y="4059936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062472" y="4242816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62472" y="4288536"/>
            <a:ext cx="3840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83680" y="416966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Éducation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83680" y="4498848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Injection, conservation, oubli, repas légers, hydratation.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19 / 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ec_ch3_parkin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217920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17920" y="0"/>
            <a:ext cx="109728" cy="685800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A8F62"/>
                </a:solidFill>
                <a:latin typeface="Calibri"/>
              </a:rPr>
              <a:t>PARTIE  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Chapitre 3 — Parkinson &amp; preuves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23360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B5DCE4"/>
                </a:solidFill>
                <a:latin typeface="Calibri"/>
              </a:rPr>
              <a:t>Mécanismes, préclinique, essais, pharmacien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43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AB8C0"/>
                </a:solidFill>
                <a:latin typeface="Calibri"/>
              </a:rPr>
              <a:t>20 / 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201168"/>
            <a:ext cx="1234440" cy="64008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32004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11 · PD/GLP-1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56032"/>
            <a:ext cx="6583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Calibri"/>
              </a:rPr>
              <a:t>POURQUOI EXPLORER LE GLP-1 DANS PARKINSON ?</a:t>
            </a:r>
          </a:p>
        </p:txBody>
      </p:sp>
      <p:sp>
        <p:nvSpPr>
          <p:cNvPr id="8" name="Rectangle 7"/>
          <p:cNvSpPr/>
          <p:nvPr/>
        </p:nvSpPr>
        <p:spPr>
          <a:xfrm>
            <a:off x="8366760" y="137160"/>
            <a:ext cx="3566160" cy="77724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0" y="18288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POINT CLÉ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411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Hypothèses précliniques, pas une preuve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1234440"/>
            <a:ext cx="5394960" cy="52120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34416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A8F62"/>
                </a:solidFill>
                <a:latin typeface="Calibri"/>
              </a:rPr>
              <a:t>CHAÎNE MÉCANISTIQUE PROPOSÉE</a:t>
            </a:r>
          </a:p>
        </p:txBody>
      </p:sp>
      <p:sp>
        <p:nvSpPr>
          <p:cNvPr id="13" name="Oval 12"/>
          <p:cNvSpPr/>
          <p:nvPr/>
        </p:nvSpPr>
        <p:spPr>
          <a:xfrm>
            <a:off x="393192" y="1810512"/>
            <a:ext cx="438912" cy="438912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1874520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1737360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1874520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Activation du GLP-1R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350007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A8F62"/>
                </a:solidFill>
                <a:latin typeface="Calibri"/>
              </a:rPr>
              <a:t>▼</a:t>
            </a:r>
          </a:p>
        </p:txBody>
      </p:sp>
      <p:sp>
        <p:nvSpPr>
          <p:cNvPr id="18" name="Oval 17"/>
          <p:cNvSpPr/>
          <p:nvPr/>
        </p:nvSpPr>
        <p:spPr>
          <a:xfrm>
            <a:off x="393192" y="2633471"/>
            <a:ext cx="438912" cy="438912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3192" y="269747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" y="256031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269747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AMPc / PKA / EPAC2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17296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A8F62"/>
                </a:solidFill>
                <a:latin typeface="Calibri"/>
              </a:rPr>
              <a:t>▼</a:t>
            </a:r>
          </a:p>
        </p:txBody>
      </p:sp>
      <p:sp>
        <p:nvSpPr>
          <p:cNvPr id="23" name="Oval 22"/>
          <p:cNvSpPr/>
          <p:nvPr/>
        </p:nvSpPr>
        <p:spPr>
          <a:xfrm>
            <a:off x="393192" y="3456431"/>
            <a:ext cx="438912" cy="438912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3192" y="352043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0120" y="338327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352043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PI3K-Akt &amp; MAPK-ERK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399592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A8F62"/>
                </a:solidFill>
                <a:latin typeface="Calibri"/>
              </a:rPr>
              <a:t>▼</a:t>
            </a:r>
          </a:p>
        </p:txBody>
      </p:sp>
      <p:sp>
        <p:nvSpPr>
          <p:cNvPr id="28" name="Oval 27"/>
          <p:cNvSpPr/>
          <p:nvPr/>
        </p:nvSpPr>
        <p:spPr>
          <a:xfrm>
            <a:off x="393192" y="4279391"/>
            <a:ext cx="438912" cy="438912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93192" y="434339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0120" y="420623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0" y="434339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↓ inflammation / oxydatif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81888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A8F62"/>
                </a:solidFill>
                <a:latin typeface="Calibri"/>
              </a:rPr>
              <a:t>▼</a:t>
            </a:r>
          </a:p>
        </p:txBody>
      </p:sp>
      <p:sp>
        <p:nvSpPr>
          <p:cNvPr id="33" name="Oval 32"/>
          <p:cNvSpPr/>
          <p:nvPr/>
        </p:nvSpPr>
        <p:spPr>
          <a:xfrm>
            <a:off x="393192" y="5102351"/>
            <a:ext cx="438912" cy="438912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3192" y="516635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" y="502919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516635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Survie neuronale putative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06440" y="1234440"/>
            <a:ext cx="6126480" cy="52120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0" y="1344168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F4F"/>
                </a:solidFill>
                <a:latin typeface="Calibri"/>
              </a:rPr>
              <a:t>NIVEAU DE PREUVE ACTUEL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43600" y="1737360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62472" y="1920240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62472" y="1965960"/>
            <a:ext cx="3840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0" y="18470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Préclinique ++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0" y="2176272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Signaux sur inflammation, ROS, survie (modèles).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0" y="2898648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062472" y="3081528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62472" y="3127248"/>
            <a:ext cx="3840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80" y="300837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α-synucléine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0" y="33375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Autophagie / protéostase : encore exploratoire.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943600" y="4059936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062472" y="4242816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62472" y="4288536"/>
            <a:ext cx="3840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83680" y="416966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Clinique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83680" y="4498848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Hétérogène : LIXIPARK ≠ Exenatide-PD3.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21 / 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Mécanismes neuroprotecteurs putatifs</a:t>
            </a:r>
          </a:p>
        </p:txBody>
      </p:sp>
      <p:pic>
        <p:nvPicPr>
          <p:cNvPr id="7" name="Picture 6" descr="med_06_neu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Activation GLP-1R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Survie neuronale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↓ inflammation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↓ stress oxydatif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↓ apoptose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Autophagie / α-syn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Plausibilité biologique forte — hypothèses précliniques, pas une preuve d’efficacité humaine.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22 / 30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201168"/>
            <a:ext cx="1234440" cy="64008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32004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12 · PRÉCLIN.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56032"/>
            <a:ext cx="6583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Calibri"/>
              </a:rPr>
              <a:t>DONNÉES EXPÉRIMENTALES (MPTP / 6-OHDA)</a:t>
            </a:r>
          </a:p>
        </p:txBody>
      </p:sp>
      <p:sp>
        <p:nvSpPr>
          <p:cNvPr id="8" name="Rectangle 7"/>
          <p:cNvSpPr/>
          <p:nvPr/>
        </p:nvSpPr>
        <p:spPr>
          <a:xfrm>
            <a:off x="8366760" y="137160"/>
            <a:ext cx="3566160" cy="77724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0" y="18288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POINT CLÉ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411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Preuve de concept ≠ validation humaine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1234440"/>
            <a:ext cx="5394960" cy="52120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34416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E7C86"/>
                </a:solidFill>
                <a:latin typeface="Calibri"/>
              </a:rPr>
              <a:t>CE QUE MONTRENT LES MODÈLES</a:t>
            </a:r>
          </a:p>
        </p:txBody>
      </p:sp>
      <p:sp>
        <p:nvSpPr>
          <p:cNvPr id="13" name="Oval 12"/>
          <p:cNvSpPr/>
          <p:nvPr/>
        </p:nvSpPr>
        <p:spPr>
          <a:xfrm>
            <a:off x="393192" y="1810512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1874520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1737360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1874520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Atteinte dopaminergique induite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350007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E7C86"/>
                </a:solidFill>
                <a:latin typeface="Calibri"/>
              </a:rPr>
              <a:t>▼</a:t>
            </a:r>
          </a:p>
        </p:txBody>
      </p:sp>
      <p:sp>
        <p:nvSpPr>
          <p:cNvPr id="18" name="Oval 17"/>
          <p:cNvSpPr/>
          <p:nvPr/>
        </p:nvSpPr>
        <p:spPr>
          <a:xfrm>
            <a:off x="393192" y="2633471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3192" y="269747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" y="256031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269747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Exénatide / lira / lixi / séma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17296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E7C86"/>
                </a:solidFill>
                <a:latin typeface="Calibri"/>
              </a:rPr>
              <a:t>▼</a:t>
            </a:r>
          </a:p>
        </p:txBody>
      </p:sp>
      <p:sp>
        <p:nvSpPr>
          <p:cNvPr id="23" name="Oval 22"/>
          <p:cNvSpPr/>
          <p:nvPr/>
        </p:nvSpPr>
        <p:spPr>
          <a:xfrm>
            <a:off x="393192" y="3456431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3192" y="352043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0120" y="338327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352043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Signaux moteurs / histologiques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399592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E7C86"/>
                </a:solidFill>
                <a:latin typeface="Calibri"/>
              </a:rPr>
              <a:t>▼</a:t>
            </a:r>
          </a:p>
        </p:txBody>
      </p:sp>
      <p:sp>
        <p:nvSpPr>
          <p:cNvPr id="28" name="Oval 27"/>
          <p:cNvSpPr/>
          <p:nvPr/>
        </p:nvSpPr>
        <p:spPr>
          <a:xfrm>
            <a:off x="393192" y="4279391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93192" y="434339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0120" y="420623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0" y="434339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↓ oxydatif / inflammation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81888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E7C86"/>
                </a:solidFill>
                <a:latin typeface="Calibri"/>
              </a:rPr>
              <a:t>▼</a:t>
            </a:r>
          </a:p>
        </p:txBody>
      </p:sp>
      <p:sp>
        <p:nvSpPr>
          <p:cNvPr id="33" name="Oval 32"/>
          <p:cNvSpPr/>
          <p:nvPr/>
        </p:nvSpPr>
        <p:spPr>
          <a:xfrm>
            <a:off x="393192" y="5102351"/>
            <a:ext cx="438912" cy="438912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3192" y="516635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" y="502919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516635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Justification d’essais cliniques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06440" y="1234440"/>
            <a:ext cx="6126480" cy="52120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0" y="1344168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F4F"/>
                </a:solidFill>
                <a:latin typeface="Calibri"/>
              </a:rPr>
              <a:t>LIMITES DE TRANSPOSITION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43600" y="1737360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62472" y="1920240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62472" y="1965960"/>
            <a:ext cx="3840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0" y="18470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Modèles toxiques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0" y="2176272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Lésion rapide ≠ progression lente humaine.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0" y="2898648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062472" y="3081528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62472" y="3127248"/>
            <a:ext cx="3840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80" y="300837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α-synucléine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0" y="33375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Mal reproduite dans MPTP/6-OHDA classiques.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943600" y="4059936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062472" y="4242816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62472" y="4288536"/>
            <a:ext cx="3840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83680" y="416966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Lecture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83680" y="4498848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Soutenir un essai, pas conclure à l’efficacité.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23 / 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201168"/>
            <a:ext cx="1234440" cy="64008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32004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13 · EXÉNATIDE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56032"/>
            <a:ext cx="6583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Calibri"/>
              </a:rPr>
              <a:t>DE L’ESPOIR INITIAL À EXENATIDE-PD3</a:t>
            </a:r>
          </a:p>
        </p:txBody>
      </p:sp>
      <p:sp>
        <p:nvSpPr>
          <p:cNvPr id="8" name="Rectangle 7"/>
          <p:cNvSpPr/>
          <p:nvPr/>
        </p:nvSpPr>
        <p:spPr>
          <a:xfrm>
            <a:off x="8366760" y="137160"/>
            <a:ext cx="3566160" cy="77724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0" y="18288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POINT CLÉ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411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Phase III négative · 96 semaines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1234440"/>
            <a:ext cx="5394960" cy="52120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34416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95D39"/>
                </a:solidFill>
                <a:latin typeface="Calibri"/>
              </a:rPr>
              <a:t>TRAJECTOIRE DES PREUVES</a:t>
            </a:r>
          </a:p>
        </p:txBody>
      </p:sp>
      <p:sp>
        <p:nvSpPr>
          <p:cNvPr id="13" name="Oval 12"/>
          <p:cNvSpPr/>
          <p:nvPr/>
        </p:nvSpPr>
        <p:spPr>
          <a:xfrm>
            <a:off x="393192" y="1810512"/>
            <a:ext cx="438912" cy="438912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1874520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1737360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1874520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Études pilotes / ph.II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350007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D95D39"/>
                </a:solidFill>
                <a:latin typeface="Calibri"/>
              </a:rPr>
              <a:t>▼</a:t>
            </a:r>
          </a:p>
        </p:txBody>
      </p:sp>
      <p:sp>
        <p:nvSpPr>
          <p:cNvPr id="18" name="Oval 17"/>
          <p:cNvSpPr/>
          <p:nvPr/>
        </p:nvSpPr>
        <p:spPr>
          <a:xfrm>
            <a:off x="393192" y="2633471"/>
            <a:ext cx="438912" cy="438912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3192" y="269747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" y="256031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269747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Signal moteur exploratoire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17296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D95D39"/>
                </a:solidFill>
                <a:latin typeface="Calibri"/>
              </a:rPr>
              <a:t>▼</a:t>
            </a:r>
          </a:p>
        </p:txBody>
      </p:sp>
      <p:sp>
        <p:nvSpPr>
          <p:cNvPr id="23" name="Oval 22"/>
          <p:cNvSpPr/>
          <p:nvPr/>
        </p:nvSpPr>
        <p:spPr>
          <a:xfrm>
            <a:off x="393192" y="3456431"/>
            <a:ext cx="438912" cy="438912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3192" y="352043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0120" y="338327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352043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Justification d’un grand essai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399592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D95D39"/>
                </a:solidFill>
                <a:latin typeface="Calibri"/>
              </a:rPr>
              <a:t>▼</a:t>
            </a:r>
          </a:p>
        </p:txBody>
      </p:sp>
      <p:sp>
        <p:nvSpPr>
          <p:cNvPr id="28" name="Oval 27"/>
          <p:cNvSpPr/>
          <p:nvPr/>
        </p:nvSpPr>
        <p:spPr>
          <a:xfrm>
            <a:off x="393192" y="4279391"/>
            <a:ext cx="438912" cy="438912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93192" y="434339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0120" y="420623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0" y="434339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Exenatide-PD3 (194 patients)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81888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D95D39"/>
                </a:solidFill>
                <a:latin typeface="Calibri"/>
              </a:rPr>
              <a:t>▼</a:t>
            </a:r>
          </a:p>
        </p:txBody>
      </p:sp>
      <p:sp>
        <p:nvSpPr>
          <p:cNvPr id="33" name="Oval 32"/>
          <p:cNvSpPr/>
          <p:nvPr/>
        </p:nvSpPr>
        <p:spPr>
          <a:xfrm>
            <a:off x="393192" y="5102351"/>
            <a:ext cx="438912" cy="438912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3192" y="516635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" y="502919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516635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Pas de différence OFF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06440" y="1234440"/>
            <a:ext cx="6126480" cy="52120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0" y="1344168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F4F"/>
                </a:solidFill>
                <a:latin typeface="Calibri"/>
              </a:rPr>
              <a:t>DONNÉES CHIFFRÉES CLÉS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43600" y="1737360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62472" y="1920240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62472" y="1965960"/>
            <a:ext cx="3840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0" y="18470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Design PD3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0" y="2176272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Exénatide hebdo vs placebo · 96 semaines.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0" y="2898648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062472" y="3081528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62472" y="3127248"/>
            <a:ext cx="3840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80" y="300837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Critère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0" y="33375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MDS-UPDRS III à l’état OFF : aggravation similaire.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943600" y="4059936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062472" y="4242816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62472" y="4288536"/>
            <a:ext cx="3840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83680" y="416966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Conclusion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83680" y="4498848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Pas d’effet modificateur démontré pour l’exénatide.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24 / 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LIXIPARK — signal phase II, pas une preuve de neuroprotection</a:t>
            </a:r>
          </a:p>
        </p:txBody>
      </p:sp>
      <p:pic>
        <p:nvPicPr>
          <p:cNvPr id="7" name="Picture 6" descr="med_07_lixip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Phase II · 156 patients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Parkinson précoce · 12 mois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MDS-UPDRS III : −0,04 vs +3,04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Différence ajustée : 3,08 pts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Nausées / vomissements ↑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Pas d’indication réglementaire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Signal moteur favorable à court terme — insuffisant pour affirmer un effet modificateur durable.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25 / 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201168"/>
            <a:ext cx="1234440" cy="64008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32004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14 · SYNTHÈSE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56032"/>
            <a:ext cx="6583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Calibri"/>
              </a:rPr>
              <a:t>ESSAIS CLINIQUES : LECTURE COMPARATIVE</a:t>
            </a:r>
          </a:p>
        </p:txBody>
      </p:sp>
      <p:sp>
        <p:nvSpPr>
          <p:cNvPr id="8" name="Rectangle 7"/>
          <p:cNvSpPr/>
          <p:nvPr/>
        </p:nvSpPr>
        <p:spPr>
          <a:xfrm>
            <a:off x="8366760" y="137160"/>
            <a:ext cx="3566160" cy="77724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0" y="18288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POINT CLÉ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411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Pas d’effet de classe démontré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1234440"/>
            <a:ext cx="5394960" cy="52120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34416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F4F"/>
                </a:solidFill>
                <a:latin typeface="Calibri"/>
              </a:rPr>
              <a:t>HIÉRARCHIE DES RÉSULTATS</a:t>
            </a:r>
          </a:p>
        </p:txBody>
      </p:sp>
      <p:sp>
        <p:nvSpPr>
          <p:cNvPr id="13" name="Oval 12"/>
          <p:cNvSpPr/>
          <p:nvPr/>
        </p:nvSpPr>
        <p:spPr>
          <a:xfrm>
            <a:off x="393192" y="1810512"/>
            <a:ext cx="438912" cy="438912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1874520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1737360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1874520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Pilotes exénatide : signal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350007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2F4F"/>
                </a:solidFill>
                <a:latin typeface="Calibri"/>
              </a:rPr>
              <a:t>▼</a:t>
            </a:r>
          </a:p>
        </p:txBody>
      </p:sp>
      <p:sp>
        <p:nvSpPr>
          <p:cNvPr id="18" name="Oval 17"/>
          <p:cNvSpPr/>
          <p:nvPr/>
        </p:nvSpPr>
        <p:spPr>
          <a:xfrm>
            <a:off x="393192" y="2633471"/>
            <a:ext cx="438912" cy="438912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3192" y="269747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" y="256031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269747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LIXIPARK : +3,08 pts (ph.II)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17296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2F4F"/>
                </a:solidFill>
                <a:latin typeface="Calibri"/>
              </a:rPr>
              <a:t>▼</a:t>
            </a:r>
          </a:p>
        </p:txBody>
      </p:sp>
      <p:sp>
        <p:nvSpPr>
          <p:cNvPr id="23" name="Oval 22"/>
          <p:cNvSpPr/>
          <p:nvPr/>
        </p:nvSpPr>
        <p:spPr>
          <a:xfrm>
            <a:off x="393192" y="3456431"/>
            <a:ext cx="438912" cy="438912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3192" y="352043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0120" y="338327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352043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Exenatide-PD3 : négatif (ph.III)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399592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2F4F"/>
                </a:solidFill>
                <a:latin typeface="Calibri"/>
              </a:rPr>
              <a:t>▼</a:t>
            </a:r>
          </a:p>
        </p:txBody>
      </p:sp>
      <p:sp>
        <p:nvSpPr>
          <p:cNvPr id="28" name="Oval 27"/>
          <p:cNvSpPr/>
          <p:nvPr/>
        </p:nvSpPr>
        <p:spPr>
          <a:xfrm>
            <a:off x="393192" y="4279391"/>
            <a:ext cx="438912" cy="438912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93192" y="434339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0120" y="420623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0" y="434339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MOST-ABLE : en cours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81888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2F4F"/>
                </a:solidFill>
                <a:latin typeface="Calibri"/>
              </a:rPr>
              <a:t>▼</a:t>
            </a:r>
          </a:p>
        </p:txBody>
      </p:sp>
      <p:sp>
        <p:nvSpPr>
          <p:cNvPr id="33" name="Oval 32"/>
          <p:cNvSpPr/>
          <p:nvPr/>
        </p:nvSpPr>
        <p:spPr>
          <a:xfrm>
            <a:off x="393192" y="5102351"/>
            <a:ext cx="438912" cy="438912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3192" y="516635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" y="502919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516635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Méta-analyse : globalement NS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06440" y="1234440"/>
            <a:ext cx="6126480" cy="52120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0" y="1344168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F4F"/>
                </a:solidFill>
                <a:latin typeface="Calibri"/>
              </a:rPr>
              <a:t>INTERPRÉTATION PRUDENTE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43600" y="1737360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62472" y="1920240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62472" y="1965960"/>
            <a:ext cx="3840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0" y="18470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LIXIPARK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0" y="2176272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156 patients · 12 mois · Parkinson précoce · EI digestifs ↑.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0" y="2898648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062472" y="3081528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62472" y="3127248"/>
            <a:ext cx="3840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80" y="300837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Exenatide-PD3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0" y="33375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194 patients · 96 sem. · pas de bénéfice OFF.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943600" y="4059936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062472" y="4242816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62472" y="4288536"/>
            <a:ext cx="3840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83680" y="416966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Pratique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83680" y="4498848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Aucune indication PD hors essai clinique.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26 / 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201168"/>
            <a:ext cx="1234440" cy="64008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32004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15 · MÉTHODE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56032"/>
            <a:ext cx="6583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Calibri"/>
              </a:rPr>
              <a:t>LIMITES ET PERSPECTIVES DE RECHERCHE</a:t>
            </a:r>
          </a:p>
        </p:txBody>
      </p:sp>
      <p:sp>
        <p:nvSpPr>
          <p:cNvPr id="8" name="Rectangle 7"/>
          <p:cNvSpPr/>
          <p:nvPr/>
        </p:nvSpPr>
        <p:spPr>
          <a:xfrm>
            <a:off x="8366760" y="137160"/>
            <a:ext cx="3566160" cy="77724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0" y="18288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POINT CLÉ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411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Symptomatique vs modificateur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1234440"/>
            <a:ext cx="5394960" cy="52120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34416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OBSTACLES MÉTHODOLOGIQUES</a:t>
            </a:r>
          </a:p>
        </p:txBody>
      </p:sp>
      <p:sp>
        <p:nvSpPr>
          <p:cNvPr id="13" name="Oval 12"/>
          <p:cNvSpPr/>
          <p:nvPr/>
        </p:nvSpPr>
        <p:spPr>
          <a:xfrm>
            <a:off x="393192" y="1810512"/>
            <a:ext cx="438912" cy="438912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1874520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1737360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1874520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Durées trop courtes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350007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98A1A"/>
                </a:solidFill>
                <a:latin typeface="Calibri"/>
              </a:rPr>
              <a:t>▼</a:t>
            </a:r>
          </a:p>
        </p:txBody>
      </p:sp>
      <p:sp>
        <p:nvSpPr>
          <p:cNvPr id="18" name="Oval 17"/>
          <p:cNvSpPr/>
          <p:nvPr/>
        </p:nvSpPr>
        <p:spPr>
          <a:xfrm>
            <a:off x="393192" y="2633471"/>
            <a:ext cx="438912" cy="438912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3192" y="269747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" y="256031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269747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MDS-UPDRS OFF insuffisant seul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17296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98A1A"/>
                </a:solidFill>
                <a:latin typeface="Calibri"/>
              </a:rPr>
              <a:t>▼</a:t>
            </a:r>
          </a:p>
        </p:txBody>
      </p:sp>
      <p:sp>
        <p:nvSpPr>
          <p:cNvPr id="23" name="Oval 22"/>
          <p:cNvSpPr/>
          <p:nvPr/>
        </p:nvSpPr>
        <p:spPr>
          <a:xfrm>
            <a:off x="393192" y="3456431"/>
            <a:ext cx="438912" cy="438912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3192" y="352043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0120" y="338327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352043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Biomarqueurs non validés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399592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98A1A"/>
                </a:solidFill>
                <a:latin typeface="Calibri"/>
              </a:rPr>
              <a:t>▼</a:t>
            </a:r>
          </a:p>
        </p:txBody>
      </p:sp>
      <p:sp>
        <p:nvSpPr>
          <p:cNvPr id="28" name="Oval 27"/>
          <p:cNvSpPr/>
          <p:nvPr/>
        </p:nvSpPr>
        <p:spPr>
          <a:xfrm>
            <a:off x="393192" y="4279391"/>
            <a:ext cx="438912" cy="438912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93192" y="434339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0120" y="420623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0" y="434339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Hétérogénéité patients/molécules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81888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98A1A"/>
                </a:solidFill>
                <a:latin typeface="Calibri"/>
              </a:rPr>
              <a:t>▼</a:t>
            </a:r>
          </a:p>
        </p:txBody>
      </p:sp>
      <p:sp>
        <p:nvSpPr>
          <p:cNvPr id="33" name="Oval 32"/>
          <p:cNvSpPr/>
          <p:nvPr/>
        </p:nvSpPr>
        <p:spPr>
          <a:xfrm>
            <a:off x="393192" y="5102351"/>
            <a:ext cx="438912" cy="438912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3192" y="516635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" y="502919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516635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Risque de surinterprétation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06440" y="1234440"/>
            <a:ext cx="6126480" cy="52120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0" y="1344168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F4F"/>
                </a:solidFill>
                <a:latin typeface="Calibri"/>
              </a:rPr>
              <a:t>CE QUE DEVRONT FAIRE LES ESSAIS FUTURS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43600" y="1737360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62472" y="1920240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62472" y="1965960"/>
            <a:ext cx="3840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0" y="18470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Design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0" y="2176272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Stade précoce + suivi long + puissance adéquate.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0" y="2898648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062472" y="3081528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62472" y="3127248"/>
            <a:ext cx="3840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80" y="300837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Critères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0" y="33375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Moteurs + non moteurs + cognition + chutes + nutrition.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943600" y="4059936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062472" y="4242816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62472" y="4288536"/>
            <a:ext cx="3840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83680" y="416966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Stratification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83680" y="4498848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Phénotypes métaboliques/génétiques testés a priori.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27 / 30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Rôle du pharmacien — sécuriser le parcours</a:t>
            </a:r>
          </a:p>
        </p:txBody>
      </p:sp>
      <p:pic>
        <p:nvPicPr>
          <p:cNvPr id="7" name="Picture 6" descr="med_08_pha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Éducation injection / titration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EI digestifs &amp; hydratation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Constipation / perte de poids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Risque chute / sarcopénie (PD)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Hypoglycémie si associations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Hors essai = pas d’indication PD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Le pharmacien sécurise l’usage métabolique et rappelle clairement le caractère expérimental dans Parkinson.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28 / 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201168"/>
            <a:ext cx="1234440" cy="640080"/>
          </a:xfrm>
          <a:prstGeom prst="rect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32004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16 · PHARMA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56032"/>
            <a:ext cx="6583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Calibri"/>
              </a:rPr>
              <a:t>MISSIONS DU PHARMACIEN (CONTEXTE PD)</a:t>
            </a:r>
          </a:p>
        </p:txBody>
      </p:sp>
      <p:sp>
        <p:nvSpPr>
          <p:cNvPr id="8" name="Rectangle 7"/>
          <p:cNvSpPr/>
          <p:nvPr/>
        </p:nvSpPr>
        <p:spPr>
          <a:xfrm>
            <a:off x="8366760" y="137160"/>
            <a:ext cx="3566160" cy="777240"/>
          </a:xfrm>
          <a:prstGeom prst="rect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0" y="18288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POINT CLÉ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411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Pas d’usage hors essai clinique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1234440"/>
            <a:ext cx="5394960" cy="52120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34416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B7CB8"/>
                </a:solidFill>
                <a:latin typeface="Calibri"/>
              </a:rPr>
              <a:t>PARCOURS D’ACCOMPAGNEMENT</a:t>
            </a:r>
          </a:p>
        </p:txBody>
      </p:sp>
      <p:sp>
        <p:nvSpPr>
          <p:cNvPr id="13" name="Oval 12"/>
          <p:cNvSpPr/>
          <p:nvPr/>
        </p:nvSpPr>
        <p:spPr>
          <a:xfrm>
            <a:off x="393192" y="1810512"/>
            <a:ext cx="438912" cy="438912"/>
          </a:xfrm>
          <a:prstGeom prst="ellipse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1874520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1737360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1874520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Éducation injection / titration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350007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B7CB8"/>
                </a:solidFill>
                <a:latin typeface="Calibri"/>
              </a:rPr>
              <a:t>▼</a:t>
            </a:r>
          </a:p>
        </p:txBody>
      </p:sp>
      <p:sp>
        <p:nvSpPr>
          <p:cNvPr id="18" name="Oval 17"/>
          <p:cNvSpPr/>
          <p:nvPr/>
        </p:nvSpPr>
        <p:spPr>
          <a:xfrm>
            <a:off x="393192" y="2633471"/>
            <a:ext cx="438912" cy="438912"/>
          </a:xfrm>
          <a:prstGeom prst="ellipse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3192" y="269747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" y="256031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269747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Repérage EI digestifs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17296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B7CB8"/>
                </a:solidFill>
                <a:latin typeface="Calibri"/>
              </a:rPr>
              <a:t>▼</a:t>
            </a:r>
          </a:p>
        </p:txBody>
      </p:sp>
      <p:sp>
        <p:nvSpPr>
          <p:cNvPr id="23" name="Oval 22"/>
          <p:cNvSpPr/>
          <p:nvPr/>
        </p:nvSpPr>
        <p:spPr>
          <a:xfrm>
            <a:off x="393192" y="3456431"/>
            <a:ext cx="438912" cy="438912"/>
          </a:xfrm>
          <a:prstGeom prst="ellipse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3192" y="352043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0120" y="338327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352043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Surveillance poids / hydratation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399592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B7CB8"/>
                </a:solidFill>
                <a:latin typeface="Calibri"/>
              </a:rPr>
              <a:t>▼</a:t>
            </a:r>
          </a:p>
        </p:txBody>
      </p:sp>
      <p:sp>
        <p:nvSpPr>
          <p:cNvPr id="28" name="Oval 27"/>
          <p:cNvSpPr/>
          <p:nvPr/>
        </p:nvSpPr>
        <p:spPr>
          <a:xfrm>
            <a:off x="393192" y="4279391"/>
            <a:ext cx="438912" cy="438912"/>
          </a:xfrm>
          <a:prstGeom prst="ellipse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93192" y="434339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0120" y="420623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0" y="434339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Prévention hypoglycémie associée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81888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B7CB8"/>
                </a:solidFill>
                <a:latin typeface="Calibri"/>
              </a:rPr>
              <a:t>▼</a:t>
            </a:r>
          </a:p>
        </p:txBody>
      </p:sp>
      <p:sp>
        <p:nvSpPr>
          <p:cNvPr id="33" name="Oval 32"/>
          <p:cNvSpPr/>
          <p:nvPr/>
        </p:nvSpPr>
        <p:spPr>
          <a:xfrm>
            <a:off x="393192" y="5102351"/>
            <a:ext cx="438912" cy="438912"/>
          </a:xfrm>
          <a:prstGeom prst="ellipse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3192" y="516635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" y="502919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516635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Coordination pluridisciplinaire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06440" y="1234440"/>
            <a:ext cx="6126480" cy="52120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0" y="1344168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F4F"/>
                </a:solidFill>
                <a:latin typeface="Calibri"/>
              </a:rPr>
              <a:t>SPÉCIFICITÉS PARKINSON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43600" y="1737360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62472" y="1920240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62472" y="1965960"/>
            <a:ext cx="3840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0" y="18470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Vulnérabilités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0" y="2176272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Constipation, sarcopénie, chutes, dextérité, cognition.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0" y="2898648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062472" y="3081528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62472" y="3127248"/>
            <a:ext cx="3840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80" y="300837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Information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0" y="33375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Rappeler le caractère expérimental de la stratégie PD.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943600" y="4059936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062472" y="4242816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62472" y="4288536"/>
            <a:ext cx="3840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83680" y="416966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Sécurité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83680" y="4498848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Prévenir automédication et attentes disproportionnées.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29 / 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201168"/>
            <a:ext cx="1234440" cy="64008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32004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17 · FIN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56032"/>
            <a:ext cx="6583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Calibri"/>
              </a:rPr>
              <a:t>MESSAGES À RETENIR POUR LE JURY</a:t>
            </a:r>
          </a:p>
        </p:txBody>
      </p:sp>
      <p:sp>
        <p:nvSpPr>
          <p:cNvPr id="8" name="Rectangle 7"/>
          <p:cNvSpPr/>
          <p:nvPr/>
        </p:nvSpPr>
        <p:spPr>
          <a:xfrm>
            <a:off x="8366760" y="137160"/>
            <a:ext cx="3566160" cy="77724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0" y="18288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POINT CLÉ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411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Candidats au repositionnement, pas traitements établis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1234440"/>
            <a:ext cx="5394960" cy="52120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34416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F4F"/>
                </a:solidFill>
                <a:latin typeface="Calibri"/>
              </a:rPr>
              <a:t>FIL DE DÉMONSTRATION</a:t>
            </a:r>
          </a:p>
        </p:txBody>
      </p:sp>
      <p:sp>
        <p:nvSpPr>
          <p:cNvPr id="13" name="Oval 12"/>
          <p:cNvSpPr/>
          <p:nvPr/>
        </p:nvSpPr>
        <p:spPr>
          <a:xfrm>
            <a:off x="393192" y="1810512"/>
            <a:ext cx="438912" cy="438912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1874520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1737360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1874520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Classe mature en métabolisme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350007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2F4F"/>
                </a:solidFill>
                <a:latin typeface="Calibri"/>
              </a:rPr>
              <a:t>▼</a:t>
            </a:r>
          </a:p>
        </p:txBody>
      </p:sp>
      <p:sp>
        <p:nvSpPr>
          <p:cNvPr id="18" name="Oval 17"/>
          <p:cNvSpPr/>
          <p:nvPr/>
        </p:nvSpPr>
        <p:spPr>
          <a:xfrm>
            <a:off x="393192" y="2633471"/>
            <a:ext cx="438912" cy="438912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3192" y="269747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" y="256031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269747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Rationnel PD biologiquement cohérent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17296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2F4F"/>
                </a:solidFill>
                <a:latin typeface="Calibri"/>
              </a:rPr>
              <a:t>▼</a:t>
            </a:r>
          </a:p>
        </p:txBody>
      </p:sp>
      <p:sp>
        <p:nvSpPr>
          <p:cNvPr id="23" name="Oval 22"/>
          <p:cNvSpPr/>
          <p:nvPr/>
        </p:nvSpPr>
        <p:spPr>
          <a:xfrm>
            <a:off x="393192" y="3456431"/>
            <a:ext cx="438912" cy="438912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3192" y="352043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0120" y="338327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352043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Clinique hétérogène (LIXI ≠ EXEN)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399592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2F4F"/>
                </a:solidFill>
                <a:latin typeface="Calibri"/>
              </a:rPr>
              <a:t>▼</a:t>
            </a:r>
          </a:p>
        </p:txBody>
      </p:sp>
      <p:sp>
        <p:nvSpPr>
          <p:cNvPr id="28" name="Oval 27"/>
          <p:cNvSpPr/>
          <p:nvPr/>
        </p:nvSpPr>
        <p:spPr>
          <a:xfrm>
            <a:off x="393192" y="4279391"/>
            <a:ext cx="438912" cy="438912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93192" y="434339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0120" y="420623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0" y="434339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Aucune indication PD actuelle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81888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2F4F"/>
                </a:solidFill>
                <a:latin typeface="Calibri"/>
              </a:rPr>
              <a:t>▼</a:t>
            </a:r>
          </a:p>
        </p:txBody>
      </p:sp>
      <p:sp>
        <p:nvSpPr>
          <p:cNvPr id="33" name="Oval 32"/>
          <p:cNvSpPr/>
          <p:nvPr/>
        </p:nvSpPr>
        <p:spPr>
          <a:xfrm>
            <a:off x="393192" y="5102351"/>
            <a:ext cx="438912" cy="438912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3192" y="5166359"/>
            <a:ext cx="438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" y="5029199"/>
            <a:ext cx="44805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5166359"/>
            <a:ext cx="4206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1E28"/>
                </a:solidFill>
                <a:latin typeface="Calibri"/>
              </a:rPr>
              <a:t>Pharmacien = sécurisation + information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06440" y="1234440"/>
            <a:ext cx="6126480" cy="52120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0" y="1344168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F4F"/>
                </a:solidFill>
                <a:latin typeface="Calibri"/>
              </a:rPr>
              <a:t>FORMULATION FINALE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43600" y="1737360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62472" y="1920240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62472" y="1965960"/>
            <a:ext cx="3840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0" y="184708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Métabolisme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0" y="2176272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Bénéfices CV/rénaux : molécule et population spécifiques.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0" y="2898648"/>
            <a:ext cx="58521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062472" y="3081528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62472" y="3127248"/>
            <a:ext cx="3840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80" y="300837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Parkinson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0" y="333756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LIXIPARK signal ph.II ; Exenatide-PD3 négatif ; pas d’effet de classe.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943600" y="4242816"/>
            <a:ext cx="58521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062472" y="4425696"/>
            <a:ext cx="384048" cy="384048"/>
          </a:xfrm>
          <a:prstGeom prst="ellipse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62472" y="4471416"/>
            <a:ext cx="3840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83680" y="435254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F4F"/>
                </a:solidFill>
                <a:latin typeface="Calibri"/>
              </a:rPr>
              <a:t>Avenir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83680" y="4681728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424C"/>
                </a:solidFill>
                <a:latin typeface="Calibri"/>
              </a:rPr>
              <a:t>Essais longs, ciblés, multicritères — puis seulement pratique.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30 /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