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A8A9A"/>
                </a:solidFill>
                <a:latin typeface="Calibri"/>
              </a:rPr>
              <a:t>THÈSE EN VUE DE L’OBTENTION DU DIPLÔME DE DOCTOR IN PHARMACY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10642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Agonistes du GLP-1 :
Mise au point et potentiel prometteur
pour la maladie de Parkinson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0D0D8"/>
                </a:solidFill>
                <a:latin typeface="Calibri"/>
              </a:rPr>
              <a:t>Université Libanaise  —  Faculté de Pharmacie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Directrice de thèse :  Pr. Dalia Khachman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0352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Préparée par
Sara Yousef  &amp;  Wiam Bourhan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3212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Calibri"/>
              </a:rPr>
              <a:t>Soutenance
03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Contexte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La maladie de Parkinson est une maladie neurodégénérative progressive.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Elle associe des symptômes moteurs et non moteurs, avec un retentissement important sur l’autonomie et la qualité de vie.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Les traitements actuels améliorent principalement les symptômes, en particulier moteurs.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Aucun traitement n’a démontré de manière certaine qu’il ralentit durablement la neurodégénérescence.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Le développement de traitements modificateurs de la maladie reste donc une priorité.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  / 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618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6187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Problématique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778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D0D8"/>
                </a:solidFill>
                <a:latin typeface="Calibri"/>
              </a:rPr>
              <a:t>Les agonistes du récepteur du GLP-1 peuvent-ils représenter une nouvelle stratégie thérapeutique dans la maladie de Parkinson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1152144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1064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Ces médicaments sont déjà utilisés dans le diabète de type 2 et l’obésité.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Ils possèdent des effets métaboliques, cardiovasculaires et rénaux démontrés pour certaines molécules.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Des données expérimentales suggèrent des effets potentiellement neuroprotecteurs.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Toutefois, une plausibilité biologique ne constitue pas une preuve d’efficacité clinique.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Il est nécessaire d’évaluer les données disponibles de façon critique, molécule par molécule.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3  / 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Objectifs de la thèse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68580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52704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3560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Physiologie et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6479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E5E66"/>
                </a:solidFill>
                <a:latin typeface="Calibri"/>
              </a:rPr>
              <a:t>Présenter la physiologie du GLP-1 et la pharmacologie des agonistes du GLP-1R.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2286000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286000"/>
            <a:ext cx="68580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39572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72491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E5E66"/>
                </a:solidFill>
                <a:latin typeface="Calibri"/>
              </a:rPr>
              <a:t>Examiner leurs applications dans le diabète de type 2, l’obésité et la prévention cardio-rénale.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246120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246120"/>
            <a:ext cx="685800" cy="86868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44728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35584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Repositionnement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68503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E5E66"/>
                </a:solidFill>
                <a:latin typeface="Calibri"/>
              </a:rPr>
              <a:t>Analyser leur potentiel de repositionnement dans la maladie de Parkinson.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4206240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206240"/>
            <a:ext cx="68580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4074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31596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Lecture critique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4515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E5E66"/>
                </a:solidFill>
                <a:latin typeface="Calibri"/>
              </a:rPr>
              <a:t>Distinguer les données précliniques, les signaux cliniques et la preuve d’un effet modificateur de la maladie.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5166360"/>
            <a:ext cx="115214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166360"/>
            <a:ext cx="685800" cy="86868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36752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7608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3642"/>
                </a:solidFill>
                <a:latin typeface="Georgia"/>
              </a:rPr>
              <a:t>Rôle du pharmacien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605272"/>
            <a:ext cx="10424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E5E66"/>
                </a:solidFill>
                <a:latin typeface="Calibri"/>
              </a:rPr>
              <a:t>Définir la place du pharmacien dans l’accompagnement et la sécurisation de leur utilisation.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4  / 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MALADIE DE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Maladie de Parkinson : rappels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La maladie de Parkinson résulte notamment de la dégénérescence des neurones dopaminergiques de la substance noire.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Cette dégénérescence entraîne une diminution de la dopamine striatale.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600" b="1">
                <a:solidFill>
                  <a:srgbClr val="1A2226"/>
                </a:solidFill>
                <a:latin typeface="Calibri"/>
              </a:rPr>
              <a:t>▸  Les principaux symptômes moteurs sont :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Bradykinésie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Tremblement de repos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Rigidité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Troubles de la marche et de l’équilibre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Les symptômes non moteurs sont fréquents : constipation, fatigue, douleur, troubles du sommeil, anxiété, dépression, dysautonomie et troubles cognitifs.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5  / 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MALADIE DE PARKINSON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Une maladie complexe et hétérogène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La maladie de Parkinson ne se limite pas au déficit dopaminergique.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600" b="1">
                <a:solidFill>
                  <a:srgbClr val="1A2226"/>
                </a:solidFill>
                <a:latin typeface="Calibri"/>
              </a:rPr>
              <a:t>▸  Plusieurs mécanismes sont impliqués :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Agrégation d’alpha-synucléine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Dysfonction mitochondriale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Stress oxydatif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Neuroinflammation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Altération de l’autophagie et de la protéostase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Les trajectoires cliniques sont variables d’un patient à l’autre.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Cette hétérogénéité complique l’évaluation des traitements modificateurs de la maladie.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6  / 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GLP-1 : physiologie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653796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6217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 GLP-1 est une hormone incrétine issue du proglucagon.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Il est principalement sécrété par les cellules entéroendocrines L de l’intestin après les repas.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Ses principales actions sont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Stimulation de l’insulinosécrétion glucose-dépendante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Diminution de la sécrétion de glucagon en hyperglycémie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Ralentissement de la vidange gastrique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Augmentation de la satiété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Il contribue ainsi à la régulation glycémique et énergétique.</a:t>
            </a:r>
          </a:p>
        </p:txBody>
      </p:sp>
      <p:pic>
        <p:nvPicPr>
          <p:cNvPr id="9" name="Picture 8" descr="fig0_physiologie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1371600"/>
            <a:ext cx="484632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7  / 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Limites du GLP-1 endogène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Le GLP-1 endogène possède une demi-vie très courte : environ 1 à 2 minutes.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Il est rapidement inactivé, principalement par la dipeptidyl-peptidase-4 ou DPP-4.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A2226"/>
                </a:solidFill>
                <a:latin typeface="Calibri"/>
              </a:rPr>
              <a:t>▸  Il ne peut donc pas être utilisé directement comme médicament.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700" b="1">
                <a:solidFill>
                  <a:srgbClr val="1A2226"/>
                </a:solidFill>
                <a:latin typeface="Calibri"/>
              </a:rPr>
              <a:t>▸  Les agonistes du GLP-1R ont été développés afin de :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4E5E66"/>
                </a:solidFill>
                <a:latin typeface="Calibri"/>
              </a:rPr>
              <a:t>      ○  Résister à la dégradation par la DPP-4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4E5E66"/>
                </a:solidFill>
                <a:latin typeface="Calibri"/>
              </a:rPr>
              <a:t>      ○  Prolonger l’exposition systémique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4E5E66"/>
                </a:solidFill>
                <a:latin typeface="Calibri"/>
              </a:rPr>
              <a:t>      ○  Permettre une administration quotidienne ou hebdomadaire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8  / 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Récepteur du GLP-1 et signalisation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989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 GLP-1R est un récepteur couplé aux protéines G.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Son activation stimule principalement la voie Gs → AMPc → PKA / EPAC2.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Dans les cellules bêta pancréatiques, cette signalisation favorise la sécrétion d’insuline en présence de glucose.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Les voies PI3K/Akt et MAPK/ERK peuvent également être modulées.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Dans les modèles expérimentaux, ces voies sont associées à la survie cellulaire et à la réponse au stress.</a:t>
            </a:r>
          </a:p>
        </p:txBody>
      </p:sp>
      <p:pic>
        <p:nvPicPr>
          <p:cNvPr id="9" name="Picture 8" descr="fig1_glp1r_signali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71600"/>
            <a:ext cx="53949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9  / 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Principaux agonistes du GLP-1R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417320"/>
          <a:ext cx="11521440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017520"/>
                <a:gridCol w="3108960"/>
                <a:gridCol w="3291840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Administration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Particularité</a:t>
                      </a:r>
                    </a:p>
                  </a:txBody>
                  <a:tcPr>
                    <a:solidFill>
                      <a:srgbClr val="0A364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Dérivé de l’exendine-4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2 fois/jour ou 1 fois/semaine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Évalué dans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Action courte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1 fois/jour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Molécule de LIXIPARK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Analogue du GLP-1 humain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1 fois/jour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Diabète et obésité selon la dose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Action prolongée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1 fois/semaine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Bénéfice CV démontré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Action prolongée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1 fois/semaine ou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Données cardio-rénales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Double agoniste GIP/GLP-1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1 fois/semaine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2226"/>
                          </a:solidFill>
                          <a:latin typeface="Calibri"/>
                        </a:rPr>
                        <a:t>Non sélectif du GLP-1R</a:t>
                      </a:r>
                    </a:p>
                  </a:txBody>
                  <a:tcPr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10  / 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Des médicaments non interchangeables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Les agonistes du GLP-1R partagent une cible commune, mais ne sont pas équivalents.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600" b="1">
                <a:solidFill>
                  <a:srgbClr val="1A2226"/>
                </a:solidFill>
                <a:latin typeface="Calibri"/>
              </a:rPr>
              <a:t>▸  Ils diffèrent par :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Leur structure moléculaire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Leur demi-vie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Leur fréquence d’administration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Leur liaison aux protéines plasmatiques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Leur profil pharmacodynamique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Leur exposition tissulaire potentielle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Il n’est donc pas possible de conclure à un effet neurologique de classe à partir du résultat d’une seule molécule.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11  / 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Applications validées dans le diabète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Les agonistes du GLP-1R améliorent le contrôle glycémique.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Ils réduisent la glycémie à jeun et postprandiale.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Ils diminuent l’HbA1c.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Ils présentent un faible risque intrinsèque d’hypoglycémie lorsqu’ils ne sont pas associés à l’insuline ou aux sulfamides hypoglycémiants.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1A2226"/>
                </a:solidFill>
                <a:latin typeface="Calibri"/>
              </a:rPr>
              <a:t>▸  Ils contribuent également à la réduction de l’appétit et du poids corporel.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12  / 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Bénéfices dans l’obésité et protection cardio-rénale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Certains agonistes du GLP-1R sont indiqués dans l’obésité, en complément des mesures hygiéno-diététiques.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La réduction pondérale résulte principalement d’une diminution de l’appétit et des apports énergétiques.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600" b="1">
                <a:solidFill>
                  <a:srgbClr val="1A2226"/>
                </a:solidFill>
                <a:latin typeface="Calibri"/>
              </a:rPr>
              <a:t>▸  Des bénéfices cardiovasculaires ont été démontrés avec :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Liraglutide : LEADER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Sémaglutide : SUSTAIN-6 et SELECT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4E5E66"/>
                </a:solidFill>
                <a:latin typeface="Calibri"/>
              </a:rPr>
              <a:t>      ○  Dulaglutide : REWIND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Le sémaglutide a également démontré un bénéfice rénal dans l’essai FLOW.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2226"/>
                </a:solidFill>
                <a:latin typeface="Calibri"/>
              </a:rPr>
              <a:t>▸  Ces bénéfices concernent des molécules et des populations précises.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13  / 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Tolérance et précautions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Les effets indésirables sont principalement digestifs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Nausées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Vomissements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Diarrhée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Constipation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Douleurs abdominales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Diminution de l’appétit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Une titration progressive améliore généralement la tolérance.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Une vigilance est nécessaire en cas de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Risque de déshydratation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Perte pondérale excessive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Fragilité nutritionnelle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Association à l’insuline ou aux sulfamides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14  / 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Pourquoi un repositionnement dans Parkinson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 repositionnement thérapeutique consiste à explorer une nouvelle indication pour un médicament déjà connu.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Il peut permettre de réduire certaines incertitudes du développement pharmaceutique et clinique.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Les agonistes du GLP-1R sont d’intérêt dans Parkinson car ils pourraient agir sur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La survie cellulaire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Le métabolisme énergétique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La fonction mitochondriale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Le stress oxydatif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La neuroinflammation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Mais leur efficacité dans le diabète ou l’obésité ne prédit pas une efficacité neurologique.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15  / 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Mécanismes neuroprotecteurs potentiels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71600"/>
            <a:ext cx="59893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1A2226"/>
                </a:solidFill>
                <a:latin typeface="Calibri"/>
              </a:rPr>
              <a:t>▸  Dans les modèles expérimentaux, l’activation du GLP-1R peut moduler 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La voie AMPc/PKA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La voie PI3K/Akt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La voie MAPK/ERK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400" b="1">
                <a:solidFill>
                  <a:srgbClr val="1A2226"/>
                </a:solidFill>
                <a:latin typeface="Calibri"/>
              </a:rPr>
              <a:t>▸  Ces voies sont associées à :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Une amélioration de la survie neuronale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Une diminution de certains signaux pro-apoptotiques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Une meilleure réponse au stress cellulaire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4E5E66"/>
                </a:solidFill>
                <a:latin typeface="Calibri"/>
              </a:rPr>
              <a:t>      ○  Une modulation du métabolisme énergétique</a:t>
            </a:r>
          </a:p>
          <a:p>
            <a:pPr>
              <a:spcAft>
                <a:spcPts val="700"/>
              </a:spcAft>
            </a:pPr>
            <a:r>
              <a:rPr sz="1400" b="0">
                <a:solidFill>
                  <a:srgbClr val="1A2226"/>
                </a:solidFill>
                <a:latin typeface="Calibri"/>
              </a:rPr>
              <a:t>▸  Ces mécanismes restent des hypothèses précliniques.</a:t>
            </a:r>
          </a:p>
        </p:txBody>
      </p:sp>
      <p:pic>
        <p:nvPicPr>
          <p:cNvPr id="9" name="Picture 8" descr="fig2_neuropro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371600"/>
            <a:ext cx="5394960" cy="48006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16  / 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Mitochondries, stress oxydatif et inflammation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La dysfonction mitochondriale contribue à la vulnérabilité des neurones dopaminergiques.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Elle peut induire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diminution de la production d’énergie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augmentation des espèces réactives de l’oxygène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augmentation du stress oxydatif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Les agonistes du GLP-1R ont montré dans certains modèles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amélioration de paramètres mitochondriaux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diminution de marqueurs de stress oxydatif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modulation de l’activation microgliale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Une réduction de certains médiateurs pro-inflammatoires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Ces résultats ne démontrent pas encore une neuroprotection chez l’humain.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17  / 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Alpha-synucléine et données précliniques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115214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L’agrégation d’alpha-synucléine est un mécanisme majeur de la maladie de Parkinson.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Des anomalies de l’autophagie et de la protéostase peuvent favoriser l’accumulation de protéines mal conformées.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Dans certains modèles, les agonistes du GLP-1R semblent moduler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L’autophagie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La protéostase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Certains processus associés à l’alpha-synucléine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Les modèles MPTP et 6-OHDA ont montré des résultats encourageants avec plusieurs molécules.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Toutefois, ils reproduisent imparfaitement la maladie humaine, sa progression lente et son hétérogénéité.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18  / 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618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6187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Données cliniques : LIXIPARK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778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D0D8"/>
                </a:solidFill>
                <a:latin typeface="Calibri"/>
              </a:rPr>
              <a:t>Essai de phase II, randomisé, contrôlé contre placebo — lixisénatide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3703320" cy="150876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0078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Georgia"/>
              </a:rPr>
              <a:t>156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1284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Patients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603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Parkinson précoce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554480"/>
            <a:ext cx="3703320" cy="150876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70078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Georgia"/>
              </a:rPr>
              <a:t>12 mois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21284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Durée de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critère moteur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749039" cy="1508760"/>
          </a:xfrm>
          <a:prstGeom prst="roundRect">
            <a:avLst>
              <a:gd name="adj" fmla="val 8000"/>
            </a:avLst>
          </a:prstGeom>
          <a:solidFill>
            <a:srgbClr val="9A5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700784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Georgia"/>
              </a:rPr>
              <a:t>3,08 pts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212848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Différence ajustée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560320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MDS-UPDRS III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46120"/>
            <a:ext cx="115214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832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Résultat principal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Variation moyenne du MDS-UPDRS III : −0,04 point sous lixisénatide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Variation moyenne du MDS-UPDRS III : +3,04 points sous placebo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Différence ajustée : 3,08 points en faveur du lixisénatide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Les nausées et vomissements étaient plus fréquents sous lixisénatide.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19  / 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618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26187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CHAPITRE III — CLINIQUE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Données cliniques : Exenatide-PD3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87782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D0D8"/>
                </a:solidFill>
                <a:latin typeface="Calibri"/>
              </a:rPr>
              <a:t>Essai de phase III, randomisé, contrôlé contre placebo — exénatide hebdomadaire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54480"/>
            <a:ext cx="3703320" cy="1508760"/>
          </a:xfrm>
          <a:prstGeom prst="roundRect">
            <a:avLst>
              <a:gd name="adj" fmla="val 8000"/>
            </a:avLst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0078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Georgia"/>
              </a:rPr>
              <a:t>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21284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Participants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5603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maladie de Parkinson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1554480"/>
            <a:ext cx="3703320" cy="1508760"/>
          </a:xfrm>
          <a:prstGeom prst="roundRect">
            <a:avLst>
              <a:gd name="adj" fmla="val 8000"/>
            </a:avLst>
          </a:prstGeom>
          <a:solidFill>
            <a:srgbClr val="1A6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700784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Georgia"/>
              </a:rPr>
              <a:t>96 sem.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212848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Traitement et suivi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3520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vs placebo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749039" cy="1508760"/>
          </a:xfrm>
          <a:prstGeom prst="roundRect">
            <a:avLst>
              <a:gd name="adj" fmla="val 8000"/>
            </a:avLst>
          </a:prstGeom>
          <a:solidFill>
            <a:srgbClr val="8B45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700784"/>
            <a:ext cx="35661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Georgia"/>
              </a:rPr>
              <a:t>Négatif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2212848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B8D8E0"/>
                </a:solidFill>
                <a:latin typeface="Calibri"/>
              </a:rPr>
              <a:t>Critère principal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560320"/>
            <a:ext cx="35661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0B8C0"/>
                </a:solidFill>
                <a:latin typeface="Calibri"/>
              </a:rPr>
              <a:t>MDS-UPDRS III OFF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46120"/>
            <a:ext cx="1152144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3832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500" b="1">
                <a:solidFill>
                  <a:srgbClr val="1A2226"/>
                </a:solidFill>
                <a:latin typeface="Calibri"/>
              </a:rPr>
              <a:t>▸  Résultat principal :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Aggravation similaire du score moteur MDS-UPDRS III à l’état OFF dans les deux groupes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4E5E66"/>
                </a:solidFill>
                <a:latin typeface="Calibri"/>
              </a:rPr>
              <a:t>      ○  Absence de différence significative sur le critère principal</a:t>
            </a:r>
          </a:p>
          <a:p>
            <a:pPr>
              <a:spcAft>
                <a:spcPts val="700"/>
              </a:spcAft>
            </a:pPr>
            <a:r>
              <a:rPr sz="1500" b="0">
                <a:solidFill>
                  <a:srgbClr val="1A2226"/>
                </a:solidFill>
                <a:latin typeface="Calibri"/>
              </a:rPr>
              <a:t>▸  Conclusion : aucun argument en faveur d’un effet modificateur de la maladie avec l’exénatide dans cette population.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20  / 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1078992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A8A9A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20624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Messages clés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98448"/>
            <a:ext cx="11521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566928" cy="7315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6304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08176"/>
            <a:ext cx="10561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Les agonistes du GLP-1R sont des médicaments majeurs dans le DT2 et, pour certaines molécules, dans l’obésité et la prévention cardio-rénale.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103120"/>
            <a:ext cx="11521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103120"/>
            <a:ext cx="566928" cy="7315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267712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212848"/>
            <a:ext cx="10561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Leur intérêt dans Parkinson repose sur une plausibilité biologique cohérente et des résultats précliniques encourageants.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2907792"/>
            <a:ext cx="11521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907792"/>
            <a:ext cx="566928" cy="7315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072384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017520"/>
            <a:ext cx="10561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Les données cliniques restent contradictoires : signal favorable à court terme (LIXIPARK / lixisénatide) ; résultat négatif (Exenatide-PD3).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3712464"/>
            <a:ext cx="11521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712464"/>
            <a:ext cx="566928" cy="731520"/>
          </a:xfrm>
          <a:prstGeom prst="rect">
            <a:avLst/>
          </a:prstGeom>
          <a:solidFill>
            <a:srgbClr val="C47A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3877056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822192"/>
            <a:ext cx="10561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Il n’existe pas, à ce jour, de preuve d’un effet de classe ni d’indication des agonistes du GLP-1R dans Parkinson.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" y="4517136"/>
            <a:ext cx="11521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517136"/>
            <a:ext cx="566928" cy="7315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681728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626864"/>
            <a:ext cx="10561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Leur utilisation dans cette maladie doit rester limitée aux protocoles de recherche clinique.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5321808"/>
            <a:ext cx="115214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321808"/>
            <a:ext cx="566928" cy="731520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48640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431536"/>
            <a:ext cx="105613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26"/>
                </a:solidFill>
                <a:latin typeface="Calibri"/>
              </a:rPr>
              <a:t>Le pharmacien joue un rôle essentiel dans l’éducation thérapeutique, la surveillance de la tolérance et la prévention des usages hors indication non justifiés.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A3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6547104"/>
            <a:ext cx="9692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Sara Yousef &amp; Wiam Bourhan  ·  Université Libanaise — Faculté de Pharmacie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54710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Calibri"/>
              </a:rPr>
              <a:t>21  / 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