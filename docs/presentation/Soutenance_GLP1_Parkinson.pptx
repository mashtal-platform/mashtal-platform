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itle_bg_mu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640080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0" y="0"/>
            <a:ext cx="91440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92240" y="4754880"/>
            <a:ext cx="5669280" cy="2103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2296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EC8D4"/>
                </a:solidFill>
                <a:latin typeface="Calibri"/>
              </a:rPr>
              <a:t>SOUTENANCE DE THÈSE  ·  PHARMACIE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80160"/>
            <a:ext cx="5669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Georgia"/>
              </a:rPr>
              <a:t>Agonistes du GLP-1 :
mise au point et potentiel
prometteur pour la
maladie de Parkinson</a:t>
            </a:r>
          </a:p>
        </p:txBody>
      </p:sp>
      <p:pic>
        <p:nvPicPr>
          <p:cNvPr id="8" name="Picture 7" descr="med_01_brain_pd_b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502920"/>
            <a:ext cx="5212080" cy="4023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02920" y="5029200"/>
            <a:ext cx="214884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Physiologie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5029200"/>
            <a:ext cx="214884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Métabolisme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5029200"/>
            <a:ext cx="214884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Neuroprotection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60920" y="5029200"/>
            <a:ext cx="214884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60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LIXIPARK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46920" y="5029200"/>
            <a:ext cx="2148840" cy="10972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53492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Pharmacien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ORGANISATION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Plan de la présentation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2194560" cy="11887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Parkinson, besoin, repositionnement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280160"/>
            <a:ext cx="2194560" cy="11887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9748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GLP-1, récepteur, agonistes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37760" y="1280160"/>
            <a:ext cx="2194560" cy="118872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DT2, obésité, cardio-rénal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79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69479" y="1280160"/>
            <a:ext cx="2194560" cy="118872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9479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Chapitre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Neuroprotection &amp; essais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01200" y="1280160"/>
            <a:ext cx="2194560" cy="48463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0" y="1280160"/>
            <a:ext cx="2194560" cy="11887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0" y="141732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965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60" y="2834640"/>
            <a:ext cx="1920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121E28"/>
                </a:solidFill>
                <a:latin typeface="Calibri"/>
              </a:rPr>
              <a:t>Messages &amp; discussion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 / 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OBJECTIFS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Quatre objectifs de la thèse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914400" cy="10972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6304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71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Physiologie &amp; pharmacologie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17830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GLP-1, GLP-1R, panorama des agonistes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423160"/>
            <a:ext cx="914400" cy="10972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6974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606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Indications validées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017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protection cardio-rénale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65760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657600"/>
            <a:ext cx="914400" cy="10972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93192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840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Repositionnement Parkinson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4251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Mécanismes, préclinique, LIXIPARK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892040"/>
            <a:ext cx="11612880" cy="10972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892040"/>
            <a:ext cx="914400" cy="10972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516636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20" y="5074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D2F4F"/>
                </a:solidFill>
                <a:latin typeface="Georgia"/>
              </a:rPr>
              <a:t>Rôle du pharmacien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4864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 / 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D95D39"/>
                </a:solidFill>
                <a:latin typeface="Calibri"/>
              </a:rPr>
              <a:t>PARTIE 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Contexte &amp; besoin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Parkinson : fardeau, physiopathologie, impasse thérapeutique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4 / 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Maladie de Parkinson — anatomie fonctionnelle</a:t>
            </a:r>
          </a:p>
        </p:txBody>
      </p:sp>
      <p:pic>
        <p:nvPicPr>
          <p:cNvPr id="7" name="Picture 6" descr="med_01_brain_pd_b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2ᵉ neurodégénérescence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Atteinte substance noire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Déficit dopaminergique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Moteurs + non moteurs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Aucun modificateur validé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Besoin neuroprotecteur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L’image montre la cible : préserver les neurones dopaminergiques, pas seulement masquer les symptômes.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5 / 30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Physiopathologie — 6 mécanismes clés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α-synucléine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Agrégation et propagation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Mitochondries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Dysfonction et ROS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Stress oxydatif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Lésions cumulatives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Neuroinflammation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Microglie activée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Autophagie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altérée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Gènes / environnement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Susceptibilité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Cible potentielle des agonistes GLP-1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6 / 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Traitements actuels : utiles mais limités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74320" y="1188720"/>
          <a:ext cx="1161288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931920"/>
                <a:gridCol w="475488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Classe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Rôle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Limite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Lévodopa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Référence motrice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Fluctuations / dyskinésies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Agonistes DA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Symptômes moteurs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EI neuropsychiatriques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IMAO-B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Potentialisation 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Effet symptomatique seul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Amantadine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Dyskinésies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Pas d’effet modificateur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74320" y="4572000"/>
            <a:ext cx="11612880" cy="169164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800600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C98A1A"/>
                </a:solidFill>
                <a:latin typeface="Calibri"/>
              </a:rPr>
              <a:t>MESSAGE CLÉ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212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Améliorer les symptômes ≠ freiner la neurodégénérescence.
Le repositionnement des agonistes du GLP-1 répond à ce besoin.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7 / 30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repositionner les agonistes du GLP-1 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Avantages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PK/PD déjà connues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Tolérance documentée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Développement accéléré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GLP-1R présent dans le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humains déjà menés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Hypothèse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Anti-inflammatoire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Anti-oxydant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Anti-apoptotique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Soutien mitochondrial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Clairance α-synucléine (hypothèse)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8 / 30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1_gl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86"/>
                </a:solidFill>
                <a:latin typeface="Calibri"/>
              </a:rPr>
              <a:t>PARTIE 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1 — Physiologie &amp; pharmacologie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GLP-1, récepteur, courte/longue durée, panorama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9 / 30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Physiologie du GLP-1 — du tube digestif au pancréas</a:t>
            </a:r>
          </a:p>
        </p:txBody>
      </p:sp>
      <p:pic>
        <p:nvPicPr>
          <p:cNvPr id="7" name="Picture 6" descr="med_02_glp1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Cellules L intestinales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Hormone incrétine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 glucose-dépendante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DPP-4 : demi-vie 1–2 min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résistants DPP-4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toute la classe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Sans résistance à la DPP-4, pas de médicament utilisable : c’est le cœur du design pharmaceutique.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10 / 30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Récepteur GLP-1R et voies de signalisation</a:t>
            </a:r>
          </a:p>
        </p:txBody>
      </p:sp>
      <p:pic>
        <p:nvPicPr>
          <p:cNvPr id="7" name="Picture 6" descr="med_03_recep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GPCR classe B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Pancréas, cœur, rein, SNC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AMPc → PKA / EPAC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PI3K / Akt : survie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MAPK / ERK : réparation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Base de la neuroprotection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Même récepteur, plusieurs cascades : métabolisme périphérique et survie neuronale.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11 / 30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Courte vs longue durée d’action</a:t>
            </a:r>
          </a:p>
        </p:txBody>
      </p:sp>
      <p:pic>
        <p:nvPicPr>
          <p:cNvPr id="7" name="Picture 6" descr="med_04_agoni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: exénatide, lixisénatide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Stimulation intermittente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Fort effet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: lira, dula, séma…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Exposition continue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 contrôle HbA1c / jeûne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La durée d’exposition du récepteur explique les différences d’efficacité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12 / 30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Panorama des agonistes — référence claire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011680"/>
                <a:gridCol w="2560320"/>
                <a:gridCol w="4937760"/>
              </a:tblGrid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Profil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Admin.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Point clé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2×/j ou LP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Essais Parkinson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Courte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LIXIPARK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1×/j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LEADER / obésité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Dulaglutide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REWIND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Longue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 / oral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STEP / essais PD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Tirzépatide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GIP/GLP-1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1×/sem.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21E28"/>
                          </a:solidFill>
                          <a:latin typeface="Calibri"/>
                        </a:rPr>
                        <a:t>Puissance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5029200"/>
            <a:ext cx="11704320" cy="123444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Structure différente → demi-vie et accès au SNC variables. La classe n’est pas uniforme en neurologie.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13 / 30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Six actions métaboliques simultanées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↑ Insuline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Glucose-dépendante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↓ Glucagon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Moins de glucose hépatique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Vidange gastrique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pic postprandial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Satiété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poids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Cellules 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et fonction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Pléiotropie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Cœur, rein, inflammation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14 / 30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2_metabo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B7CB8"/>
                </a:solidFill>
                <a:latin typeface="Calibri"/>
              </a:rPr>
              <a:t>PARTIE 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2 — Indications validées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DT2, obésité, cardio-rénal, tolérance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15 / 30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Diabète de type 2 — place actuelle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5544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0,8–1,8%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 HbA1c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5544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ADA/EASD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Classe majeure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5544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Faible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Hypoglycémie*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971800"/>
            <a:ext cx="576072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13639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15468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Rationnel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657600"/>
            <a:ext cx="539496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incrétine diminué dans le DT2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Agonistes = incrétine durable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Courte durée → postprandial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Longue durée → jeûne / HbA1c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971800"/>
            <a:ext cx="5669280" cy="32461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13639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1729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1546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En pratique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657600"/>
            <a:ext cx="530352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Après mesures ± metformine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Précoce si risque CV / MRC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Séma &amp; tirzépatide très puissants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*sauf association insuline/sulfamides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16 / 30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Obésité — un changement de paradigme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164592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~15%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Sémaglutide (STEP)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188720"/>
            <a:ext cx="3794760" cy="164592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14173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3 mg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011680"/>
            <a:ext cx="3611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Liraglutide (SCALE)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1188720"/>
            <a:ext cx="3840480" cy="164592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17320"/>
            <a:ext cx="3657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0116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Tirzépatide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063240"/>
            <a:ext cx="576072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8912" y="322783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32461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Mécanismes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749040"/>
            <a:ext cx="53949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appétit / ↑ satiété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Réduction des apports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Meilleure sensibilité insulinique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Impact cardiométabolique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063240"/>
            <a:ext cx="5669280" cy="3154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2512" y="322783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2512" y="326440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76288" y="3246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Conseil pharmacien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749040"/>
            <a:ext cx="530352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= adhésion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 = 1ʳᵉ cause d’arrêt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 + hydratation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17 / 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Cardioprotection et néphroprotection</a:t>
            </a:r>
          </a:p>
        </p:txBody>
      </p:sp>
      <p:pic>
        <p:nvPicPr>
          <p:cNvPr id="7" name="Picture 6" descr="med_05_cardiore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LEADER : liraglutide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SUSTAIN-6 : sémaglutide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REWIND : dulaglutide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MACE démontré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rénal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Au-delà de l’HbA1c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Ces essais ont repositionné la classe dans les recommandations internationales.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18 / 30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Tolérance &amp; sécurité — check-list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319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Fréquents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Nausées / vomissements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Diarrhées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Début / ↑ dose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Souvent transitoires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lente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6052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2511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1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888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À anticiper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Hypoglycémie si associations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 (alerte)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Complications biliaires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Contre-indications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188720"/>
            <a:ext cx="38404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25703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50808" y="137160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Messages utiles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1874520"/>
            <a:ext cx="3474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Classe mature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de sécurité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Profil favorable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Info patient claire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 EI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19 / 30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ec_ch3_parkin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6217920" cy="68580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0" y="0"/>
            <a:ext cx="109728" cy="685800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A8F62"/>
                </a:solidFill>
                <a:latin typeface="Calibri"/>
              </a:rPr>
              <a:t>PARTIE  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5303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Georgia"/>
              </a:rPr>
              <a:t>Chapitre 3 — Parkinson &amp; preuves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023360"/>
            <a:ext cx="5303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B5DCE4"/>
                </a:solidFill>
                <a:latin typeface="Calibri"/>
              </a:rPr>
              <a:t>Mécanismes, préclinique, essais, pharmacien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436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8AB8C0"/>
                </a:solidFill>
                <a:latin typeface="Calibri"/>
              </a:rPr>
              <a:t>20 / 30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Pourquoi le GLP-1 dans la Parkinson 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4572000"/>
                <a:gridCol w="4023360"/>
              </a:tblGrid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Mécanisme PD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Effet GLP-1 potentiel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Preuve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Neuroinflammation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microglie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Stress oxydatif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↓ ROS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Mitochondries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Soutien énergétique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Apoptose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Voies de survie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Préclin. ++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α-synucléine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Autophagie / clairance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Exploratoire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21 / 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Mécanismes neuroprotecteurs putatifs</a:t>
            </a:r>
          </a:p>
        </p:txBody>
      </p:sp>
      <p:pic>
        <p:nvPicPr>
          <p:cNvPr id="7" name="Picture 6" descr="med_06_ne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Activation GLP-1R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Survie neuronale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inflammation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stress oxydatif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↓ apoptose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Autophagie / α-syn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Plausibilité biologique forte — étape nécessaire avant la preuve clinique.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22 / 30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Préclinique : signaux convergents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4300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9144000"/>
              </a:tblGrid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Observations (MPTP / 6-OHDA)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Préservation neurones DA · ↓ oxydatif / inflammation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Liraglutide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Amélioration motrice · protection neuronale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Intérêt pour action centrale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Survie · autophagie · ↓ α-syn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297680"/>
            <a:ext cx="11704320" cy="192024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5262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LIMITE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93776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La plausibilité animale ne garantit pas le succès humain.
Le passage modèle → clinique reste l’obstacle majeur.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23 / 30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Exénatide : espoir puis échec de phase III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Espoir initial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Études ouvertes encourageantes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 contrôlé initial positif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Bonne tolérance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Rationnel préclinique solide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Ouverture du champ GLP-1 / PD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Phase III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 de bénéfice significatif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Déception pour le champ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N’invalide pas toute la classe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Limites : sélection, durée, BHE ?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Signal ≠ preuve définitive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24 / 30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LIXIPARK — signal clinique le plus encourageant</a:t>
            </a:r>
          </a:p>
        </p:txBody>
      </p:sp>
      <p:pic>
        <p:nvPicPr>
          <p:cNvPr id="7" name="Picture 6" descr="med_07_lixip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PD stade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Lixisénatide vs placebo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Scores moteurs stabilisés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Placebo : aggravation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Effet après washout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Questions de durabilité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Persistance après washout : argument contre un pur effet symptomatique immédiat.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25 / 30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Synthèse des essais — classe hétérogène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28600" y="1188720"/>
          <a:ext cx="117043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474720"/>
                <a:gridCol w="4572000"/>
              </a:tblGrid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Molécule / essai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Design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Résultat</a:t>
                      </a:r>
                    </a:p>
                  </a:txBody>
                  <a:tcPr>
                    <a:solidFill>
                      <a:srgbClr val="0D2F4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Exénatide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Ouvert → phase III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Non confirmé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Lixisénatide (LIXIPARK)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Contrôlé, précoce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Stabilisation + washout</a:t>
                      </a:r>
                    </a:p>
                  </a:txBody>
                  <a:tcPr>
                    <a:solidFill>
                      <a:srgbClr val="E8F0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Sémaglutide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En cours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121E28"/>
                          </a:solidFill>
                          <a:latin typeface="Calibri"/>
                        </a:rPr>
                        <a:t>Résultats attendus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28600" y="4480560"/>
            <a:ext cx="11704320" cy="173736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4846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Calibri"/>
              </a:rPr>
              <a:t>L’efficacité dépend de la molécule, du stade, de la BHE et du design.
Ne pas extrapoler un résultat à toute la classe.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26 / 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Limites et perspectives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576072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Limites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Peu d’essais, tailles modestes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Durées courtes vs maladie lente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Critères ≠ preuve neuroprotectrice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Passage BHE variable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Biomarqueurs manquants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188720"/>
            <a:ext cx="5669280" cy="502920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382512" y="13533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371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Perspectives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874520"/>
            <a:ext cx="53035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Intervention précoce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Sélection par biomarqueurs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Essais plus larges et longs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Analogues plus pénétrants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Approches combinées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27 / 30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 · ATLAS MÉDICAL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Rôle du pharmacien — sécuriser le parcours</a:t>
            </a:r>
          </a:p>
        </p:txBody>
      </p:sp>
      <p:pic>
        <p:nvPicPr>
          <p:cNvPr id="7" name="Picture 6" descr="med_08_pha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1143000"/>
            <a:ext cx="7315200" cy="41605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680960" y="1143000"/>
            <a:ext cx="4251960" cy="41605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845552" y="130759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45552" y="134416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39328" y="1325880"/>
            <a:ext cx="3429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Points clés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82128" y="1828800"/>
            <a:ext cx="3886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Éducation injection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 progressive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Gestion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Pharmacovigilance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Usage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Coordination pluridisciplinaire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8600" y="5440680"/>
            <a:ext cx="11704320" cy="91440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553212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8A1A"/>
                </a:solidFill>
                <a:latin typeface="Calibri"/>
              </a:rPr>
              <a:t>À RETENIR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580644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Aujourd’hui en métabolisme ; demain potentiellement en neurologie : le pharmacien reste central.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28 / 30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CHAPITRE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Missions du pharmacien — grille claire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38912" y="1353312"/>
            <a:ext cx="384048" cy="384048"/>
          </a:xfrm>
          <a:prstGeom prst="ellipse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Éducation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Injection SC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Titration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Oublis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370832" y="1353312"/>
            <a:ext cx="384048" cy="384048"/>
          </a:xfrm>
          <a:prstGeom prst="ellipse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7083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6460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Tolérance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EI digestifs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Repas légers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Adhésion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1887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02752" y="1353312"/>
            <a:ext cx="384048" cy="384048"/>
          </a:xfrm>
          <a:prstGeom prst="ellipse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13898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96528" y="13716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Vigilance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18745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Insuline/sulfamides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Pancréatite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Biliaire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38912" y="3867912"/>
            <a:ext cx="384048" cy="384048"/>
          </a:xfrm>
          <a:prstGeom prst="ellipse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91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Essais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Traçabilité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Protocole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Dispensation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0624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70832" y="3867912"/>
            <a:ext cx="384048" cy="384048"/>
          </a:xfrm>
          <a:prstGeom prst="ellipse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7083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6460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Information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Validé vs expérimental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Attentes réalistes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703320"/>
            <a:ext cx="3794760" cy="233172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02752" y="3867912"/>
            <a:ext cx="384048" cy="384048"/>
          </a:xfrm>
          <a:prstGeom prst="ellipse">
            <a:avLst/>
          </a:prstGeom>
          <a:solidFill>
            <a:srgbClr val="1A4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02752" y="390448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96528" y="3886200"/>
            <a:ext cx="2971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D2F4F"/>
                </a:solidFill>
                <a:latin typeface="Georgia"/>
              </a:rPr>
              <a:t>Coordination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4389120"/>
            <a:ext cx="342900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Neurologue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Endocrinologue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21E28"/>
                </a:solidFill>
                <a:latin typeface="Calibri"/>
              </a:rPr>
              <a:t>●  MG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Agonistes du GLP-1  ·  Parkinson  ·  Soutenance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29 / 30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8EC8D4"/>
                </a:solidFill>
                <a:latin typeface="Calibri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Cinq messages à retenir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14300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143000"/>
            <a:ext cx="777240" cy="868680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34416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5272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Classe mature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0020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DT2, obésité, cardio-rénal : place solide.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210312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2103120"/>
            <a:ext cx="777240" cy="868680"/>
          </a:xfrm>
          <a:prstGeom prst="rect">
            <a:avLst/>
          </a:prstGeom>
          <a:solidFill>
            <a:srgbClr val="2A8F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30428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21284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Rationnel fort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56032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Neuroprotection plausible en préclinique.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306324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74320" y="3063240"/>
            <a:ext cx="777240" cy="868680"/>
          </a:xfrm>
          <a:prstGeom prst="rect">
            <a:avLst/>
          </a:prstGeom>
          <a:solidFill>
            <a:srgbClr val="D95D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326440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7296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Clinique mixte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352044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Exénatide –  ·  LIXIPARK +  ·  séma en cours.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402336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023360"/>
            <a:ext cx="777240" cy="868680"/>
          </a:xfrm>
          <a:prstGeom prst="rect">
            <a:avLst/>
          </a:prstGeom>
          <a:solidFill>
            <a:srgbClr val="C98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22452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13308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Preuve à bâtir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48056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Essais plus larges, précoces, ciblés, longs.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983480"/>
            <a:ext cx="11612880" cy="868680"/>
          </a:xfrm>
          <a:prstGeom prst="rect">
            <a:avLst/>
          </a:prstGeom>
          <a:solidFill>
            <a:srgbClr val="EE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4320" y="4983480"/>
            <a:ext cx="777240" cy="868680"/>
          </a:xfrm>
          <a:prstGeom prst="rect">
            <a:avLst/>
          </a:prstGeom>
          <a:solidFill>
            <a:srgbClr val="2B7C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" y="5184648"/>
            <a:ext cx="777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5093208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D2F4F"/>
                </a:solidFill>
                <a:latin typeface="Georgia"/>
              </a:rPr>
              <a:t>Pharmacien clé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440680"/>
            <a:ext cx="10332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F424C"/>
                </a:solidFill>
                <a:latin typeface="Calibri"/>
              </a:rPr>
              <a:t>Éducation, vigilance, coordination.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D2F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" y="6583680"/>
            <a:ext cx="9144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Merci  ·  Questions &amp; discussion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0" y="6583680"/>
            <a:ext cx="1554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Calibri"/>
              </a:rPr>
              <a:t>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