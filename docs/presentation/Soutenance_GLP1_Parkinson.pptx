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73152" cy="6858000"/>
          </a:xfrm>
          <a:prstGeom prst="rect">
            <a:avLst/>
          </a:prstGeom>
          <a:solidFill>
            <a:srgbClr val="E09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B8C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6035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Agonistes du GLP-1 :
mise au point et potentiel
prometteur pour la maladie
de Parkinson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457200"/>
            <a:ext cx="52120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nn_01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48640"/>
            <a:ext cx="5029200" cy="3474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4846320"/>
            <a:ext cx="2148840" cy="123444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4846320"/>
            <a:ext cx="2148840" cy="123444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52120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846320"/>
            <a:ext cx="2148840" cy="1234440"/>
          </a:xfrm>
          <a:prstGeom prst="roundRect">
            <a:avLst>
              <a:gd name="adj" fmla="val 6000"/>
            </a:avLst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52120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846320"/>
            <a:ext cx="2148840" cy="1234440"/>
          </a:xfrm>
          <a:prstGeom prst="roundRect">
            <a:avLst>
              <a:gd name="adj" fmla="val 6000"/>
            </a:avLst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52120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4846320"/>
            <a:ext cx="2148840" cy="1234440"/>
          </a:xfrm>
          <a:prstGeom prst="roundRect">
            <a:avLst>
              <a:gd name="adj" fmla="val 6000"/>
            </a:avLst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52120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09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Plan — 5 blocs, lecture continue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97280"/>
            <a:ext cx="2240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97280"/>
            <a:ext cx="224028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143000"/>
            <a:ext cx="2020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 · 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481328"/>
            <a:ext cx="2020824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Parkinson &amp; fardeau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Physiopathologie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Limites thérapeutiques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Repositionnement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097280"/>
            <a:ext cx="2240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097280"/>
            <a:ext cx="224028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5768" y="1143000"/>
            <a:ext cx="2020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 · Chapitre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1481328"/>
            <a:ext cx="2020824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Physiologie GLP-1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Récepteur &amp; voies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Courte vs longue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Panorama molécules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097280"/>
            <a:ext cx="2240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83480" y="1097280"/>
            <a:ext cx="2240280" cy="329184"/>
          </a:xfrm>
          <a:prstGeom prst="rect">
            <a:avLst/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8" y="1143000"/>
            <a:ext cx="2020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 · Chapitre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1481328"/>
            <a:ext cx="2020824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DT2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Obésité / poids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Cardio-rénal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Tolérance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097280"/>
            <a:ext cx="2240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097280"/>
            <a:ext cx="2240280" cy="329184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0648" y="1143000"/>
            <a:ext cx="2020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 · Chapitre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481328"/>
            <a:ext cx="2020824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Mécanismes PD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Préclinique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Exénatide / LIXIPARK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Pharmacien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8360" y="1097280"/>
            <a:ext cx="2240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38360" y="1097280"/>
            <a:ext cx="2240280" cy="329184"/>
          </a:xfrm>
          <a:prstGeom prst="rect">
            <a:avLst/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8088" y="1143000"/>
            <a:ext cx="2020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 · Conclusion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48088" y="1481328"/>
            <a:ext cx="2020824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5 messages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Perspectives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Discussion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Questions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2/30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OBJECTIFS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Quatre objectifs — fil pharmacologique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1170432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51560"/>
            <a:ext cx="777240" cy="117043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371600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16128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3D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5087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555C"/>
                </a:solidFill>
                <a:latin typeface="Calibri"/>
              </a:rPr>
              <a:t>GLP-1, GLP-1R, structures, PK courte/longue, panorama des agonistes.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417320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9047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Demi-vie DPP-4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1417320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149047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Signalisation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1417320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0" y="149047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Tableau comparatif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" y="2331720"/>
            <a:ext cx="1170432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2331720"/>
            <a:ext cx="777240" cy="1170432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8600" y="2651760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4414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3D4F"/>
                </a:solidFill>
                <a:latin typeface="Georgia"/>
              </a:rPr>
              <a:t>Indications validées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2788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555C"/>
                </a:solidFill>
                <a:latin typeface="Calibri"/>
              </a:rPr>
              <a:t>DT2, obésité, protection cardio-rénale, place ADA/EASD.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697480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7706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HbA1c 0,8–1,8%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0" y="2697480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27706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STEP / SCALE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697480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27706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LEADER / SUSTAIN-6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8600" y="3611880"/>
            <a:ext cx="1170432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611880"/>
            <a:ext cx="777240" cy="1170432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" y="3931920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72160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3D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406908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555C"/>
                </a:solidFill>
                <a:latin typeface="Calibri"/>
              </a:rPr>
              <a:t>Mécanismes, préclinique, essais (exénatide, LIXIPARK, séma).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3977640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40507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18320" y="3977640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0" y="40507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Hétérogénéité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607040" y="3977640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07040" y="40507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Washout LIXIPARK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" y="4892039"/>
            <a:ext cx="1170432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8600" y="4892039"/>
            <a:ext cx="777240" cy="1170432"/>
          </a:xfrm>
          <a:prstGeom prst="rect">
            <a:avLst/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8600" y="5212079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5001767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3D4F"/>
                </a:solidFill>
                <a:latin typeface="Georgia"/>
              </a:rPr>
              <a:t>Rôle du pharmacien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5349239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555C"/>
                </a:solidFill>
                <a:latin typeface="Calibri"/>
              </a:rPr>
              <a:t>Éducation, vigilance, essais, coordination pluridisciplinaire.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0" y="5257799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0" y="533095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Injection / titration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18320" y="5257799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18320" y="533095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EI digestifs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607040" y="5257799"/>
            <a:ext cx="1097280" cy="411480"/>
          </a:xfrm>
          <a:prstGeom prst="roundRect">
            <a:avLst>
              <a:gd name="adj" fmla="val 6000"/>
            </a:avLst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533095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Usage validé vs expérimental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3/30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1371600" cy="45720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PARTIE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B8C4"/>
                </a:solidFill>
                <a:latin typeface="Calibri"/>
              </a:rPr>
              <a:t>Parkinson : fardeau, physiopathologie, impasse, repositionnement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Pharmacologie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Indications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Parkinson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AA8B0"/>
                </a:solidFill>
                <a:latin typeface="Calibri"/>
              </a:rPr>
              <a:t>4/30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CONTEXTE · ILLUSTRÉ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Parkinson : lire l’image = comprendre le problème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6720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n_01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53796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86600" y="1051560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86600" y="1051560"/>
            <a:ext cx="484632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6328" y="1097280"/>
            <a:ext cx="4626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Ce que montre l’image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435608"/>
            <a:ext cx="46268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2ᵉ neurodégénérescence (après Alzheimer)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Hausse attendue ×2–3 des patients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Moteurs + non moteurs → qualité de vie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α-synucléine, inflammation, oxydatif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Aucun modificateur de maladie validé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Cible idéale pour repositionnement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" y="5349240"/>
            <a:ext cx="11704320" cy="1005840"/>
          </a:xfrm>
          <a:prstGeom prst="roundRect">
            <a:avLst>
              <a:gd name="adj" fmla="val 6000"/>
            </a:avLst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4681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Dégénérescence dopaminergique + mécanismes multiples → besoin d’un traitement modificateur, pas seulement symptomatique.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5/30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09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CONTEXTE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Physiopathologie — 6 cibles potentielles du GLP-1R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51560"/>
            <a:ext cx="379476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43560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Agrégation, toxicité, propagation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Modulable potentiellement par agonistes GLP-1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Justifie l’hypothèse neuroprotectrice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05156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051560"/>
            <a:ext cx="379476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Mitochondries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143560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Dysfonction énergétique + ROS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Modulable potentiellement par agonistes GLP-1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Justifie l’hypothèse neuroprotectrice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5156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51560"/>
            <a:ext cx="3794760" cy="329184"/>
          </a:xfrm>
          <a:prstGeom prst="rect">
            <a:avLst/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Stress oxydatif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143560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Lésions cumulatives neuronales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Modulable potentiellement par agonistes GLP-1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Justifie l’hypothèse neuroprotectrice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365760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657600"/>
            <a:ext cx="3794760" cy="329184"/>
          </a:xfrm>
          <a:prstGeom prst="rect">
            <a:avLst/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70332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Neuroinflammation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404164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Microglie &amp; médiateurs toxiques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Modulable potentiellement par agonistes GLP-1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Justifie l’hypothèse neuroprotectrice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65760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3657600"/>
            <a:ext cx="3794760" cy="329184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0248" y="370332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Autophagie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0248" y="404164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Clairance protéique altérée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Modulable potentiellement par agonistes GLP-1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Justifie l’hypothèse neuroprotectrice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65760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657600"/>
            <a:ext cx="3794760" cy="329184"/>
          </a:xfrm>
          <a:prstGeom prst="rect">
            <a:avLst/>
          </a:prstGeom>
          <a:solidFill>
            <a:srgbClr val="C44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370332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Gènes / environnement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404164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Susceptibilité &amp; progression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Modulable potentiellement par agonistes GLP-1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Justifie l’hypothèse neuroprotectrice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6/30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CONTEXTE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Traitements actuels : utiles, mais non modificateurs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051560"/>
          <a:ext cx="117043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840480"/>
                <a:gridCol w="466344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Rôle clinique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Limite majeure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Lévodopa (± ICOMT)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Fluctuations /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Agonistes dopaminergiques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EI neuropsychiatriques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Potentialisation dopamine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Thérapies avancées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Stades compliqués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Invasives, sélection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28600" y="4297680"/>
            <a:ext cx="5669280" cy="196596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4480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MESSAGE PHARMACOLOGIQUE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8463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Améliorer les symptômes ≠ freiner la neurodégénérescence. Le besoin d’une stratégie neuroprotectrice reste entier.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4297680"/>
            <a:ext cx="5852160" cy="1965960"/>
          </a:xfrm>
          <a:prstGeom prst="roundRect">
            <a:avLst>
              <a:gd name="adj" fmla="val 6000"/>
            </a:avLst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4480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POURQUOI LE REPOSITIONNEMENT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▸ PK/PD et tolérance déjà connus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▸ Délais/coûts réduits vs 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▸ GLP-1R présent dans le SNC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7/30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CONTEXTE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Repositionnement GLP-1 : logique en 2 colonnes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580644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51560"/>
            <a:ext cx="580644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097280"/>
            <a:ext cx="5586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Avantages stratégiques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435608"/>
            <a:ext cx="5586984" cy="472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PK/PD connues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données déjà disponibles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Tolérance documentée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classe mature, millions de patients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Développement accéléré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vs molécule de novo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Pertinent en neuro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nombreux échecs d’innovations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GLP-1R au SNC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hypothalamus, tronc, hippocampe…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Essais déjà menés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exénatide, lixisénatide, séma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051560"/>
            <a:ext cx="571500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51560"/>
            <a:ext cx="571500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097280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Hypothèse thérapeutique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435608"/>
            <a:ext cx="5495544" cy="472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Anti-inflammatoire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↓ microglie / médiateurs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Anti-oxydant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↓ ROS, intégrité cellulaire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Anti-apoptotique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PI3K/Akt, PKA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Mitochondries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soutien énergétique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α-synucléine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autophagie / clairance (hypothèse)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6242A"/>
                </a:solidFill>
                <a:latin typeface="Calibri"/>
              </a:rPr>
              <a:t>▸ But</a:t>
            </a:r>
            <a:r>
              <a:rPr sz="1300" b="0">
                <a:solidFill>
                  <a:srgbClr val="3F555C"/>
                </a:solidFill>
                <a:latin typeface="Calibri"/>
              </a:rPr>
              <a:t> — ralentir la progression, pas seulement masquer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8/30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1371600" cy="45720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PARTIE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B8C4"/>
                </a:solidFill>
                <a:latin typeface="Calibri"/>
              </a:rPr>
              <a:t>GLP-1, récepteur, courte/longue durée, panorama des agonistes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Pharmacologie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Indications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Parkinson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AA8B0"/>
                </a:solidFill>
                <a:latin typeface="Calibri"/>
              </a:rPr>
              <a:t>9/30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1 · ILLUSTRÉ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Physiologie du GLP-1 — lire le parcours hormone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6720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n_02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53796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86600" y="1051560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86600" y="1051560"/>
            <a:ext cx="484632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6328" y="1097280"/>
            <a:ext cx="4626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Lecture de l’illustration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435608"/>
            <a:ext cx="46268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Cellules L (iléon / côlon)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Clivage du proglucagon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Formes actives (7-36)/(7-37)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Sécrétion postprandiale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Insuline glucose-dépendante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DPP-4 = contrainte PK majeure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Agonistes = solution pharmaceutique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" y="5349240"/>
            <a:ext cx="11704320" cy="100584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4681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Hormone incrétine utile… mais détruite en 1–2 min par la DPP-4 → d’où les agonistes résistants.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10/30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1 · ILLUSTRÉ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GLP-1R &amp; cascades — du ligand à la survie cellulaire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6720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n_03_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53796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86600" y="1051560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86600" y="1051560"/>
            <a:ext cx="484632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6328" y="1097280"/>
            <a:ext cx="4626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Ce que disent les flèches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435608"/>
            <a:ext cx="46268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GPCR classe B (463 AA)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Expression : pancréas, cœur, rein, SNC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Gs → AMPc → PKA / EPAC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PI3K/Akt : anti-apoptose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MAPK/ERK : réparation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Au cerveau : ↓ inflammation / oxydatif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Cible pléiotrope = opportunité 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" y="5349240"/>
            <a:ext cx="11704320" cy="1005840"/>
          </a:xfrm>
          <a:prstGeom prst="roundRect">
            <a:avLst>
              <a:gd name="adj" fmla="val 6000"/>
            </a:avLst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4681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Même récepteur, plusieurs voies : métabolisme périphérique ET neuroprotection centrale.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11/30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44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1 · ILLUSTRÉ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Courte vs longue durée — 2 profils, 2 usages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6720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n_04_agonis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53796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86600" y="1051560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86600" y="1051560"/>
            <a:ext cx="484632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6328" y="1097280"/>
            <a:ext cx="4626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Comparer les deux stylos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435608"/>
            <a:ext cx="46268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Courte : exénatide, lixisénatide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Stimulation intermittente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Fort effet vidange gastrique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Contrôle postprandial marqué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Longue : lira / dula / séma / tirzépatide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Exposition continue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Meilleur contrôle jeûne &amp; HbA1c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" y="5349240"/>
            <a:ext cx="11704320" cy="1005840"/>
          </a:xfrm>
          <a:prstGeom prst="roundRect">
            <a:avLst>
              <a:gd name="adj" fmla="val 6000"/>
            </a:avLst>
          </a:prstGeom>
          <a:solidFill>
            <a:srgbClr val="C44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4681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La durée d’exposition du récepteur dicte le profil clinique (postprandial vs jeûne/HbA1c).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12/30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09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1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Panorama des agonistes — tableau de référence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051560"/>
          <a:ext cx="1170432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2377440"/>
                <a:gridCol w="5394960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Particularité clinique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2×/j ou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Exendine-4 · essais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LIXIPARK · postprandial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DT2 + obésité ·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REWIND (CV)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STEP · SUSTAIN-6 · essais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Puissance métabolique majeure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28600" y="4754880"/>
            <a:ext cx="11704320" cy="146304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493776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POINT EXPERT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30352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Structure (exendine-4 vs GLP-1 humain, taille, lipidation) → demi-vie, immunogénicité et accès au SNC variables. La classe n’est pas uniforme pour un usage neurologique.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13/30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1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Mécanismes métaboliques — 6 actions simultanées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51560"/>
            <a:ext cx="379476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43560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Glucose-dépendante → peu d’hypoglycémies en monothérapie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 classiquement recherché en DT2/obésité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05156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051560"/>
            <a:ext cx="379476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↓ Glucagon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143560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Moins de production hépatique de glucose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 classiquement recherché en DT2/obésité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5156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51560"/>
            <a:ext cx="3794760" cy="329184"/>
          </a:xfrm>
          <a:prstGeom prst="rect">
            <a:avLst/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Vidange gastrique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143560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Ralentie (surtout courte durée) → ↓ pic postprandial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 classiquement recherché en DT2/obésité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365760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657600"/>
            <a:ext cx="3794760" cy="329184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70332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Satiété centrale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404164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↓ appétit → perte de poids cliniquement utile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 classiquement recherché en DT2/obésité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65760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3657600"/>
            <a:ext cx="3794760" cy="329184"/>
          </a:xfrm>
          <a:prstGeom prst="rect">
            <a:avLst/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0248" y="370332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Cellules 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0248" y="404164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Survie / fonction préservées (anti-apoptose)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 classiquement recherché en DT2/obésité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65760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657600"/>
            <a:ext cx="3794760" cy="329184"/>
          </a:xfrm>
          <a:prstGeom prst="rect">
            <a:avLst/>
          </a:prstGeom>
          <a:solidFill>
            <a:srgbClr val="C44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370332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Pléiotropie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404164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Vasculaire, rénal, inflammatoire — au-delà de l’HbA1c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 classiquement recherché en DT2/obésité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14/30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1371600" cy="457200"/>
          </a:xfrm>
          <a:prstGeom prst="roundRect">
            <a:avLst>
              <a:gd name="adj" fmla="val 6000"/>
            </a:avLst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PARTIE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B8C4"/>
                </a:solidFill>
                <a:latin typeface="Calibri"/>
              </a:rPr>
              <a:t>DT2, obésité, cardio-rénal, tolérance : la base solide du repositionnement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Pharmacologie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Indications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Parkinson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AA8B0"/>
                </a:solidFill>
                <a:latin typeface="Calibri"/>
              </a:rPr>
              <a:t>15/30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2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Diabète de type 2 — place clinique actuelle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1161288"/>
            <a:ext cx="3648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1600200"/>
            <a:ext cx="3648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↓ HbA1c typique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920240"/>
            <a:ext cx="3648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F2EE"/>
                </a:solidFill>
                <a:latin typeface="Calibri"/>
              </a:rPr>
              <a:t>selon molécule / dose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05156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33672" y="1161288"/>
            <a:ext cx="3648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1600200"/>
            <a:ext cx="3648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1920240"/>
            <a:ext cx="3648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F2EE"/>
                </a:solidFill>
                <a:latin typeface="Calibri"/>
              </a:rPr>
              <a:t>précoce si CV/MRC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51560"/>
            <a:ext cx="3840480" cy="1417320"/>
          </a:xfrm>
          <a:prstGeom prst="roundRect">
            <a:avLst>
              <a:gd name="adj" fmla="val 6000"/>
            </a:avLst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1161288"/>
            <a:ext cx="36941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1600200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Risque d’hypoglycémie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1920240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F2EE"/>
                </a:solidFill>
                <a:latin typeface="Calibri"/>
              </a:rPr>
              <a:t>sauf +insuline/sulfamides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2651760"/>
            <a:ext cx="58064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2651760"/>
            <a:ext cx="580644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2697480"/>
            <a:ext cx="5586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Rationnel physiopathologique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3035808"/>
            <a:ext cx="5586984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DT2 = insulinorésistance + défaillance β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 incrétine diminué = cible clé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Agonistes = incrétine pharmacologique durable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Courte durée → postprandial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Longue durée → jeûne + HbA1c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Sémaglutide &amp; tirzépatide très puissants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651760"/>
            <a:ext cx="57150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651760"/>
            <a:ext cx="571500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7648" y="2697480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Décision thérapeutique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3035808"/>
            <a:ext cx="5495544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Après mesures hygiéno-diététiques ± metformine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Introduction précoce si MCV / MRC / haut risque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Bénéfice poids concomitant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Intensification préférée chez nombreux patients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Toujours éduquer sur titration &amp; EI digestifs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Surveillance associations hypoglycémiantes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16/30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09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2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Obésité — SCALE, STEP, SURMOUNT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3794760" cy="15544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1161288"/>
            <a:ext cx="3648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1600200"/>
            <a:ext cx="3648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920240"/>
            <a:ext cx="3648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F2EE"/>
                </a:solidFill>
                <a:latin typeface="Calibri"/>
              </a:rPr>
              <a:t>perte moyenne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051560"/>
            <a:ext cx="3794760" cy="155448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33672" y="1161288"/>
            <a:ext cx="3648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1600200"/>
            <a:ext cx="3648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1920240"/>
            <a:ext cx="3648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F2EE"/>
                </a:solidFill>
                <a:latin typeface="Calibri"/>
              </a:rPr>
              <a:t>bénéfice durable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51560"/>
            <a:ext cx="3840480" cy="1554480"/>
          </a:xfrm>
          <a:prstGeom prst="roundRect">
            <a:avLst>
              <a:gd name="adj" fmla="val 6000"/>
            </a:avLst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1161288"/>
            <a:ext cx="36941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1600200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1920240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F2EE"/>
                </a:solidFill>
                <a:latin typeface="Calibri"/>
              </a:rPr>
              <a:t>souvent &gt; sélectifs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2788920"/>
            <a:ext cx="580644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2788920"/>
            <a:ext cx="580644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2834640"/>
            <a:ext cx="5586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Mécanismes du bénéfice pondéral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3172968"/>
            <a:ext cx="5586984" cy="299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↓ appétit / ↑ satiété (action centrale)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Réduction des apports alimentaires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Amélioration sensibilité à l’insuline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Impact syndrome métabolique (PA, lipides)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 cliniquement significatif et durable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788920"/>
            <a:ext cx="571500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788920"/>
            <a:ext cx="571500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7648" y="2834640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Conseil officinal prioritaire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3172968"/>
            <a:ext cx="5495544" cy="299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Titration progressive = adhésion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EI digestifs = 1ʳᵉ cause d’arrêt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Repas légers, hydratation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Éducation injection / oubli / conservation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Suivi nutritionnel et motivationnel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17/30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2 · ILLUSTRÉ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Cardio-rénal — au-delà de la glycémie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6720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n_05_car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53796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86600" y="1051560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86600" y="1051560"/>
            <a:ext cx="4846320" cy="329184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6328" y="1097280"/>
            <a:ext cx="4626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Lire le triangle cœur–rein–glycé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435608"/>
            <a:ext cx="46268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LEADER : liraglutide ↓ MACE &amp; mortalité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SUSTAIN-6 : sémaglutide ↓ MACE + rein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REWIND : dulaglutide bénéfice CV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Mécanismes : poids, PA, lipides, inflammation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Effets directs vasculaires possibles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Intérêt fort si risque CV / MRC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" y="5349240"/>
            <a:ext cx="11704320" cy="1005840"/>
          </a:xfrm>
          <a:prstGeom prst="roundRect">
            <a:avLst>
              <a:gd name="adj" fmla="val 6000"/>
            </a:avLst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4681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LEADER, SUSTAIN-6, REWIND : bénéfice CV (et signal rénal) robuste → classe repositionnée dans les recommandations.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18/30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2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Tolérance &amp; sécurité — check-list pharmacien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3794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51560"/>
            <a:ext cx="379476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435608"/>
            <a:ext cx="3575304" cy="472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Nausées, vomissements, diarrhées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Surtout initiation / ↑ dose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Souvent transitoires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Réduits par titration lente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Cause n°1 d’arrêt précoce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Conseils : repas légers, hydratation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Réassurance + suivi rapproché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051560"/>
            <a:ext cx="3794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051560"/>
            <a:ext cx="3794760" cy="329184"/>
          </a:xfrm>
          <a:prstGeom prst="rect">
            <a:avLst/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À anticiper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1435608"/>
            <a:ext cx="3575304" cy="472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Hypoglycémie si insuline/sulfamides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Adapter/anticiper doses associées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Signes de pancréatite aiguë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Complications biliaires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Contre-indications spécifiques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Déclaration pharmacovigilance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Interactions / iatrogénie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51560"/>
            <a:ext cx="384048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51560"/>
            <a:ext cx="3840480" cy="329184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8" y="1097280"/>
            <a:ext cx="36210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Messages utiles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1435608"/>
            <a:ext cx="3621024" cy="472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Classe mature, essais de sécurité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Profil globalement favorable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Inquiétudes historiques non confirmées au niveau populationnel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Information claire du patient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Traçabilité des EI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Base solide pour explorer d’autres indications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19/30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1371600" cy="457200"/>
          </a:xfrm>
          <a:prstGeom prst="roundRect">
            <a:avLst>
              <a:gd name="adj" fmla="val 6000"/>
            </a:avLst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PARTIE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Chapitre 3 — Parkinson &amp; repositionnement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B8C4"/>
                </a:solidFill>
                <a:latin typeface="Calibri"/>
              </a:rPr>
              <a:t>Mécanismes, preuves, LIXIPARK, limites, rôle du pharmacien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Pharmacologie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Indications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Parkinson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475488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5257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AA8B0"/>
                </a:solidFill>
                <a:latin typeface="Calibri"/>
              </a:rPr>
              <a:t>20/30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3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Pourquoi le GLP-1 dans la Parkinson ? Matrice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051560"/>
          <a:ext cx="117043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029200"/>
                <a:gridCol w="3749039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Modulation potentielle GLP-1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Niveau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↓ microglie / médiateurs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Préclinique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↓ ROS, intégrité cellulaire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Préclinique ++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Soutien énergétique (Akt/AMPc)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Préclinique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Apoptose neuronale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Voies de survie PKA / Akt / ERK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Préclinique ++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Neurones DA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Préservation (modèles toxiques)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Préclin. → clin. hétérogène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21/30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7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3 · ILLUSTRÉ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Neuroprotection — ce que l’image résume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6720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n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53796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86600" y="1051560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86600" y="1051560"/>
            <a:ext cx="484632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6328" y="1097280"/>
            <a:ext cx="4626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Légende de l’illustration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435608"/>
            <a:ext cx="46268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cAMP/PKA/EPAC → survie / plasticité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PI3K/Akt → anti-apoptose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MAPK/ERK → réparation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↓ neuroinflammation microgliale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Soutien mitochondrial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Autophagie → ↓ α-syn (hypothèse)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Plausibilité biologique forte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" y="5349240"/>
            <a:ext cx="11704320" cy="1005840"/>
          </a:xfrm>
          <a:prstGeom prst="roundRect">
            <a:avLst>
              <a:gd name="adj" fmla="val 6000"/>
            </a:avLst>
          </a:prstGeom>
          <a:solidFill>
            <a:srgbClr val="1C7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4681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Activation GLP-1R → survie neuronale + contrôle de l’environnement toxique (inflammation, oxydatif, apoptose).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22/30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3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Préclinique (MPTP / 6-OHDA) — signaux convergents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05156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32688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Observations principales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242A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242A"/>
                          </a:solidFill>
                          <a:latin typeface="Calibri"/>
                        </a:rPr>
                        <a:t>Préservation neurones DA · ↓ oxydatif · ↓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242A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242A"/>
                          </a:solidFill>
                          <a:latin typeface="Calibri"/>
                        </a:rPr>
                        <a:t>Amélioration motrice · protection neuronale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242A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242A"/>
                          </a:solidFill>
                          <a:latin typeface="Calibri"/>
                        </a:rPr>
                        <a:t>Intérêt pénétration / action centrale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242A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242A"/>
                          </a:solidFill>
                          <a:latin typeface="Calibri"/>
                        </a:rPr>
                        <a:t>Survie · autophagie · ↓ agrégation α-syn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28600" y="4114800"/>
            <a:ext cx="11704320" cy="2103120"/>
          </a:xfrm>
          <a:prstGeom prst="roundRect">
            <a:avLst>
              <a:gd name="adj" fmla="val 6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9B24"/>
                </a:solidFill>
                <a:latin typeface="Calibri"/>
              </a:rPr>
              <a:t>LIMITE DE TRANSPOSITION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La plausibilité animale est forte, mais ne garantit pas l’efficacité humaine. Le passage modèle → clinique reste l’obstacle majeur — d’où des résultats parfois décevants (ex. exénatide phase III).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23/30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3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Exénatide : du signal ouvert à l’échec phase III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580644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51560"/>
            <a:ext cx="580644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097280"/>
            <a:ext cx="5586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Ce qui a nourri l’espoir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435608"/>
            <a:ext cx="5586984" cy="472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Études ouvertes : amélioration motrice suggérée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Essai contrôlé initial encourageant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Bonne tolérance globale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Rationnel préclinique solide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Classe déjà connue en métabolisme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Hypothèse modificatrice de maladie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Ouverture du champ GLP-1 / PD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051560"/>
            <a:ext cx="571500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51560"/>
            <a:ext cx="571500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097280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Ce que la phase III a montré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435608"/>
            <a:ext cx="5495544" cy="472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Pas de bénéfice significatif sur progression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Déception importante pour le champ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N’invalide pas toute la classe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Limites possibles : sélection, durée, BHE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Critères : symptomatique vs modificateur ?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Leçon : un signal précoce ≠ preuve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Nécessité de designs plus robustes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24/30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3 · ILLUSTRÉ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LIXIPARK — le signal clinique le plus encourageant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6720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n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53796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86600" y="1051560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86600" y="1051560"/>
            <a:ext cx="484632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6328" y="1097280"/>
            <a:ext cx="4626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Lire le schéma LIXIPARK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435608"/>
            <a:ext cx="46268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Population : PD stade précoce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Lixisénatide vs placebo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Stabilisation motrice sous traitement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Aggravation sous placebo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Effet persistant après washout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Questions : durabilité, tolérance, généralisation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Pas encore une indication neurologique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" y="5349240"/>
            <a:ext cx="11704320" cy="1005840"/>
          </a:xfrm>
          <a:prstGeom prst="roundRect">
            <a:avLst>
              <a:gd name="adj" fmla="val 6000"/>
            </a:avLst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4681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Stade précoce : scores moteurs stabilisés vs aggravation placebo ; persistance après washout → argument contre un pur effet symptomatique immédiat.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25/30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09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3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Synthèse clinique — classe hétérogène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051560"/>
          <a:ext cx="117043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530352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Résultat principal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Ouvert → phase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Signal initial non confirmé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Lixisénatide (LIXIPARK)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Contrôlé, PD précoce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Stabilisation + washout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Essais 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Résultats définitifs attendus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Autres / dérivés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Exploration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42A"/>
                          </a:solidFill>
                          <a:latin typeface="Calibri"/>
                        </a:rPr>
                        <a:t>Meilleure pénétration SNC ?</a:t>
                      </a:r>
                    </a:p>
                  </a:txBody>
                  <a:tcPr>
                    <a:solidFill>
                      <a:srgbClr val="E8F3F0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28600" y="4389120"/>
            <a:ext cx="11704320" cy="1828800"/>
          </a:xfrm>
          <a:prstGeom prst="roundRect">
            <a:avLst>
              <a:gd name="adj" fmla="val 6000"/>
            </a:avLst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6177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9B24"/>
                </a:solidFill>
                <a:latin typeface="Calibri"/>
              </a:rPr>
              <a:t>CONCLUSION INTERMÉDIAIRE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Plausibilité de classe réelle, mais efficacité clinique dépend de la molécule, du stade, de la BHE et du design d’essai. Ne pas extrapoler un résultat d’une molécule à toute la classe.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26/30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3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Limites vs perspectives — lecture équilibrée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580644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51560"/>
            <a:ext cx="580644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097280"/>
            <a:ext cx="5586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Limites &amp;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435608"/>
            <a:ext cx="5586984" cy="472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Peu d’essais, tailles souvent modestes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Durées courtes vs maladie lente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Critères moteurs ≠ preuve de neuroprotection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Difficile : symptomatique vs modificateur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Passage BHE variable selon molécule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Dose neurologique ≠ dose métabolique ?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Biomarqueurs de sélection encore manquants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051560"/>
            <a:ext cx="571500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51560"/>
            <a:ext cx="5715000" cy="329184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097280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Perspectives concrètes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435608"/>
            <a:ext cx="5495544" cy="472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Intervention précoce / prodromale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Sélection par biomarqueurs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Essais plus larges et plus longs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Analogues plus pénétrants / formulations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Approches combinées (métabolique + neuro)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Résultats sémaglutide à venir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Pharmacien dans la sécurisation du parcours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27/30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7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3 · ILLUSTRÉ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Pharmacien — acteur de sécurisation du parcours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6720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n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53796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86600" y="1051560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86600" y="1051560"/>
            <a:ext cx="484632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6328" y="1097280"/>
            <a:ext cx="4626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Missions visibles sur l’image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435608"/>
            <a:ext cx="46268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Éducation injection &amp; titration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Régularité des formes hebdomadaires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Anticiper EI digestifs (adhésion)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Vigilance insuline / sulfamides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Pancréatite / biliaire — alerte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Essais : traçabilité / conservation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242A"/>
                </a:solidFill>
                <a:latin typeface="Calibri"/>
              </a:rPr>
              <a:t>▸ Lien neurologue–endocrinologue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" y="5349240"/>
            <a:ext cx="11704320" cy="1005840"/>
          </a:xfrm>
          <a:prstGeom prst="roundRect">
            <a:avLst>
              <a:gd name="adj" fmla="val 6000"/>
            </a:avLst>
          </a:prstGeom>
          <a:solidFill>
            <a:srgbClr val="1C7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4681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9B24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Aujourd’hui en métabolisme ; demain potentiellement en neurologie : éducation, vigilance, coordination, distinction usage validé vs expérimental.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28/30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CHAPITRE 3 · CLASSIQUE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Missions pharmacien — grille opérationnelle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5156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51560"/>
            <a:ext cx="3794760" cy="329184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43560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Injection SC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Titration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Oublis / conservation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05156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051560"/>
            <a:ext cx="3794760" cy="329184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Tolérance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143560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EI digestifs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Repas légers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Limiter arrêts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5156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51560"/>
            <a:ext cx="3794760" cy="329184"/>
          </a:xfrm>
          <a:prstGeom prst="rect">
            <a:avLst/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8" y="109728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Vigilance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143560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Insuline/sulfamides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Pancréatite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Biliaire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365760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657600"/>
            <a:ext cx="3794760" cy="329184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70332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Essais cliniques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404164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Traçabilité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Protocole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Dispensation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65760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3657600"/>
            <a:ext cx="3794760" cy="329184"/>
          </a:xfrm>
          <a:prstGeom prst="rect">
            <a:avLst/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0248" y="370332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0248" y="404164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Validé vs expérimental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Attentes réalistes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Consentement éclairé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657600"/>
            <a:ext cx="37947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657600"/>
            <a:ext cx="3794760" cy="329184"/>
          </a:xfrm>
          <a:prstGeom prst="rect">
            <a:avLst/>
          </a:prstGeom>
          <a:solidFill>
            <a:srgbClr val="C44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3703320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Coordination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4041648"/>
            <a:ext cx="35753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Neurologue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Endocrinologue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242A"/>
                </a:solidFill>
                <a:latin typeface="Calibri"/>
              </a:rPr>
              <a:t>▸ Médecin traitant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56539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Agonistes du GLP-1  ·  Parkinson  ·  Soutenance densifiée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29/30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E09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B8C4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47472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5 messages à retenir — puis discussion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024128"/>
            <a:ext cx="117043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24128"/>
            <a:ext cx="640080" cy="82296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225296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1338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Classe mature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43560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555C"/>
                </a:solidFill>
                <a:latin typeface="Calibri"/>
              </a:rPr>
              <a:t>Incontournable en DT2, obésité et protection cardio-rénale.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1938528"/>
            <a:ext cx="117043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938528"/>
            <a:ext cx="640080" cy="822960"/>
          </a:xfrm>
          <a:prstGeom prst="rect">
            <a:avLst/>
          </a:prstGeom>
          <a:solidFill>
            <a:srgbClr val="2A9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2139696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0482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Rationnel solide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35000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555C"/>
                </a:solidFill>
                <a:latin typeface="Calibri"/>
              </a:rPr>
              <a:t>Neuroprotection plausible et convergente en préclinique.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2852928"/>
            <a:ext cx="117043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2852928"/>
            <a:ext cx="640080" cy="82296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3054096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29626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Clinique hétérogène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26440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555C"/>
                </a:solidFill>
                <a:latin typeface="Calibri"/>
              </a:rPr>
              <a:t>Exénatide négatif en ph. III ; LIXIPARK encourageant ; séma en cours.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" y="3767328"/>
            <a:ext cx="117043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" y="3767328"/>
            <a:ext cx="640080" cy="822960"/>
          </a:xfrm>
          <a:prstGeom prst="rect">
            <a:avLst/>
          </a:prstGeom>
          <a:solidFill>
            <a:srgbClr val="B8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3968496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8770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Preuve à construire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17880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555C"/>
                </a:solidFill>
                <a:latin typeface="Calibri"/>
              </a:rPr>
              <a:t>Essais plus larges, précoces, ciblés par biomarqueurs, plus longs.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" y="4681728"/>
            <a:ext cx="117043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4681728"/>
            <a:ext cx="640080" cy="822960"/>
          </a:xfrm>
          <a:prstGeom prst="rect">
            <a:avLst/>
          </a:prstGeom>
          <a:solidFill>
            <a:srgbClr val="2F8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8600" y="4882896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7914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Pharmacien central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9320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555C"/>
                </a:solidFill>
                <a:latin typeface="Calibri"/>
              </a:rPr>
              <a:t>Éducation, vigilance, coordination — aujourd’hui et demain.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82880" cy="320040"/>
          </a:xfrm>
          <a:prstGeom prst="rect">
            <a:avLst/>
          </a:prstGeom>
          <a:solidFill>
            <a:srgbClr val="E09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30/30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