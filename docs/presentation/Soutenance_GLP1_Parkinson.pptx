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8A9A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
dans la maladie de Parkinson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86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D0D8"/>
                </a:solidFill>
                <a:latin typeface="Calibri"/>
              </a:rPr>
              <a:t>Physiologie  ·  Pharmacologie  ·  Indications métaboliques  ·  Repositionnement neurologique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Synthèse bibliographique critique
Pas d’indication actuelle dans Parkinson hors recherche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57607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Calibri"/>
              </a:rPr>
              <a:t>Présentation de soutenance
30 diapositives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Du besoin médical aux preuves cliniques — molécule par molécule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5448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54480"/>
            <a:ext cx="219456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A8A9A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80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26"/>
                </a:solidFill>
                <a:latin typeface="Calibri"/>
              </a:rPr>
              <a:t>Parkinson, hétérogénéité, impasse modificatrice, logique de repositionnement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155448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1554480"/>
            <a:ext cx="219456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A8A9A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Chapitre 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880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26"/>
                </a:solidFill>
                <a:latin typeface="Calibri"/>
              </a:rPr>
              <a:t>Physiologie du GLP-1, GLP-1R, panorama pharmacocinétique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155448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1554480"/>
            <a:ext cx="219456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A8A9A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Chapitre 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880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26"/>
                </a:solidFill>
                <a:latin typeface="Calibri"/>
              </a:rPr>
              <a:t>DT2, obésité, protection cardio-rénale, tolérance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199" y="155448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199" y="1554480"/>
            <a:ext cx="2194560" cy="105156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59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47A2C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Chapitre III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59" y="2880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26"/>
                </a:solidFill>
                <a:latin typeface="Calibri"/>
              </a:rPr>
              <a:t>Neuroprotection, LIXIPARK, Exenatide-PD3, pharmacien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46920" y="155448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46920" y="1554480"/>
            <a:ext cx="219456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A8A9A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880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26"/>
                </a:solidFill>
                <a:latin typeface="Calibri"/>
              </a:rPr>
              <a:t>Pas d’effet de classe ; essais confirmatoires nécessaires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 / 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Objectifs de la thèse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Distinguer plausibilité biologique, résultat préclinique, bénéfice symptomatique et effet modificateur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1521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822960" cy="10058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6733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581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Physiologie et pharmacologie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920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Présenter le GLP-1, le GLP-1R et comparer les agonistes : structure, PK, action courte vs prolongée, tirzépatide non sélectif.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560320"/>
            <a:ext cx="11521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560320"/>
            <a:ext cx="822960" cy="10058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8163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724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Indications validées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063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Analyser les bénéfices dans le DT2, l’obésité et la protection cardio-rénale (LEADER, SUSTAIN-6, REWIND, SELECT, FLOW).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703320"/>
            <a:ext cx="11521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703320"/>
            <a:ext cx="822960" cy="10058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9593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867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Examiner de manière critique préclinique et clinique : LIXIPARK, Exenatide-PD3, MOST-ABLE — sans inférer un effet de classe.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4846320"/>
            <a:ext cx="11521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846320"/>
            <a:ext cx="822960" cy="10058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51023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10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Rôle du pharmacien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349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Sécuriser l’usage dans les indications métaboliques et rappeler l’absence d’indication neurologique hors essai.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 / 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A2C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Contexte et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0D8"/>
                </a:solidFill>
                <a:latin typeface="Calibri"/>
              </a:rPr>
              <a:t>Maladie de Parkinson : fardeau, hétérogénéité et absence de traitement modificateur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98A0"/>
                </a:solidFill>
                <a:latin typeface="Calibri"/>
              </a:rPr>
              <a:t>4  / 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La maladie de Parkinson : un enjeu de santé publique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Deuxième maladie neurodégénérative après Alzheimer — diagnostic clinique et fardeau croissant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2ᵉ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Maladie neurodégénérative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après Alzheimer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41732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024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Moteur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Bradykinésie + tremblement ou rigidité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diagnostic clinique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417320"/>
            <a:ext cx="3840480" cy="1554480"/>
          </a:xfrm>
          <a:prstGeom prst="roundRect">
            <a:avLst>
              <a:gd name="adj" fmla="val 8000"/>
            </a:avLst>
          </a:prstGeom>
          <a:solidFill>
            <a:srgbClr val="9A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0728" y="1581912"/>
            <a:ext cx="36210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Non moteur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103120"/>
            <a:ext cx="36210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Sommeil, constipation, cognition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2468880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souvent précoces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200400"/>
            <a:ext cx="56692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20040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Impact clinique et sociétal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70332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Autonomie, qualité de vie et charge des aidants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Troubles de la marche, instabilité, complications motrices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Les symptômes non moteurs pèsent autant que le moteur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Fardeau croissant : vieillissement et meilleur diagnostic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200400"/>
            <a:ext cx="562356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25526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Urgence thérapeutique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703320"/>
            <a:ext cx="5349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Prise en charge actuelle principalement symptomatique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Aucun traitement n’a démontré un effet modificateur certain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Progression lente, variable, difficile à mesurer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Besoin de biomarqueurs de progression (clinique, imagerie, biologie)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 / 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Physiopathologie multifactorielle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La perte dopaminergique n’explique pas à elle seule l’hétérogénéité clinique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109728" cy="21488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830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Neurones DA / SNpc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2316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Dégénérescence de la substance noire pars compacta → ↓ dopamine striatale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109728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7830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α-synucléine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42316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Agrégation anormale, toxicité et 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17320"/>
            <a:ext cx="109728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7830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Mitochondries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2316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Dysfonction énergétique et vulnérabilité neuronale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749040"/>
            <a:ext cx="109728" cy="21488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14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Stress oxydatif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548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Espèces réactives de l’oxygène, lésions cumulatives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3749040"/>
            <a:ext cx="109728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4114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Neuroinflammation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7548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Activation microgliale et médiateurs inflammatoires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749040"/>
            <a:ext cx="109728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4114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Autophagie / protéostase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7548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Accumulation de protéines mal conformées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 / 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Prise en charge actuelle : efficace, mais limitée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La lévodopa reste la référence motrice — sans preuve d’effet modificateur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417320"/>
          <a:ext cx="11521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206240"/>
                <a:gridCol w="42062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Rôle principal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Lévodopa (± ICOMT)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Référence des symptômes moteurs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Fluctuations,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Agonistes dopaminergiques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Adaptation au profil du patient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Effets indésirables neuropsychiatriques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Potentialisation dopaminergique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Pas d’effet modificateur démontré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Stimulation cérébrale profonde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Complications motrices sélectionnées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Invasive, patients sélectionnés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4709160"/>
            <a:ext cx="11521440" cy="141732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7A2C"/>
                </a:solidFill>
                <a:latin typeface="Calibri"/>
              </a:rPr>
              <a:t>Message méthodologique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57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Une amélioration du MDS-UPDRS, même à l’état OFF, peut être symptomatique, variable ou indirecte. Elle n’équivaut pas à un ralentissement de la neurodégénérescence.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 / 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Repositionnement thérapeutique : attractif, non suffisant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Un profil déjà connu ne dispense pas d’une preuve d’efficacité dans la nouvelle indication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Intérêt du repositionnement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Pharmacologie connue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PK, toxicologie, pharmacovigilance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Développement potentiellement plus court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vs nouvelle entité chimique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Classe GLP-1 mature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DT2, obésité, cardio-rénal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Pertinent en neurodégénérescence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nombreux échecs de candidats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Exigence inchangée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efficacité et sécurité dans Parkinson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721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Pourquoi le GLP-1 ici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20240"/>
            <a:ext cx="5349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GLP-1R au SNC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distribution compatible avec des effets extra-glycémiques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Voies de survie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AMPc/PKA, PI3K/Akt, MAPK/ERK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Mitochondries, oxydatif, inflammation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modèles expérimentaux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Molécules non équivalentes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structure, PK, exposition tissulaire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Pas d’effet de classe a priori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lire molécule par molécule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 / 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A2C"/>
                </a:solidFill>
                <a:latin typeface="Calibri"/>
              </a:rPr>
              <a:t>PARTIE 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I — Physiologie et pharmacologie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0D8"/>
                </a:solidFill>
                <a:latin typeface="Calibri"/>
              </a:rPr>
              <a:t>GLP-1, GLP-1R et différences entre agonistes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98A0"/>
                </a:solidFill>
                <a:latin typeface="Calibri"/>
              </a:rPr>
              <a:t>9  / 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Physiologie du GLP-1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Hormone incrétine — biosynthèse, satiété, inactivation en 1–2 minutes</a:t>
            </a:r>
          </a:p>
        </p:txBody>
      </p:sp>
      <p:pic>
        <p:nvPicPr>
          <p:cNvPr id="8" name="Picture 7" descr="fig0_physiologie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53796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07492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5E66"/>
                </a:solidFill>
                <a:latin typeface="Calibri"/>
              </a:rPr>
              <a:t>Figure — Production intestinale, effets pancréatiques et satiété centrale.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371600"/>
            <a:ext cx="489204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0" y="1371600"/>
            <a:ext cx="489204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1426464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Points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874520"/>
            <a:ext cx="461772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Proglucagon : glucagon (α) vs GLP-1 (cellules L)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Formes actives : GLP-1(7-36)amide et (7-37)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Sécrétion postprandiale ; réponse précoce neuro-hormonale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Insulinosécrétion glucose-dépendante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↓ glucagon si hyperglycémie ; ralentit la vidange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Satiété / ↓ apports — bénéfice ou risque selon le patient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DPP-4 : demi-vie endogène ≈ 1–2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 / 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Récepteur GLP-1R et signalisation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GPCR de famille B — figure 1 de la thèse</a:t>
            </a:r>
          </a:p>
        </p:txBody>
      </p:sp>
      <p:pic>
        <p:nvPicPr>
          <p:cNvPr id="8" name="Picture 7" descr="fig1_glp1r_signali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720840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21208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Figure 1 — Gs → AMPc → PKA / EPAC2 (insulinosécrétion). PI3K/Akt et MAPK/ERK : survie et réponse au stress dans les modèles.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1371600"/>
            <a:ext cx="466344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78040" y="1371600"/>
            <a:ext cx="466344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4356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Distribution et limites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4297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Cellules β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expression principale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Tube digestif, CV, rein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effets extra-glycémiques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Certaines régions du SNC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compatible, non démonstratif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Lecture prudente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expression ≠ bénéfice clinique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Signalisation expérimentale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pas une preuve humaine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 / 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Classification : pas un groupe homogène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Même récepteur, structures, durées d’action et profils PD différents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49039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Origine structurale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Exendine-4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exénatide, lixisénatide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Heloderma suspectum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homologie partielle au GLP-1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Analogues humains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liraglutide, dulaglutide, sémaglutide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Tirzépatide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double agoniste GIP/GLP-1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Conséquence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ne pas attribuer ses effets au seul GLP-1R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417320"/>
            <a:ext cx="3749039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Action courte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Exénatide standard, lixisénatide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stimulation intermittente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Vidange gastrique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effet marqué, postprandial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Exénatide LP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hebdomadaire ; évalué dans PD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Lixisénatide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1×/j ; essai LIXIPARK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3657600" cy="384048"/>
          </a:xfrm>
          <a:prstGeom prst="rect">
            <a:avLst/>
          </a:prstGeom>
          <a:solidFill>
            <a:srgbClr val="9A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9" y="147218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Action prolongée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192024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Lira, dula, séma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exposition plus continue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Jeûne / HbA1c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souvent davantage améliorés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Tachyphylaxie gastrique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effet vidange peut s’atténuer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Pas d’équivalence SNC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taille, liaison, distribution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 / 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Tableau 1 — Principaux agonistes et tirzépatide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Indications selon spécialités, doses et cadre réglementaire national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1371600"/>
          <a:ext cx="1179575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200400"/>
                <a:gridCol w="1874519"/>
                <a:gridCol w="2148840"/>
                <a:gridCol w="30175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Structure / mécanisme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Demi-vie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Voie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Particularités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Exendine-4 synthétique, résistant DPP-4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Quelques heures (std)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2×/j ; LP 1×/sem.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LP évalué dans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Analogue exendine-4, action courte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~3 h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1×/j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Postprandial marqué ; LIXIPARK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GLP-1 humain + chaîne C16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~13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DT2 ; obésité selon dose / réglementation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2 analogues + Fc IgG4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~5 j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1×/sem.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Bénéfice CV dans REWIND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GLP-1 modifié + chaîne C18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~1 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1×/sem. ;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DT2, obésité ; données cardio-rénales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Double agoniste GIP/GLP-1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~5 j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1×/sem.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Non sélectif du GLP-1R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580644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Point clé : une activité commune sur le GLP-1R ne permet pas de présumer une équivalence des effets neurologiques.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 / 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Exposition au SNC et limites de transposition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Plausibilité biologique ≠ démonstration d’efficacité clinique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Pourquoi les molécules ne sont pas interchangeables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Taille, structure, demi-vie variables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Liaison protéique et distribution tissulaire différentes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Accès aux cellules cibles du SNC non superposable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Signal pharmacologique potentiellement distinct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Effets directs (SNC) vs indirects (poids, glycémie, inflammation, CV)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721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Dans Parkinson, trois lectures à séparer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20240"/>
            <a:ext cx="5349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Effet symptomatique (score moteur transitoire)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Effet métabolique ou vasculaire indirect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Véritable effet modificateur de la neurodégénérescence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Les échelles (MDS-UPDRS) restent indispensables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Interprétation : état ON/OFF, variabilité, pertinence clinique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 / 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A2C"/>
                </a:solidFill>
                <a:latin typeface="Calibri"/>
              </a:rPr>
              <a:t>PARTIE 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II — Applications thérapeutiques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0D8"/>
                </a:solidFill>
                <a:latin typeface="Calibri"/>
              </a:rPr>
              <a:t>Diabète de type 2, obésité et protection cardio-rénale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98A0"/>
                </a:solidFill>
                <a:latin typeface="Calibri"/>
              </a:rPr>
              <a:t>15  / 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Diabète de type 2 : place des agonistes du GLP-1R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Action plurimodale — le choix ne se réduit plus à l’HbA1c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Rationnel physiopathologique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Insulinorésistance + altération progressive de l’insulinosécrétion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Dérégulation du glucagon et diminution de l’effet incrétine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Insulinosécrétion glucose-dépendante → faible risque d’hypoglycémie intrinsèque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Risque ↑ si association insuline ou sulfamides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Ralentissement de la vidange et augmentation de la satiété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721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Décision individualisée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20240"/>
            <a:ext cx="5349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Intégrer risque CV, MRC, poids, hypoglycémie, autogestion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Si MCV athéroscléreuse ou haut risque CV : agoniste au bénéfice CV démontré, indépendamment de l’HbA1c initiale ou de la metformine préalable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Association GLP-1R + iSGLT2 possible si risque CV, MRC, IC ou objectif pondéral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Évaluer tolérance, déshydratation, complexité, coût, persistance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 / 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Contrôle glycémique, poids et obésité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Perte de poids = bénéfice ou risque selon le phénotype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49039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Glycémie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Parmi les non-insuliniques les plus efficaces sur l’HbA1c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Amplitude : glycémie initiale, dose, molécule, adhésion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Action courte → postprandial (vidange)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Action prolongée → jeûne et HbA1c davantage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Améliorations intermédiaires ≠ preuve d’événements CV/rénaux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417320"/>
            <a:ext cx="3749039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Obésité — maladie chronique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Liraglutide 3,0 mg &gt; placebo + mode de vie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Sémaglutide hebdomadaire : réduction pondérale importante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Tirzépatide : pertes substantielles — mécanisme GIP/GLP-1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Réponse variable ; reprise fréquente à l’arrêt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Objectifs réalistes, réévaluation, conditions d’arrêt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3657600" cy="384048"/>
          </a:xfrm>
          <a:prstGeom prst="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9" y="147218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Vigilance nutritionnelle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192024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Bénéfice si obésité / DT2 à haut risque cardio-métabolique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Personne âgée, fragile, dénutrie, sarcopénique : risque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Perte de masse maigre, déshydratation, ↓ capacités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Suivre apports, digestif, hydratation, force, autonomie — pas le seul poids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 / 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Tableau 2 — Essais cardio-rénaux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Le bénéfice se formule molécule par molécule, population par population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828800"/>
                <a:gridCol w="46634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Essai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Population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Résultat principal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DT2 à haut risque 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Réduction du MACE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SUSTAIN-6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DT2 à haut risque CV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Résultat favorable sur le MACE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DT2, risque CV (dont sans MCV athéroscléreuse documentée)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Réduction du MACE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SELECT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Surpoids/obésité, MCV établie, sans DT2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Réduction du MACE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DT2 et maladie rénale chronique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Réduction des événements rénaux majeurs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4983480"/>
            <a:ext cx="11521440" cy="1143000"/>
          </a:xfrm>
          <a:prstGeom prst="roundRect">
            <a:avLst>
              <a:gd name="adj" fmla="val 8000"/>
            </a:avLst>
          </a:prstGeom>
          <a:solidFill>
            <a:srgbClr val="E4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1206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SELECT montre que le bénéfice CV du sémaglutide ne repose pas uniquement sur la glycémie. FLOW conforte une stratégie cardio-rénale individualisée. Pas d’interchangeabilité de classe. La MRC reste multifactorielle (PA, SRAA, iSGLT2, mode de vie).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 / 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Tolérance, sécurité et rôle du pharmacien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EI digestifs fréquents à l’initiation — éducation et titration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49039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Effets indésirables 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Nausées, vomissements, diarrhée, constipation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Douleurs abdominales, ↓ appétit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Surtout instauration / hausses de dose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Souvent transitoires, parfois cause d’arrêt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Titration progressive + repas plus petits, moins gras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417320"/>
            <a:ext cx="3749039" cy="384048"/>
          </a:xfrm>
          <a:prstGeom prst="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Signaux d’alerte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Douleur abdominale intense persistante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Vomissements sévères, incapacité à s’hydrater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Évoquer complication biliaire ou pancréatite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Hypoglycémie si insuline / sulfamide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Vérifier RCP : CI, précautions, adaptations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365760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9" y="147218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Missions du pharmacien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192024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Technique d’injection, stylo, conservation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Titration, oubli, dextérité, vision, cognition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Adhésion, apports, poids, dénutrition, hydratation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Coordination prescripteur si adaptation associée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 / 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A2C"/>
                </a:solidFill>
                <a:latin typeface="Calibri"/>
              </a:rPr>
              <a:t>PARTIE 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III — Parkinson et repositionnement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0D8"/>
                </a:solidFill>
                <a:latin typeface="Calibri"/>
              </a:rPr>
              <a:t>Mécanismes, préclinique, essais cliniques et sécurisation pharmaceutique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98A0"/>
                </a:solidFill>
                <a:latin typeface="Calibri"/>
              </a:rPr>
              <a:t>20  / 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Besoin non couvert et effet modificateur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Améliorer un score ≠ préserver les neurones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Hétérogénéité clinique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Présentation motrice, non motrice, cognitive, dysautonomie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Vitesse d’évolution et réponse dopaminergique variables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Un modificateur ne devrait pas être jugé au seul score moteur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Besoin double : mieux traiter les symptômes insuffisamment contrôlés et ralentir l’évolution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721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Exigences méthodologiques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20240"/>
            <a:ext cx="5349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Mesures OFF : réduisent l’effet immédiat du traitement, ne prouvent pas la neuroprotection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Durée, insu, traitements associés, critères secondaires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Biomarqueurs exploratoires si possible — aucun biomarqueur unique validé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Efficacité métabolique n’entraîne pas une efficacité neurologique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 / 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Figure 2 — hypothèses précliniques, non une preuve thérapeutique humaine</a:t>
            </a:r>
          </a:p>
        </p:txBody>
      </p:sp>
      <p:pic>
        <p:nvPicPr>
          <p:cNvPr id="8" name="Picture 7" descr="fig2_neuropro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53312"/>
            <a:ext cx="731520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371600"/>
            <a:ext cx="406908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371600"/>
            <a:ext cx="406908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435608"/>
            <a:ext cx="379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Quatre axes expérimentaux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920240"/>
            <a:ext cx="3703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Survie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AMPc/PKA, PI3K/Akt, MAPK/ERK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Mitochondries / ROS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paramètres améliorés in vitro / in vivo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Neuroinflammation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↓ activation microgliale (modèles)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Autophagie / α-syn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données préliminaires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Limite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un marqueur ↓ ≠ autonomie ni pronostic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22  / 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Données précliniques : preuve de concept, transposition limitée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Modèles toxiques (6-OHDA, MPTP) et modèles α-synucléine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371600"/>
          <a:ext cx="115214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23544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Observations rapportées selon les protocoles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Effets favorables moteurs, biochimiques ou histologiques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Signaux protecteurs dans des modèles de toxicité DA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Effets favorables dans certains modèles dopaminergiques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Signaux sur survie, autophagie ou α-synucléine selon les travaux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4297680"/>
            <a:ext cx="11521440" cy="182880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4348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7A2C"/>
                </a:solidFill>
                <a:latin typeface="Calibri"/>
              </a:rPr>
              <a:t>Limites de transposition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0060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Lésion souvent rapide ; reproduction partielle de la lenteur, de l’hétérogénéité, des non-moteurs et de la pathologie α-syn humaine. Une meilleure performance motrice animale peut être fonctionnelle ou symptomatique. Ces données justifient des essais rigoureux — elles ne valident pas l’efficacité.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23  / 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 — CLINIQUE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LIXIPARK — lixisénatide, phase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Signal moteur favorable à court terme — pas une preuve de neuroprotection durable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156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Patients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Parkinson précoce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024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12 mois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Durée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critère moteur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417320"/>
            <a:ext cx="3840480" cy="1691640"/>
          </a:xfrm>
          <a:prstGeom prst="roundRect">
            <a:avLst>
              <a:gd name="adj" fmla="val 8000"/>
            </a:avLst>
          </a:prstGeom>
          <a:solidFill>
            <a:srgbClr val="9A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0728" y="1581912"/>
            <a:ext cx="36210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3,08 pts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103120"/>
            <a:ext cx="36210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Différence ajustée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2468880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MDS-UPDRS III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291840"/>
            <a:ext cx="1152144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291840"/>
            <a:ext cx="11521440" cy="4114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3649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Résultat et lecture critique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4048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Variation moyenne MDS-UPDRS III : −0,04 (lixisénatide) vs +3,04 (placebo)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Différence ajustée : 3,08 points en faveur du lixisénatide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Nausées et vomissements plus fréquents sous lixisénatide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Phase II, durée limitée, critère principalement moteur → ne permet pas d’affirmer un ralentissement durable de la neurodégénérescence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Pertinence clinique à discuter : variabilité des scores, évolution naturelle, absence de biomarqueur validé de progression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24  / 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 — CLINIQUE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Exenatide-PD3 — phase III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Donnée majeure : renoncer à toute généralisation optimiste de classe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Participants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exénatide hebdomadaire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024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96 sem.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vs placebo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417320"/>
            <a:ext cx="3840480" cy="1691640"/>
          </a:xfrm>
          <a:prstGeom prst="roundRect">
            <a:avLst>
              <a:gd name="adj" fmla="val 8000"/>
            </a:avLst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0728" y="1581912"/>
            <a:ext cx="36210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Négatif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103120"/>
            <a:ext cx="36210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Critère principal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2468880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MDS-UPDRS III OFF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337560"/>
            <a:ext cx="56692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33756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9242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Ce qui a précédé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84048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Étude pilote : signal moteur exploratoire, faible effectif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Essai randomisé de phase II : signal MDS-UPDRS III OFF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Puissance et durée insuffisantes pour un effet neuroprotecteur durable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Ces signaux ont justifié une phase III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337560"/>
            <a:ext cx="562356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337560"/>
            <a:ext cx="5623560" cy="384048"/>
          </a:xfrm>
          <a:prstGeom prst="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39242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Résultat de la phase III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840480"/>
            <a:ext cx="5349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Aggravation motrice similaire dans les deux groupes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Aucune différence significative sur le critère principal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Pas d’argument en faveur d’un effet modificateur de l’exénatide dans la population étudiée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N’autorise pas d’extrapoler un échec (ni un succès) à toute la classe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25  / 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 — CLINIQUE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Tableau 3 — Synthèse des essais dans Parkinson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Résultats hétérogènes — pas d’effet de classe démontré</a:t>
            </a:r>
          </a:p>
        </p:txBody>
      </p:sp>
      <p:pic>
        <p:nvPicPr>
          <p:cNvPr id="8" name="Picture 7" descr="fig3_essais_clini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53312"/>
            <a:ext cx="5806440" cy="32461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7150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554480"/>
                <a:gridCol w="1417320"/>
                <a:gridCol w="1325880"/>
              </a:tblGrid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Étude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Population / durée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Limites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Exénatide, pilote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Faible effectif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Signal 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Symptomatique non exclu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Exénatide, ph. II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Hebdomadaire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Signal OFF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Puissance limitée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LIXIPARK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156 ; précoce ; 12 mois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+3,08 pts MDS-UPDRS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Ph. II ; EI digestifs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Exenatide-PD3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194 ; 96 semaines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Pas de différence OFF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2226"/>
                          </a:solidFill>
                          <a:latin typeface="Calibri"/>
                        </a:rPr>
                        <a:t>Négatif pour l’exénatide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20040" y="4754880"/>
            <a:ext cx="11521440" cy="1371600"/>
          </a:xfrm>
          <a:prstGeom prst="roundRect">
            <a:avLst>
              <a:gd name="adj" fmla="val 8000"/>
            </a:avLst>
          </a:prstGeom>
          <a:solidFill>
            <a:srgbClr val="E4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Méta-analyse récente d’essais contre placebo : pas de bénéfice statistiquement significatif sur l’ensemble des symptômes moteurs. Un signal exploratoire pour les agents à action courte, fondé sur peu d’études, ne modifie pas les pratiques. Non moteurs et qualité de vie : pas d’amélioration démontrée.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26  / 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 —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Que doivent faire les essais futurs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MOST-ABLE illustre la poursuite de la recherche — sans résultat d’efficacité à ce jour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03320" cy="45720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Populations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26"/>
                </a:solidFill>
                <a:latin typeface="Calibri"/>
              </a:rPr>
              <a:t>Plus homogènes, idéalement stade précoce ; durée compatible avec une progression lente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03320" cy="45720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50876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Critères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05740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26"/>
                </a:solidFill>
                <a:latin typeface="Calibri"/>
              </a:rPr>
              <a:t>OFF moteur + non moteurs, QdV, cognition, autonomie, chutes, nutrition, biomarqueurs exploratoires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17320"/>
            <a:ext cx="3703320" cy="45720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0876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Symptomatique vs modificateur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5740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26"/>
                </a:solidFill>
                <a:latin typeface="Calibri"/>
              </a:rPr>
              <a:t>Sevrage, mesures répétées, standardisation OFF, imagerie/biologie — aucun biomarqueur unique validé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749040"/>
            <a:ext cx="3703320" cy="4572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Stratification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8912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26"/>
                </a:solidFill>
                <a:latin typeface="Calibri"/>
              </a:rPr>
              <a:t>Phénotypes moteurs, cognitifs, métaboliques ou génétiques — à tester prospectivement, pas a posteriori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3749040"/>
            <a:ext cx="3703320" cy="4572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384048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MOST-ABLE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38912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26"/>
                </a:solidFill>
                <a:latin typeface="Calibri"/>
              </a:rPr>
              <a:t>Ph. II Japon, 99 patients, PD précoce, 2 doses de sémaglutide oral, 48 semaines, MDS-UPDRS III OFF + QdV, cognition, imagerie DA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749040"/>
            <a:ext cx="3703320" cy="4572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84048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38912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26"/>
                </a:solidFill>
                <a:latin typeface="Calibri"/>
              </a:rPr>
              <a:t>Différences PK ou de stade peuvent expliquer l’hétérogénéité — elles ne maintiennent pas une hypothèse sans preuve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27  / 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 — 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Tolérance dans Parkinson et rôle du pharmacien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Patients souvent âgés, polymédiqués, vulnérables sur le plan nutritionnel et fonctionnel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49039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Risques spécifiques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Constipation déjà fréquente (dysautonomie)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Nausées, vomissements, ↓ appétit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Perte de poids, sarcopénie, hypotension, chutes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Sélection future : éviter dénutrition, dysphagie, constipation sévère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417320"/>
            <a:ext cx="3749039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Indications validées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Injection, conservation, titration, oubli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Repérer EI digestifs et déshydratation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Hypoglycémie si insuline / sulfamides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Tremblements, dextérité, cognition, aidant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417320"/>
            <a:ext cx="3749039" cy="384048"/>
          </a:xfrm>
          <a:prstGeom prst="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Message de santé publique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Pas d’indication Parkinson hors essai clinique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Prévenir automédication et hors AMM injustifié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Attentes disproportionnées (préclinique, médias)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Coordination neuro / MG / diabéto / diététicien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28  / 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CONCLUSION GÉNÉRALE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Messages à retenir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Piste biologiquement plausible — encore incomplètement validée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353312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53312"/>
            <a:ext cx="640080" cy="8686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5544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444752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Classe métabolique mature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76479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Incontournable dans le DT2 ; obésité et cardio-rénal pour certaines molécules — jamais parfaitement interchangeables.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313432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313432"/>
            <a:ext cx="640080" cy="8686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5146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404872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Rationnel neurologique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72491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Survie cellulaire, mitochondries, oxydatif, inflammation, autophagie : hypothèses précliniques, pas une preuve humaine.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273552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273552"/>
            <a:ext cx="640080" cy="8686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474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364992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Clinique hétérogène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8503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LIXIPARK : signal moteur à 12 mois. Exenatide-PD3 : pas de bénéfice sur la progression. Pas d’effet de classe.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4233672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233672"/>
            <a:ext cx="640080" cy="86868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4348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25112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Pas d’indication Parkinson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64515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Hors protocole de recherche. La place éventuelle dépendra d’essais plus longs, plus puissants, mieux caractérisés.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" y="5193792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5193792"/>
            <a:ext cx="640080" cy="8686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53949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285232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Pharmacien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0527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Éducation, vigilance digestive et nutritionnelle, coordination — et information claire sur le caractère expérimental.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29  / 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A2C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Merci de votre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0D0D8"/>
                </a:solidFill>
                <a:latin typeface="Calibri"/>
              </a:rPr>
              <a:t>Mots-clés : agonistes du GLP-1  ·  maladie de Parkinson  ·  neuroprotection
repositionnement thérapeutique  ·  diabète de type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À ce stade, les agonistes du GLP-1R sont des candidats au repositionnement,
et non des traitements établis de la maladie de Parkinson.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98A0"/>
                </a:solidFill>
                <a:latin typeface="Calibri"/>
              </a:rPr>
              <a:t>30  / 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