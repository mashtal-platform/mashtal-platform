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01_cerveau_pancre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635240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35240" y="0"/>
            <a:ext cx="73152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56032"/>
            <a:ext cx="777240" cy="777240"/>
          </a:xfrm>
          <a:prstGeom prst="rect">
            <a:avLst/>
          </a:prstGeom>
        </p:spPr>
      </p:pic>
      <p:pic>
        <p:nvPicPr>
          <p:cNvPr id="6" name="Picture 5" descr="ul_logo_facul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56032"/>
            <a:ext cx="7772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94560" y="347472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8A9A"/>
                </a:solidFill>
                <a:latin typeface="Calibri"/>
              </a:rPr>
              <a:t>Université Libanaise
Faculté de Pharmacie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7A2C"/>
                </a:solidFill>
                <a:latin typeface="Calibri"/>
              </a:rPr>
              <a:t>THÈSE  ·  DOCTOR IN PHARMACY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6949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Agonistes du GLP-1 :
mise au point et potentiel
prometteur pour la maladie
de Parkinson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Sara Yousef  &amp;  Wiam Bourhan
Directrice de thèse : Pr. Dalia Khachman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A9A"/>
                </a:solidFill>
                <a:latin typeface="Calibri"/>
              </a:rPr>
              <a:t>Soutenance  ·  03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CADRAGE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Contexte et problématique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Parkinson : maladie neurodégénérative progressive et invalidante.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Les traitements actuels restent principalement symptomatiques.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Aucun traitement n’a démontré de façon certaine un ralentissement de la neurodégénérescence.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Question : les agonistes du GLP-1R peuvent-ils constituer une stratégie modificatrice ?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Une plausibilité biologique n’est pas une preuve clinique.</a:t>
            </a:r>
          </a:p>
        </p:txBody>
      </p:sp>
      <p:pic>
        <p:nvPicPr>
          <p:cNvPr id="9" name="Picture 8" descr="v02_besoin_neuroprot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 / 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CADRAGE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Objectifs de la thèse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54480"/>
            <a:ext cx="278892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278892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691640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47A2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8346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A3642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E5E66"/>
                </a:solidFill>
                <a:latin typeface="Calibri"/>
              </a:rPr>
              <a:t>Présenter le GLP-1, le GLP-1R et les agonistes disponibles.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554480"/>
            <a:ext cx="278892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64408" y="1554480"/>
            <a:ext cx="278892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1691640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47A2C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6" y="28346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A3642"/>
                </a:solidFill>
                <a:latin typeface="Georgia"/>
              </a:rPr>
              <a:t>Bénéfices établis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84048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E5E66"/>
                </a:solidFill>
                <a:latin typeface="Calibri"/>
              </a:rPr>
              <a:t>Examiner DT2, obésité et protection cardio-rénale — molécule par molécule.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1554480"/>
            <a:ext cx="278892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6" y="1554480"/>
            <a:ext cx="2788920" cy="105156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08776" y="1691640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47A2C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8346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A3642"/>
                </a:solidFill>
                <a:latin typeface="Georgia"/>
              </a:rPr>
              <a:t>Potentiel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384048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E5E66"/>
                </a:solidFill>
                <a:latin typeface="Calibri"/>
              </a:rPr>
              <a:t>Évaluer de façon critique le repositionnement (préclinique et clinique).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53144" y="1554480"/>
            <a:ext cx="278892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53144" y="1554480"/>
            <a:ext cx="278892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691640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47A2C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28346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A3642"/>
                </a:solidFill>
                <a:latin typeface="Georgia"/>
              </a:rPr>
              <a:t>Rôle du pharmacien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384048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E5E66"/>
                </a:solidFill>
                <a:latin typeface="Calibri"/>
              </a:rPr>
              <a:t>Préciser l’accompagnement, la tolérance et la prévention du hors indication.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 / 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43584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43584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CADRAGE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778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D0D8"/>
                </a:solidFill>
                <a:latin typeface="Calibri"/>
              </a:rPr>
              <a:t>Parcours : du médicament métabolique à la question neurologique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63240"/>
            <a:ext cx="10972800" cy="7315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25880" y="169164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17830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38328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566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A3642"/>
                </a:solidFill>
                <a:latin typeface="Georgia"/>
              </a:rPr>
              <a:t>GLP-1 et agonistes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E5E66"/>
                </a:solidFill>
                <a:latin typeface="Calibri"/>
              </a:rPr>
              <a:t>Physiologie, DPP-4, récepteur, molécules non interchangeables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69164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7830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II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338328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3566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A3642"/>
                </a:solidFill>
                <a:latin typeface="Georgia"/>
              </a:rPr>
              <a:t>Applications validées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4251960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E5E66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14616" y="169164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14616" y="17830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III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38328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3566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A3642"/>
                </a:solidFill>
                <a:latin typeface="Georgia"/>
              </a:rPr>
              <a:t>Potentiel Parkinson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4251960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E5E66"/>
                </a:solidFill>
                <a:latin typeface="Calibri"/>
              </a:rPr>
              <a:t>Mécanismes, préclinique, LIXIPARK, Exenatide-PD3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58984" y="169164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9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58984" y="17830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IV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98864" y="338328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3566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A3642"/>
                </a:solidFill>
                <a:latin typeface="Georgia"/>
              </a:rPr>
              <a:t>Limites et pharmacien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6024" y="4251960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E5E66"/>
                </a:solidFill>
                <a:latin typeface="Calibri"/>
              </a:rPr>
              <a:t>Pas d’indication hors essai ; sécurisation de l’usage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 / 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I. GLP-1 ET PHARMACOLOGIE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Parkinson : un besoin thérapeutique majeur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Triade motrice : bradykinésie, tremblement de repos, rigidité.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Symptômes non moteurs fréquents : constipation, sommeil, humeur, cognition.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Perte progressive des neurones dopaminergiques de la substance noire.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Aucun traitement n’a démontré de façon certaine un ralentissement de la neurodégénérescence.</a:t>
            </a:r>
          </a:p>
        </p:txBody>
      </p:sp>
      <p:pic>
        <p:nvPicPr>
          <p:cNvPr id="9" name="Picture 8" descr="v05_moteurs_non_moteu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 / 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I. GLP-1 ET PHARMACOLOGIE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GLP-1 : physiologie et effet incrétine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Hormone incrétine issue des cellules L intestinales, après les repas.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Insulinosécrétion glucose-dépendante.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Diminue le glucagon en hyperglycémie.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Ralentit la vidange gastrique et favorise la satiété.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Régulation glycémique et énergétique.</a:t>
            </a:r>
          </a:p>
        </p:txBody>
      </p:sp>
      <p:pic>
        <p:nvPicPr>
          <p:cNvPr id="9" name="Picture 8" descr="fig0_physiologie_gl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 / 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I. GLP-1 ET PHARMACOLOGIE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Pourquoi développer des agonistes du GLP-1R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Demi-vie du GLP-1 endogène : environ 1 à 2 minutes.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Inactivation rapide, principalement par la DPP-4.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Le peptide natif n’est pas un médicament utilisable.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Les analogues visent à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Résister à la DPP-4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Prolonger l’exposition systémique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Permettre une administration quotidienne ou hebdomadaire</a:t>
            </a:r>
          </a:p>
        </p:txBody>
      </p:sp>
      <p:pic>
        <p:nvPicPr>
          <p:cNvPr id="9" name="Picture 8" descr="v07_dpp4_vs_agonis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 / 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I. GLP-1 ET PHARMACOLOGIE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Récepteur du GLP-1 et voies de signalisation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GLP-1R : récepteur couplé aux protéines G (Gs).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Augmentation de l’AMPc → PKA / EPAC2.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Dans la cellule β : sécrétion d’insuline glucose-dépendante.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Modulation possible de PI3K/Akt et MAPK/ERK.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Dans les modèles : survie cellulaire et réponse au stress — pas une preuve humaine.</a:t>
            </a:r>
          </a:p>
        </p:txBody>
      </p:sp>
      <p:pic>
        <p:nvPicPr>
          <p:cNvPr id="9" name="Picture 8" descr="fig1_glp1r_signalis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 / 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I. GLP-1 ET PHARMACOLOGIE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Les agonistes du GLP-1R ne sont pas interchangeables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2588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Même cible, mais structures, demi-vies, administrations et expositions tissulaires différentes — pas d’effet neurologique de classe a priori.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2468880"/>
          <a:ext cx="11521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840480"/>
                <a:gridCol w="4663440"/>
              </a:tblGrid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Molécules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Particularité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Dérivés de l’exendine-4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Exénatide, 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Action plutôt courte ; évalués dans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Analogues du GLP-1 humain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Liraglutide, dulaglutide, sémaglutide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Action prolongée ; données CV / rénales pour certains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Double agoniste GIP/GLP-1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Non sélectif du GLP-1R — à distinguer de la classe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 / 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II. APPLICATIONS VALIDÉES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Profils pharmacocinétiques et implications pratiques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371600"/>
          <a:ext cx="11612880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2743200"/>
                <a:gridCol w="4572000"/>
              </a:tblGrid>
              <a:tr h="64007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Demi-vie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Administration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Particularité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Quelques heures (std)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2×/j ou LP 1×/sem.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Action courte / LP ; évalué dans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~3 h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Postprandial ; LIXIPARK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~13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DT2 ; obésité selon la dose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~5 j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Bénéfice CV (REWIND)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6400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~1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1×/sem. ou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CV (SUSTAIN-6, SELECT) ; rénal (FLOW)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E5E66"/>
                </a:solidFill>
                <a:latin typeface="Calibri"/>
              </a:rPr>
              <a:t>Action courte : davantage le postprandial (vidange). Action prolongée : davantage le jeûne / HbA1c ; tachyphylaxie gastrique possible.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 / 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II. APPLICATIONS VALIDÉES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Place dans le diabète de type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Réduction de l’HbA1c, glycémies à jeun et postprandiales.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Faible risque intrinsèque d’hypoglycémie hors insuline ou sulfamides.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Diminution du glucagon en hyperglycémie ; satiété et poids.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Choix individualisé : risque cardio-rénal, poids, tolérance, préférences.</a:t>
            </a:r>
          </a:p>
        </p:txBody>
      </p:sp>
      <p:pic>
        <p:nvPicPr>
          <p:cNvPr id="9" name="Picture 8" descr="v11_effets_metaboliq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 / 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43584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43584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II. APPLICATIONS VALIDÉES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Obésité et bénéfices cardio-rénaux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778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D0D8"/>
                </a:solidFill>
                <a:latin typeface="Calibri"/>
              </a:rPr>
              <a:t>Des molécules et des populations précises — pas un effet de classe automatique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17320"/>
          <a:ext cx="1161288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3840480"/>
                <a:gridCol w="411480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Essai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Population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Message clé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DT2, haut risque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Réduction du MACE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SUSTAIN-6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DT2, haut risque CV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Résultat favorable sur le MACE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DT2, risque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Réduction du MACE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SELECT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Surpoids/obésité, MCV, sans DT2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Réduction du MACE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DT2 et MRC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Réduction des événements rénaux majeurs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 / 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II. APPLICATIONS VALIDÉES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Tolérance et rôle du pharmacien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EI digestifs fréquents : nausées, vomissements, diarrhée, constipation, douleurs, ↓ appétit.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La titration progressive améliore souvent la tolérance.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Surveiller hydratation, poids, apports et hypoglycémie si insuline / sulfamides.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Éducation : technique d’injection, conservation, oubli.</a:t>
            </a:r>
          </a:p>
        </p:txBody>
      </p:sp>
      <p:pic>
        <p:nvPicPr>
          <p:cNvPr id="9" name="Picture 8" descr="v13_pharmacien_ic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 / 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III. POTENTIEL DANS PARKINSON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Pourquoi envisager un repositionnement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Médicaments déjà connus (pharmacologie, clinique, pharmacovigilance).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Plausibilité biologique : métabolisme, inflammation, mitochondries, neurodégénérescence.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L’efficacité dans le DT2 ou l’obésité ne prédit pas une efficacité neurologique.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Une démonstration spécifique dans Parkinson reste indispensable.</a:t>
            </a:r>
          </a:p>
        </p:txBody>
      </p:sp>
      <p:pic>
        <p:nvPicPr>
          <p:cNvPr id="9" name="Picture 8" descr="v14_repositionnement_parcou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 / 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III. POTENTIEL DANS PARKINSON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Mécanismes neuroprotecteurs potentiels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Activation AMPc/PKA, PI3K/Akt, MAPK/ERK.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Survie cellulaire et réduction de signaux pro-apoptotiques (modèles).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Meilleure réponse au stress et modulation du métabolisme énergétique.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Ce sont des hypothèses précliniques, non une preuve thérapeutique.</a:t>
            </a:r>
          </a:p>
        </p:txBody>
      </p:sp>
      <p:pic>
        <p:nvPicPr>
          <p:cNvPr id="9" name="Picture 8" descr="fig2_neuroprot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 / 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III. POTENTIEL DANS PARKINSON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Mitochondries, stress oxydatif et neuroinflammation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La dysfonction mitochondriale fragilise les neurones dopaminergiques.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Dans certains modèles : meilleurs paramètres mitochondriaux, ↓ marqueurs oxydatifs.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Modulation de la microglie et de médiateurs pro-inflammatoires.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Résultats précliniques : ils ne démontrent pas une neuroprotection humaine.</a:t>
            </a:r>
          </a:p>
        </p:txBody>
      </p:sp>
      <p:pic>
        <p:nvPicPr>
          <p:cNvPr id="9" name="Picture 8" descr="v16_mito_inflam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 / 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III. POTENTIEL DANS PARKINSON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Autophagie, protéostase et alpha-synucléine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L’agrégation d’alpha-synucléine est centrale dans Parkinson.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Certains modèles suggèrent une modulation de l’autophagie et de la protéostase.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Aucune preuve que cela réduise la charge pathologique chez l’humain.</a:t>
            </a:r>
          </a:p>
        </p:txBody>
      </p:sp>
      <p:pic>
        <p:nvPicPr>
          <p:cNvPr id="9" name="Picture 8" descr="v17_autophagie_asy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 / 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III. POTENTIEL DANS PARKINSON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Données précliniques : intérêt et limites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Signaux favorables (MPTP, 6-OHDA) avec exénatide, liraglutide, lixisénatide, sémaglutide.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Limites : lésions rapides, maladie humaine incomplète, doses, espèces, voies.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Ces modèles justifient des essais — ils ne prouvent pas l’efficacité clinique.</a:t>
            </a:r>
          </a:p>
        </p:txBody>
      </p:sp>
      <p:pic>
        <p:nvPicPr>
          <p:cNvPr id="9" name="Picture 8" descr="v18_preclinique_bala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 / 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III. POTENTIEL DANS PARKINSON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Essais cliniques : résultats contrastés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371600"/>
          <a:ext cx="117043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3657600"/>
                <a:gridCol w="3840480"/>
              </a:tblGrid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Essai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Résultat principal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Phase II 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Exénatide hebdo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Signal 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Amélioration motrice OFF suggérée — puissance limitée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LIXIPARK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Lixisénatide 1×/j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Ph. II ; n=156 ; PD précoce ; 12 mois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Δ ajustée 3,08 pts MDS-UPDRS III vs placebo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Exenatide-PD3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Exénatide hebdo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Ph. III ; n=194 ; 96 semaines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Pas de différence sur le MDS-UPDRS III 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20040" y="4846320"/>
            <a:ext cx="11521440" cy="1325880"/>
          </a:xfrm>
          <a:prstGeom prst="roundRect">
            <a:avLst>
              <a:gd name="adj" fmla="val 8000"/>
            </a:avLst>
          </a:prstGeom>
          <a:solidFill>
            <a:srgbClr val="E4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02920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6"/>
                </a:solidFill>
                <a:latin typeface="Calibri"/>
              </a:rPr>
              <a:t>LIXIPARK : −0,04 vs +3,04 points (MDS-UPDRS III) ; nausées/vomissements plus fréquents.
Pas d’effet de classe : un signal avec le lixisénatide n’implique pas un bénéfice de l’exénatide, ni l’inverse.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LIXIPARK, NEJM 2024  ·  Exenatide-PD3, phase III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 / 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IV. LIMITES ET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Interprétation critique et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8978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2226"/>
                </a:solidFill>
                <a:latin typeface="Calibri"/>
              </a:rPr>
              <a:t>▸  LIXIPARK : signal encourageant, mais phase II et suivi court.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2226"/>
                </a:solidFill>
                <a:latin typeface="Calibri"/>
              </a:rPr>
              <a:t>▸  Exenatide-PD3 : résultat négatif majeur pour l’exénatide.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2226"/>
                </a:solidFill>
                <a:latin typeface="Calibri"/>
              </a:rPr>
              <a:t>▸  Aucun effet de classe démontré.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2226"/>
                </a:solidFill>
                <a:latin typeface="Calibri"/>
              </a:rPr>
              <a:t>▸  Futurs essais :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Patients précoces, mieux stratifiés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Suivi prolongé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Moteurs et non moteurs, cognition, autonomie, QdV, nutrition, biomarqueurs</a:t>
            </a:r>
          </a:p>
        </p:txBody>
      </p:sp>
      <p:pic>
        <p:nvPicPr>
          <p:cNvPr id="9" name="Picture 8" descr="v20_perspectives_ess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6235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Distinction : plausibilité ≠ signal clinique ≠ effet modificateur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20  / 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Messages à retenir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98448"/>
            <a:ext cx="115214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" cy="768096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63040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38988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Valeur établie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824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DT2 ; pour certaines molécules, obésité et protection cardio-rénale.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2139696"/>
            <a:ext cx="115214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139696"/>
            <a:ext cx="566928" cy="768096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04288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23113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Plausibilité Parkinson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52374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Cohérente, mais surtout préclinique.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2980944"/>
            <a:ext cx="115214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980944"/>
            <a:ext cx="566928" cy="768096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45536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7238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Données humaines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364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Hétérogènes : LIXIPARK vs Exenatide-PD3.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22192"/>
            <a:ext cx="115214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822192"/>
            <a:ext cx="566928" cy="768096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986784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9136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Pas d’indication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Hors essai clinique, les agonistes du GLP-1R ne sont pas indiqués dans Parkinson.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663440"/>
            <a:ext cx="115214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663440"/>
            <a:ext cx="566928" cy="768096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828032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7548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Pharmacien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0474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Sécurité, éducation thérapeutique, prévention des usages hors indication injustifiés.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Merci pour votre attention  — 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 / 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